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3"/>
  </p:notesMasterIdLst>
  <p:sldIdLst>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29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040590-DCB2-A64A-C067-B54354F34B31}" v="2" dt="2026-09-08T16:35:19.40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27"/>
    <p:restoredTop sz="88403"/>
  </p:normalViewPr>
  <p:slideViewPr>
    <p:cSldViewPr>
      <p:cViewPr varScale="1">
        <p:scale>
          <a:sx n="49" d="100"/>
          <a:sy n="49" d="100"/>
        </p:scale>
        <p:origin x="840" y="82"/>
      </p:cViewPr>
      <p:guideLst>
        <p:guide orient="horz" pos="2880"/>
        <p:guide pos="2160"/>
      </p:guideLst>
    </p:cSldViewPr>
  </p:slideViewPr>
  <p:notesTextViewPr>
    <p:cViewPr>
      <p:scale>
        <a:sx n="100" d="100"/>
        <a:sy n="100" d="100"/>
      </p:scale>
      <p:origin x="0" y="0"/>
    </p:cViewPr>
  </p:notesTextViewPr>
  <p:notesViewPr>
    <p:cSldViewPr>
      <p:cViewPr varScale="1">
        <p:scale>
          <a:sx n="98" d="100"/>
          <a:sy n="98" d="100"/>
        </p:scale>
        <p:origin x="760"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B8CFE6B-4D97-724D-98D8-7BC2DEA3956F}" type="datetimeFigureOut">
              <a:rPr lang="es-ES_tradnl" smtClean="0"/>
              <a:t>02/10/2026</a:t>
            </a:fld>
            <a:endParaRPr lang="es-ES_tradn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S_tradn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62F4A66E-C758-9B4A-BB4E-5AECD08F92BE}" type="slidenum">
              <a:rPr lang="es-ES_tradnl" smtClean="0"/>
              <a:t>‹Nº›</a:t>
            </a:fld>
            <a:endParaRPr lang="es-ES_tradnl"/>
          </a:p>
        </p:txBody>
      </p:sp>
    </p:spTree>
    <p:extLst>
      <p:ext uri="{BB962C8B-B14F-4D97-AF65-F5344CB8AC3E}">
        <p14:creationId xmlns:p14="http://schemas.microsoft.com/office/powerpoint/2010/main" val="157097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Presentación de las dos arquitecturas evaluadas para digitalizar los protocolos de liberación del área de Calidad: una dentro del entorno Microsoft (Power Apps, SharePoint, Power Automate) y otra fuera de Microsoft (app web + Supabase). Ambas usan Adobe para PDF y firma electrónica.</a:t>
            </a:r>
            <a:endParaRPr lang="es-ES_tradnl" dirty="0"/>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a:t>
            </a:fld>
            <a:endParaRPr lang="es-ES_tradnl"/>
          </a:p>
        </p:txBody>
      </p:sp>
    </p:spTree>
    <p:extLst>
      <p:ext uri="{BB962C8B-B14F-4D97-AF65-F5344CB8AC3E}">
        <p14:creationId xmlns:p14="http://schemas.microsoft.com/office/powerpoint/2010/main" val="301433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2</a:t>
            </a:fld>
            <a:endParaRPr lang="es-ES_tradnl"/>
          </a:p>
        </p:txBody>
      </p:sp>
    </p:spTree>
    <p:extLst>
      <p:ext uri="{BB962C8B-B14F-4D97-AF65-F5344CB8AC3E}">
        <p14:creationId xmlns:p14="http://schemas.microsoft.com/office/powerpoint/2010/main" val="2265985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Resumen del AS-IS de Calidad. Los cuatro dolores principales: dependencia de firmas manuales y papel, trazabilidad fragmentada entre WhatsApp, llamadas y correo, doble o triple manipulación de la información y dependencia de un tercero externo (Knight Piésold) que no tiene acceso a los sistemas de Stracon.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3</a:t>
            </a:fld>
            <a:endParaRPr lang="es-ES_tradnl"/>
          </a:p>
        </p:txBody>
      </p:sp>
    </p:spTree>
    <p:extLst>
      <p:ext uri="{BB962C8B-B14F-4D97-AF65-F5344CB8AC3E}">
        <p14:creationId xmlns:p14="http://schemas.microsoft.com/office/powerpoint/2010/main" val="2840977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De 28 formatos, el MVP cubre 8. Todos comparten estructura: cabecera, checklist, conformidad, adjuntos y 3 firmas. Por eso se construye un solo motor que dibuja cualquier formato a partir de su definición, en lugar de 28 pantallas distintas.</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4</a:t>
            </a:fld>
            <a:endParaRPr lang="es-ES_tradnl"/>
          </a:p>
        </p:txBody>
      </p:sp>
    </p:spTree>
    <p:extLst>
      <p:ext uri="{BB962C8B-B14F-4D97-AF65-F5344CB8AC3E}">
        <p14:creationId xmlns:p14="http://schemas.microsoft.com/office/powerpoint/2010/main" val="2944684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Si KP rechaza, el protocolo vuelve a Calidad como Observado con el motivo y se reenvía a firma. Un protocolo aprobado queda bloqueado: para modificarlo se pide autorización a KP y a la Jefatura de Calidad, y se abre una nueva versión.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6</a:t>
            </a:fld>
            <a:endParaRPr lang="es-ES_tradnl"/>
          </a:p>
        </p:txBody>
      </p:sp>
    </p:spTree>
    <p:extLst>
      <p:ext uri="{BB962C8B-B14F-4D97-AF65-F5344CB8AC3E}">
        <p14:creationId xmlns:p14="http://schemas.microsoft.com/office/powerpoint/2010/main" val="2582330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Knight Piésold no puede entrar al tenant, así que todo lo suyo llega por correo y Acrobat Sign: recibe un sobre por protocolo y puede firmarlo o rechazarlo con motivo. La aprobación de modificaciones usa el rol aprobador de Acrobat Sign. Power Apps con SharePoint y Outlook usa conectores estándar incluidos en Microsoft 365; solo el flujo que llama a Adobe requiere licencia Premium.</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7</a:t>
            </a:fld>
            <a:endParaRPr lang="es-ES_tradnl"/>
          </a:p>
        </p:txBody>
      </p:sp>
    </p:spTree>
    <p:extLst>
      <p:ext uri="{BB962C8B-B14F-4D97-AF65-F5344CB8AC3E}">
        <p14:creationId xmlns:p14="http://schemas.microsoft.com/office/powerpoint/2010/main" val="578878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 la opción que ya está construida como MVP y probada en modo demo. Knight Piésold abre un enlace personal sin cuenta ni licencia, revisa el paquete completo, acepta o rechaza cada protocolo con motivo y firma todos los aceptados en un solo sobre de Acrobat Sign. Cuando termina de firmar, Adobe avisa al sistema (webhook) y el protocolo pasa a Aprobado automáticamente.</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8</a:t>
            </a:fld>
            <a:endParaRPr lang="es-ES_tradnl"/>
          </a:p>
        </p:txBody>
      </p:sp>
    </p:spTree>
    <p:extLst>
      <p:ext uri="{BB962C8B-B14F-4D97-AF65-F5344CB8AC3E}">
        <p14:creationId xmlns:p14="http://schemas.microsoft.com/office/powerpoint/2010/main" val="105358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diferencia de fondo está en la fila de Knight Piésold: en Microsoft no puede entrar al tenant, así que recibe un sobre de Acrobat Sign por protocolo; en la opción web revisa el paquete completo con un enlace y firma una sola vez. Microsoft gana en gobierno de TI e inicio de sesión.</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10</a:t>
            </a:fld>
            <a:endParaRPr lang="es-ES_tradnl"/>
          </a:p>
        </p:txBody>
      </p:sp>
    </p:spTree>
    <p:extLst>
      <p:ext uri="{BB962C8B-B14F-4D97-AF65-F5344CB8AC3E}">
        <p14:creationId xmlns:p14="http://schemas.microsoft.com/office/powerpoint/2010/main" val="3343365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a:t>Fuentes: supabase.com/pricing, microsoft.com Power Apps y Power Automate pricing, developer.adobe.com PDF Services pago por uso y licenciamiento, resend.com/pricing, netlify.com/pricing, about.gitlab.com/pricing. Acrobat Sign no publica precio para planes con API; las referencias de mercado van de US$ 0.10 a US$ 1 por sobre, con contratos desde unos US$ 10 000 al año.</a:t>
            </a:r>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11</a:t>
            </a:fld>
            <a:endParaRPr lang="es-ES_tradnl"/>
          </a:p>
        </p:txBody>
      </p:sp>
    </p:spTree>
    <p:extLst>
      <p:ext uri="{BB962C8B-B14F-4D97-AF65-F5344CB8AC3E}">
        <p14:creationId xmlns:p14="http://schemas.microsoft.com/office/powerpoint/2010/main" val="3258724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Estimación con precios de lista. El precio por sobre de Acrobat Sign es un supuesto: cuando Adobe entregue la cotización, el cálculo se actualiza en la página web de arquitecturas, que tiene una calculadora con estos mismos supuestos. Si aplica la regla de multiplexación de Microsoft, la Opción 1 sube a US$ 20 por usuario al mes.</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12</a:t>
            </a:fld>
            <a:endParaRPr lang="es-ES_tradnl"/>
          </a:p>
        </p:txBody>
      </p:sp>
    </p:spTree>
    <p:extLst>
      <p:ext uri="{BB962C8B-B14F-4D97-AF65-F5344CB8AC3E}">
        <p14:creationId xmlns:p14="http://schemas.microsoft.com/office/powerpoint/2010/main" val="356810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La página web es solo la puerta y el formulario; la bóveda es Supabase. Aunque alguien copie la página, la base de datos rechaza todo si no es un usuario interno. Las claves secretas de Adobe viven en funciones del servidor (Edge Functions). Los enlaces de KP usan un código aleatorio del que la base solo guarda una huella.</a:t>
            </a:r>
            <a:endParaRPr lang="es-PE"/>
          </a:p>
        </p:txBody>
      </p:sp>
      <p:sp>
        <p:nvSpPr>
          <p:cNvPr id="4" name="Marcador de número de diapositiva 3"/>
          <p:cNvSpPr>
            <a:spLocks noGrp="1"/>
          </p:cNvSpPr>
          <p:nvPr>
            <p:ph type="sldNum" sz="quarter" idx="5"/>
          </p:nvPr>
        </p:nvSpPr>
        <p:spPr/>
        <p:txBody>
          <a:bodyPr/>
          <a:lstStyle/>
          <a:p>
            <a:fld id="{62F4A66E-C758-9B4A-BB4E-5AECD08F92BE}" type="slidenum">
              <a:rPr lang="es-ES_tradnl" smtClean="0"/>
              <a:t>14</a:t>
            </a:fld>
            <a:endParaRPr lang="es-ES_tradnl"/>
          </a:p>
        </p:txBody>
      </p:sp>
    </p:spTree>
    <p:extLst>
      <p:ext uri="{BB962C8B-B14F-4D97-AF65-F5344CB8AC3E}">
        <p14:creationId xmlns:p14="http://schemas.microsoft.com/office/powerpoint/2010/main" val="3490510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75415" y="4305091"/>
            <a:ext cx="13052958" cy="1564382"/>
          </a:xfrm>
          <a:prstGeom prst="rect">
            <a:avLst/>
          </a:prstGeom>
        </p:spPr>
        <p:txBody>
          <a:bodyPr wrap="square" lIns="0" tIns="0" rIns="0" bIns="0">
            <a:spAutoFit/>
          </a:bodyPr>
          <a:lstStyle>
            <a:lvl1pPr>
              <a:defRPr sz="5850" b="0" i="0">
                <a:solidFill>
                  <a:srgbClr val="182948"/>
                </a:solidFill>
                <a:latin typeface="Haas Grot Disp 65 Medium"/>
                <a:cs typeface="Haas Grot Disp 65 Medium"/>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exto e Imagen">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1F502A33-397D-676D-81B5-ED8C843C6C06}"/>
              </a:ext>
            </a:extLst>
          </p:cNvPr>
          <p:cNvSpPr/>
          <p:nvPr userDrawn="1"/>
        </p:nvSpPr>
        <p:spPr>
          <a:xfrm>
            <a:off x="0" y="0"/>
            <a:ext cx="20104100" cy="3434079"/>
          </a:xfrm>
          <a:custGeom>
            <a:avLst/>
            <a:gdLst/>
            <a:ahLst/>
            <a:cxnLst/>
            <a:rect l="l" t="t" r="r" b="b"/>
            <a:pathLst>
              <a:path w="20104100" h="3434079">
                <a:moveTo>
                  <a:pt x="20104099" y="0"/>
                </a:moveTo>
                <a:lnTo>
                  <a:pt x="0" y="0"/>
                </a:lnTo>
                <a:lnTo>
                  <a:pt x="0" y="3434010"/>
                </a:lnTo>
                <a:lnTo>
                  <a:pt x="20104099" y="3434010"/>
                </a:lnTo>
                <a:lnTo>
                  <a:pt x="20104099" y="0"/>
                </a:lnTo>
                <a:close/>
              </a:path>
            </a:pathLst>
          </a:custGeom>
          <a:solidFill>
            <a:srgbClr val="F1F1F1"/>
          </a:solidFill>
        </p:spPr>
        <p:txBody>
          <a:bodyPr wrap="square" lIns="0" tIns="0" rIns="0" bIns="0" rtlCol="0"/>
          <a:lstStyle/>
          <a:p>
            <a:endParaRPr/>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102821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10337799" y="4005460"/>
            <a:ext cx="8747067" cy="6125005"/>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exto e Imagen 3">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1F502A33-397D-676D-81B5-ED8C843C6C06}"/>
              </a:ext>
            </a:extLst>
          </p:cNvPr>
          <p:cNvSpPr/>
          <p:nvPr userDrawn="1"/>
        </p:nvSpPr>
        <p:spPr>
          <a:xfrm>
            <a:off x="0" y="0"/>
            <a:ext cx="20104100" cy="3434079"/>
          </a:xfrm>
          <a:custGeom>
            <a:avLst/>
            <a:gdLst/>
            <a:ahLst/>
            <a:cxnLst/>
            <a:rect l="l" t="t" r="r" b="b"/>
            <a:pathLst>
              <a:path w="20104100" h="3434079">
                <a:moveTo>
                  <a:pt x="20104099" y="0"/>
                </a:moveTo>
                <a:lnTo>
                  <a:pt x="0" y="0"/>
                </a:lnTo>
                <a:lnTo>
                  <a:pt x="0" y="3434010"/>
                </a:lnTo>
                <a:lnTo>
                  <a:pt x="20104099" y="3434010"/>
                </a:lnTo>
                <a:lnTo>
                  <a:pt x="20104099" y="0"/>
                </a:lnTo>
                <a:close/>
              </a:path>
            </a:pathLst>
          </a:custGeom>
          <a:solidFill>
            <a:srgbClr val="F1F1F1"/>
          </a:solidFill>
        </p:spPr>
        <p:txBody>
          <a:bodyPr wrap="square" lIns="0" tIns="0" rIns="0" bIns="0" rtlCol="0"/>
          <a:lstStyle/>
          <a:p>
            <a:endParaRPr/>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102821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3" name="Holder 3">
            <a:extLst>
              <a:ext uri="{FF2B5EF4-FFF2-40B4-BE49-F238E27FC236}">
                <a16:creationId xmlns:a16="http://schemas.microsoft.com/office/drawing/2014/main" id="{5F9DC9B5-2AEA-E1D8-727D-2720F04FFEF2}"/>
              </a:ext>
            </a:extLst>
          </p:cNvPr>
          <p:cNvSpPr>
            <a:spLocks noGrp="1"/>
          </p:cNvSpPr>
          <p:nvPr>
            <p:ph sz="half" idx="10"/>
          </p:nvPr>
        </p:nvSpPr>
        <p:spPr>
          <a:xfrm>
            <a:off x="912897" y="3913385"/>
            <a:ext cx="5786354" cy="405180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
        <p:nvSpPr>
          <p:cNvPr id="12" name="Holder 3">
            <a:extLst>
              <a:ext uri="{FF2B5EF4-FFF2-40B4-BE49-F238E27FC236}">
                <a16:creationId xmlns:a16="http://schemas.microsoft.com/office/drawing/2014/main" id="{ED2ADA7F-7163-2050-DE04-380538390DCE}"/>
              </a:ext>
            </a:extLst>
          </p:cNvPr>
          <p:cNvSpPr>
            <a:spLocks noGrp="1"/>
          </p:cNvSpPr>
          <p:nvPr>
            <p:ph sz="half" idx="11"/>
          </p:nvPr>
        </p:nvSpPr>
        <p:spPr>
          <a:xfrm>
            <a:off x="10375529" y="3958272"/>
            <a:ext cx="5786354" cy="405180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64341"/>
              <a:gd name="csY0" fmla="*/ 16005 h 7746011"/>
              <a:gd name="csX1" fmla="*/ 7702557 w 8764341"/>
              <a:gd name="csY1" fmla="*/ 0 h 7746011"/>
              <a:gd name="csX2" fmla="*/ 8750307 w 8764341"/>
              <a:gd name="csY2" fmla="*/ 971550 h 7746011"/>
              <a:gd name="csX3" fmla="*/ 8764341 w 8764341"/>
              <a:gd name="csY3" fmla="*/ 7480176 h 7746011"/>
              <a:gd name="csX4" fmla="*/ 0 w 8764341"/>
              <a:gd name="csY4" fmla="*/ 7746011 h 7746011"/>
              <a:gd name="csX5" fmla="*/ 19057 w 8764341"/>
              <a:gd name="csY5" fmla="*/ 16005 h 7746011"/>
              <a:gd name="csX0" fmla="*/ 19057 w 8750307"/>
              <a:gd name="csY0" fmla="*/ 16005 h 7770178"/>
              <a:gd name="csX1" fmla="*/ 7702557 w 8750307"/>
              <a:gd name="csY1" fmla="*/ 0 h 7770178"/>
              <a:gd name="csX2" fmla="*/ 8750307 w 8750307"/>
              <a:gd name="csY2" fmla="*/ 971550 h 7770178"/>
              <a:gd name="csX3" fmla="*/ 8745284 w 8750307"/>
              <a:gd name="csY3" fmla="*/ 7770178 h 7770178"/>
              <a:gd name="csX4" fmla="*/ 0 w 8750307"/>
              <a:gd name="csY4" fmla="*/ 7746011 h 7770178"/>
              <a:gd name="csX5" fmla="*/ 19057 w 8750307"/>
              <a:gd name="csY5" fmla="*/ 16005 h 7770178"/>
            </a:gdLst>
            <a:ahLst/>
            <a:cxnLst>
              <a:cxn ang="0">
                <a:pos x="csX0" y="csY0"/>
              </a:cxn>
              <a:cxn ang="0">
                <a:pos x="csX1" y="csY1"/>
              </a:cxn>
              <a:cxn ang="0">
                <a:pos x="csX2" y="csY2"/>
              </a:cxn>
              <a:cxn ang="0">
                <a:pos x="csX3" y="csY3"/>
              </a:cxn>
              <a:cxn ang="0">
                <a:pos x="csX4" y="csY4"/>
              </a:cxn>
              <a:cxn ang="0">
                <a:pos x="csX5" y="csY5"/>
              </a:cxn>
            </a:cxnLst>
            <a:rect l="l" t="t" r="r" b="b"/>
            <a:pathLst>
              <a:path w="8750307" h="7770178">
                <a:moveTo>
                  <a:pt x="19057" y="16005"/>
                </a:moveTo>
                <a:lnTo>
                  <a:pt x="7702557" y="0"/>
                </a:lnTo>
                <a:lnTo>
                  <a:pt x="8750307" y="971550"/>
                </a:lnTo>
                <a:cubicBezTo>
                  <a:pt x="8748633" y="3237759"/>
                  <a:pt x="8746958" y="5503969"/>
                  <a:pt x="8745284" y="7770178"/>
                </a:cubicBezTo>
                <a:lnTo>
                  <a:pt x="0" y="7746011"/>
                </a:lnTo>
                <a:cubicBezTo>
                  <a:pt x="6352" y="5169342"/>
                  <a:pt x="12705" y="2592674"/>
                  <a:pt x="19057" y="16005"/>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43936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xto e imagen 2">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139154" cy="117393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912896" y="9901865"/>
            <a:ext cx="2294319" cy="593439"/>
          </a:xfrm>
          <a:prstGeom prst="rect">
            <a:avLst/>
          </a:prstGeom>
        </p:spPr>
      </p:pic>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10356850" y="741476"/>
            <a:ext cx="8742046" cy="916038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Lst>
            <a:ahLst/>
            <a:cxnLst>
              <a:cxn ang="0">
                <a:pos x="csX0" y="csY0"/>
              </a:cxn>
              <a:cxn ang="0">
                <a:pos x="csX1" y="csY1"/>
              </a:cxn>
              <a:cxn ang="0">
                <a:pos x="csX2" y="csY2"/>
              </a:cxn>
              <a:cxn ang="0">
                <a:pos x="csX3" y="csY3"/>
              </a:cxn>
              <a:cxn ang="0">
                <a:pos x="csX4" y="csY4"/>
              </a:cxn>
              <a:cxn ang="0">
                <a:pos x="csX5" y="csY5"/>
              </a:cxn>
            </a:cxnLst>
            <a:rect l="l" t="t" r="r" b="b"/>
            <a:pathLst>
              <a:path w="8745284" h="11620864">
                <a:moveTo>
                  <a:pt x="19057" y="0"/>
                </a:moveTo>
                <a:lnTo>
                  <a:pt x="7683500" y="8162"/>
                </a:lnTo>
                <a:lnTo>
                  <a:pt x="8712193" y="1003879"/>
                </a:lnTo>
                <a:lnTo>
                  <a:pt x="8745284" y="11620864"/>
                </a:lnTo>
                <a:lnTo>
                  <a:pt x="0" y="11620864"/>
                </a:lnTo>
                <a:cubicBezTo>
                  <a:pt x="6352" y="7747243"/>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2840150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exto e imagen 2">
    <p:bg>
      <p:bgPr>
        <a:solidFill>
          <a:schemeClr val="bg1"/>
        </a:solidFill>
        <a:effectLst/>
      </p:bgPr>
    </p:bg>
    <p:spTree>
      <p:nvGrpSpPr>
        <p:cNvPr id="1" name=""/>
        <p:cNvGrpSpPr/>
        <p:nvPr/>
      </p:nvGrpSpPr>
      <p:grpSpPr>
        <a:xfrm>
          <a:off x="0" y="0"/>
          <a:ext cx="0" cy="0"/>
          <a:chOff x="0" y="0"/>
          <a:chExt cx="0" cy="0"/>
        </a:xfrm>
      </p:grpSpPr>
      <p:sp>
        <p:nvSpPr>
          <p:cNvPr id="9" name="Holder 3">
            <a:extLst>
              <a:ext uri="{FF2B5EF4-FFF2-40B4-BE49-F238E27FC236}">
                <a16:creationId xmlns:a16="http://schemas.microsoft.com/office/drawing/2014/main" id="{5C07692E-94FD-E0E6-0C2D-FB7C7D7A69DF}"/>
              </a:ext>
            </a:extLst>
          </p:cNvPr>
          <p:cNvSpPr>
            <a:spLocks noGrp="1"/>
          </p:cNvSpPr>
          <p:nvPr>
            <p:ph sz="half" idx="2"/>
          </p:nvPr>
        </p:nvSpPr>
        <p:spPr>
          <a:xfrm>
            <a:off x="9899651" y="-7806"/>
            <a:ext cx="10207400" cy="11317155"/>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7813"/>
              <a:gd name="csY0" fmla="*/ 6781 h 11627645"/>
              <a:gd name="csX1" fmla="*/ 7683500 w 8747813"/>
              <a:gd name="csY1" fmla="*/ 14943 h 11627645"/>
              <a:gd name="csX2" fmla="*/ 8747813 w 8747813"/>
              <a:gd name="csY2" fmla="*/ 0 h 11627645"/>
              <a:gd name="csX3" fmla="*/ 8745284 w 8747813"/>
              <a:gd name="csY3" fmla="*/ 11627645 h 11627645"/>
              <a:gd name="csX4" fmla="*/ 0 w 8747813"/>
              <a:gd name="csY4" fmla="*/ 11627645 h 11627645"/>
              <a:gd name="csX5" fmla="*/ 19057 w 8747813"/>
              <a:gd name="csY5" fmla="*/ 6781 h 11627645"/>
            </a:gdLst>
            <a:ahLst/>
            <a:cxnLst>
              <a:cxn ang="0">
                <a:pos x="csX0" y="csY0"/>
              </a:cxn>
              <a:cxn ang="0">
                <a:pos x="csX1" y="csY1"/>
              </a:cxn>
              <a:cxn ang="0">
                <a:pos x="csX2" y="csY2"/>
              </a:cxn>
              <a:cxn ang="0">
                <a:pos x="csX3" y="csY3"/>
              </a:cxn>
              <a:cxn ang="0">
                <a:pos x="csX4" y="csY4"/>
              </a:cxn>
              <a:cxn ang="0">
                <a:pos x="csX5" y="csY5"/>
              </a:cxn>
            </a:cxnLst>
            <a:rect l="l" t="t" r="r" b="b"/>
            <a:pathLst>
              <a:path w="8747813" h="11627645">
                <a:moveTo>
                  <a:pt x="19057" y="6781"/>
                </a:moveTo>
                <a:lnTo>
                  <a:pt x="7683500" y="14943"/>
                </a:lnTo>
                <a:lnTo>
                  <a:pt x="8747813" y="0"/>
                </a:lnTo>
                <a:lnTo>
                  <a:pt x="8745284" y="11627645"/>
                </a:lnTo>
                <a:lnTo>
                  <a:pt x="0" y="11627645"/>
                </a:lnTo>
                <a:cubicBezTo>
                  <a:pt x="6352" y="7754024"/>
                  <a:pt x="12705" y="3880402"/>
                  <a:pt x="19057" y="6781"/>
                </a:cubicBezTo>
                <a:close/>
              </a:path>
            </a:pathLst>
          </a:custGeom>
        </p:spPr>
        <p:txBody>
          <a:bodyPr wrap="square" lIns="0" tIns="0" rIns="0" bIns="0">
            <a:spAutoFit/>
          </a:bodyPr>
          <a:lstStyle>
            <a:lvl1pPr>
              <a:defRPr/>
            </a:lvl1pPr>
          </a:lstStyle>
          <a:p>
            <a:endParaRPr dirty="0"/>
          </a:p>
        </p:txBody>
      </p:sp>
      <p:pic>
        <p:nvPicPr>
          <p:cNvPr id="16" name="bg object 16"/>
          <p:cNvPicPr/>
          <p:nvPr/>
        </p:nvPicPr>
        <p:blipFill>
          <a:blip r:embed="rId2"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139154" cy="117393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8" name="Imagen 7">
            <a:extLst>
              <a:ext uri="{FF2B5EF4-FFF2-40B4-BE49-F238E27FC236}">
                <a16:creationId xmlns:a16="http://schemas.microsoft.com/office/drawing/2014/main" id="{1584BF13-F67A-A69B-365A-4804D4ABDBCD}"/>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912896" y="9901865"/>
            <a:ext cx="2294319" cy="593439"/>
          </a:xfrm>
          <a:prstGeom prst="rect">
            <a:avLst/>
          </a:prstGeom>
        </p:spPr>
      </p:pic>
    </p:spTree>
    <p:extLst>
      <p:ext uri="{BB962C8B-B14F-4D97-AF65-F5344CB8AC3E}">
        <p14:creationId xmlns:p14="http://schemas.microsoft.com/office/powerpoint/2010/main" val="3748981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51" y="0"/>
            <a:ext cx="20104099" cy="3456861"/>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E9F19B4E-C4AD-64A6-9855-8B2D2B942A4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5" name="Holder 3">
            <a:extLst>
              <a:ext uri="{FF2B5EF4-FFF2-40B4-BE49-F238E27FC236}">
                <a16:creationId xmlns:a16="http://schemas.microsoft.com/office/drawing/2014/main" id="{E932BA62-37D5-1595-C539-CCF48F1CE464}"/>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7" name="Holder 3">
            <a:extLst>
              <a:ext uri="{FF2B5EF4-FFF2-40B4-BE49-F238E27FC236}">
                <a16:creationId xmlns:a16="http://schemas.microsoft.com/office/drawing/2014/main" id="{F4B51A42-1EF5-3EE1-A9A1-19935699605B}"/>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8C06628C-E2F1-CF9D-4616-8488B6815B3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28B9BF76-96AA-A0D6-7FFD-C34F099AA08A}"/>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30E765CE-957A-7181-41CA-0D5F8842F34E}"/>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4055377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344B458A-B23B-9C71-9A9A-650BFD6490B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2CBFACC8-7FE8-329C-ABE6-1C5C07D25A40}"/>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F0F53685-57F4-9AF9-F118-B766307B836B}"/>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3436957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wo Content">
    <p:bg>
      <p:bgPr>
        <a:solidFill>
          <a:schemeClr val="bg1"/>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BB6D286-8551-485C-DC4D-DB7D0F076C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351" y="0"/>
            <a:ext cx="20104099" cy="3456860"/>
          </a:xfrm>
          <a:prstGeom prst="rect">
            <a:avLst/>
          </a:prstGeom>
        </p:spPr>
      </p:pic>
      <p:pic>
        <p:nvPicPr>
          <p:cNvPr id="16" name="bg object 16"/>
          <p:cNvPicPr/>
          <p:nvPr/>
        </p:nvPicPr>
        <p:blipFill>
          <a:blip r:embed="rId3" cstate="print"/>
          <a:stretch>
            <a:fillRect/>
          </a:stretch>
        </p:blipFill>
        <p:spPr>
          <a:xfrm>
            <a:off x="0" y="11174089"/>
            <a:ext cx="20104099" cy="134467"/>
          </a:xfrm>
          <a:prstGeom prst="rect">
            <a:avLst/>
          </a:prstGeom>
        </p:spPr>
      </p:pic>
      <p:sp>
        <p:nvSpPr>
          <p:cNvPr id="2" name="Holder 2"/>
          <p:cNvSpPr>
            <a:spLocks noGrp="1"/>
          </p:cNvSpPr>
          <p:nvPr>
            <p:ph type="title"/>
          </p:nvPr>
        </p:nvSpPr>
        <p:spPr>
          <a:xfrm>
            <a:off x="912896" y="746940"/>
            <a:ext cx="9748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9" name="Imagen 8">
            <a:extLst>
              <a:ext uri="{FF2B5EF4-FFF2-40B4-BE49-F238E27FC236}">
                <a16:creationId xmlns:a16="http://schemas.microsoft.com/office/drawing/2014/main" id="{51532B7B-81A8-F028-F9E5-233829E8EFA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14" name="Holder 3">
            <a:extLst>
              <a:ext uri="{FF2B5EF4-FFF2-40B4-BE49-F238E27FC236}">
                <a16:creationId xmlns:a16="http://schemas.microsoft.com/office/drawing/2014/main" id="{39A42568-9DF4-5CA3-7A22-5C5F753F2935}"/>
              </a:ext>
            </a:extLst>
          </p:cNvPr>
          <p:cNvSpPr>
            <a:spLocks noGrp="1"/>
          </p:cNvSpPr>
          <p:nvPr>
            <p:ph sz="half" idx="2"/>
          </p:nvPr>
        </p:nvSpPr>
        <p:spPr>
          <a:xfrm>
            <a:off x="904642" y="4054909"/>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
        <p:nvSpPr>
          <p:cNvPr id="15" name="Holder 3">
            <a:extLst>
              <a:ext uri="{FF2B5EF4-FFF2-40B4-BE49-F238E27FC236}">
                <a16:creationId xmlns:a16="http://schemas.microsoft.com/office/drawing/2014/main" id="{EB96890A-80B1-FF22-274E-06200C7D0E93}"/>
              </a:ext>
            </a:extLst>
          </p:cNvPr>
          <p:cNvSpPr>
            <a:spLocks noGrp="1"/>
          </p:cNvSpPr>
          <p:nvPr>
            <p:ph sz="half" idx="10"/>
          </p:nvPr>
        </p:nvSpPr>
        <p:spPr>
          <a:xfrm>
            <a:off x="10120469" y="4166034"/>
            <a:ext cx="8708967" cy="5864739"/>
          </a:xfrm>
          <a:custGeom>
            <a:avLst/>
            <a:gdLst>
              <a:gd name="csX0" fmla="*/ 0 w 8745284"/>
              <a:gd name="csY0" fmla="*/ 0 h 7464171"/>
              <a:gd name="csX1" fmla="*/ 8745284 w 8745284"/>
              <a:gd name="csY1" fmla="*/ 0 h 7464171"/>
              <a:gd name="csX2" fmla="*/ 8745284 w 8745284"/>
              <a:gd name="csY2" fmla="*/ 7464171 h 7464171"/>
              <a:gd name="csX3" fmla="*/ 0 w 8745284"/>
              <a:gd name="csY3" fmla="*/ 7464171 h 7464171"/>
              <a:gd name="csX4" fmla="*/ 0 w 8745284"/>
              <a:gd name="csY4" fmla="*/ 0 h 7464171"/>
              <a:gd name="csX0" fmla="*/ 0 w 8745284"/>
              <a:gd name="csY0" fmla="*/ 16005 h 7480176"/>
              <a:gd name="csX1" fmla="*/ 7683500 w 8745284"/>
              <a:gd name="csY1" fmla="*/ 0 h 7480176"/>
              <a:gd name="csX2" fmla="*/ 8745284 w 8745284"/>
              <a:gd name="csY2" fmla="*/ 16005 h 7480176"/>
              <a:gd name="csX3" fmla="*/ 8745284 w 8745284"/>
              <a:gd name="csY3" fmla="*/ 7480176 h 7480176"/>
              <a:gd name="csX4" fmla="*/ 0 w 8745284"/>
              <a:gd name="csY4" fmla="*/ 7480176 h 7480176"/>
              <a:gd name="csX5" fmla="*/ 0 w 8745284"/>
              <a:gd name="csY5" fmla="*/ 16005 h 7480176"/>
              <a:gd name="csX0" fmla="*/ 0 w 8745284"/>
              <a:gd name="csY0" fmla="*/ 16005 h 7480176"/>
              <a:gd name="csX1" fmla="*/ 7683500 w 8745284"/>
              <a:gd name="csY1" fmla="*/ 0 h 7480176"/>
              <a:gd name="csX2" fmla="*/ 8745284 w 8745284"/>
              <a:gd name="csY2" fmla="*/ 16005 h 7480176"/>
              <a:gd name="csX3" fmla="*/ 8731250 w 8745284"/>
              <a:gd name="csY3" fmla="*/ 971550 h 7480176"/>
              <a:gd name="csX4" fmla="*/ 8745284 w 8745284"/>
              <a:gd name="csY4" fmla="*/ 7480176 h 7480176"/>
              <a:gd name="csX5" fmla="*/ 0 w 8745284"/>
              <a:gd name="csY5" fmla="*/ 7480176 h 7480176"/>
              <a:gd name="csX6" fmla="*/ 0 w 8745284"/>
              <a:gd name="csY6" fmla="*/ 16005 h 7480176"/>
              <a:gd name="csX0" fmla="*/ 0 w 8745284"/>
              <a:gd name="csY0" fmla="*/ 16005 h 7480176"/>
              <a:gd name="csX1" fmla="*/ 7683500 w 8745284"/>
              <a:gd name="csY1" fmla="*/ 0 h 7480176"/>
              <a:gd name="csX2" fmla="*/ 8731250 w 8745284"/>
              <a:gd name="csY2" fmla="*/ 971550 h 7480176"/>
              <a:gd name="csX3" fmla="*/ 8745284 w 8745284"/>
              <a:gd name="csY3" fmla="*/ 7480176 h 7480176"/>
              <a:gd name="csX4" fmla="*/ 0 w 8745284"/>
              <a:gd name="csY4" fmla="*/ 7480176 h 7480176"/>
              <a:gd name="csX5" fmla="*/ 0 w 8745284"/>
              <a:gd name="csY5" fmla="*/ 16005 h 7480176"/>
              <a:gd name="csX0" fmla="*/ 19057 w 8745284"/>
              <a:gd name="csY0" fmla="*/ 0 h 11620864"/>
              <a:gd name="csX1" fmla="*/ 7683500 w 8745284"/>
              <a:gd name="csY1" fmla="*/ 4140688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31250 w 8745284"/>
              <a:gd name="csY2" fmla="*/ 5112238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11620864 h 11620864"/>
              <a:gd name="csX5" fmla="*/ 19057 w 8745284"/>
              <a:gd name="csY5" fmla="*/ 0 h 11620864"/>
              <a:gd name="csX0" fmla="*/ 19057 w 8745284"/>
              <a:gd name="csY0" fmla="*/ 0 h 11620864"/>
              <a:gd name="csX1" fmla="*/ 7683500 w 8745284"/>
              <a:gd name="csY1" fmla="*/ 8162 h 11620864"/>
              <a:gd name="csX2" fmla="*/ 8712193 w 8745284"/>
              <a:gd name="csY2" fmla="*/ 1003879 h 11620864"/>
              <a:gd name="csX3" fmla="*/ 8745284 w 8745284"/>
              <a:gd name="csY3" fmla="*/ 11620864 h 11620864"/>
              <a:gd name="csX4" fmla="*/ 0 w 8745284"/>
              <a:gd name="csY4" fmla="*/ 7295003 h 11620864"/>
              <a:gd name="csX5" fmla="*/ 19057 w 8745284"/>
              <a:gd name="csY5" fmla="*/ 0 h 11620864"/>
              <a:gd name="csX0" fmla="*/ 19057 w 8712193"/>
              <a:gd name="csY0" fmla="*/ 0 h 7440004"/>
              <a:gd name="csX1" fmla="*/ 7683500 w 8712193"/>
              <a:gd name="csY1" fmla="*/ 8162 h 7440004"/>
              <a:gd name="csX2" fmla="*/ 8712193 w 8712193"/>
              <a:gd name="csY2" fmla="*/ 1003879 h 7440004"/>
              <a:gd name="csX3" fmla="*/ 8707170 w 8712193"/>
              <a:gd name="csY3" fmla="*/ 7440004 h 7440004"/>
              <a:gd name="csX4" fmla="*/ 0 w 8712193"/>
              <a:gd name="csY4" fmla="*/ 7295003 h 7440004"/>
              <a:gd name="csX5" fmla="*/ 19057 w 8712193"/>
              <a:gd name="csY5" fmla="*/ 0 h 7440004"/>
            </a:gdLst>
            <a:ahLst/>
            <a:cxnLst>
              <a:cxn ang="0">
                <a:pos x="csX0" y="csY0"/>
              </a:cxn>
              <a:cxn ang="0">
                <a:pos x="csX1" y="csY1"/>
              </a:cxn>
              <a:cxn ang="0">
                <a:pos x="csX2" y="csY2"/>
              </a:cxn>
              <a:cxn ang="0">
                <a:pos x="csX3" y="csY3"/>
              </a:cxn>
              <a:cxn ang="0">
                <a:pos x="csX4" y="csY4"/>
              </a:cxn>
              <a:cxn ang="0">
                <a:pos x="csX5" y="csY5"/>
              </a:cxn>
            </a:cxnLst>
            <a:rect l="l" t="t" r="r" b="b"/>
            <a:pathLst>
              <a:path w="8712193" h="7440004">
                <a:moveTo>
                  <a:pt x="19057" y="0"/>
                </a:moveTo>
                <a:lnTo>
                  <a:pt x="7683500" y="8162"/>
                </a:lnTo>
                <a:lnTo>
                  <a:pt x="8712193" y="1003879"/>
                </a:lnTo>
                <a:cubicBezTo>
                  <a:pt x="8710519" y="3149254"/>
                  <a:pt x="8708844" y="5294629"/>
                  <a:pt x="8707170" y="7440004"/>
                </a:cubicBezTo>
                <a:lnTo>
                  <a:pt x="0" y="7295003"/>
                </a:lnTo>
                <a:cubicBezTo>
                  <a:pt x="6352" y="3421382"/>
                  <a:pt x="12705" y="3873621"/>
                  <a:pt x="19057" y="0"/>
                </a:cubicBezTo>
                <a:close/>
              </a:path>
            </a:pathLst>
          </a:custGeom>
        </p:spPr>
        <p:txBody>
          <a:bodyPr wrap="square" lIns="0" tIns="0" rIns="0" bIns="0">
            <a:spAutoFit/>
          </a:bodyPr>
          <a:lstStyle>
            <a:lvl1pPr>
              <a:defRPr/>
            </a:lvl1pPr>
          </a:lstStyle>
          <a:p>
            <a:endParaRPr dirty="0"/>
          </a:p>
        </p:txBody>
      </p:sp>
    </p:spTree>
    <p:extLst>
      <p:ext uri="{BB962C8B-B14F-4D97-AF65-F5344CB8AC3E}">
        <p14:creationId xmlns:p14="http://schemas.microsoft.com/office/powerpoint/2010/main" val="374651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object 5">
            <a:extLst>
              <a:ext uri="{FF2B5EF4-FFF2-40B4-BE49-F238E27FC236}">
                <a16:creationId xmlns:a16="http://schemas.microsoft.com/office/drawing/2014/main" id="{860A6E42-D863-026E-C223-2B6F5990E295}"/>
              </a:ext>
            </a:extLst>
          </p:cNvPr>
          <p:cNvPicPr/>
          <p:nvPr userDrawn="1"/>
        </p:nvPicPr>
        <p:blipFill>
          <a:blip r:embed="rId2"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3">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2" name="Holder 2"/>
          <p:cNvSpPr>
            <a:spLocks noGrp="1"/>
          </p:cNvSpPr>
          <p:nvPr>
            <p:ph type="title"/>
          </p:nvPr>
        </p:nvSpPr>
        <p:spPr>
          <a:xfrm>
            <a:off x="912896" y="1150598"/>
            <a:ext cx="8834354" cy="917575"/>
          </a:xfrm>
        </p:spPr>
        <p:txBody>
          <a:bodyPr lIns="0" tIns="0" rIns="0" bIns="0"/>
          <a:lstStyle>
            <a:lvl1pPr>
              <a:defRPr sz="5850" b="0" i="0">
                <a:solidFill>
                  <a:srgbClr val="182948"/>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18627DA-891C-09BF-6702-FC7706CEC6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373"/>
            <a:ext cx="3442883" cy="11309350"/>
          </a:xfrm>
          <a:prstGeom prst="rect">
            <a:avLst/>
          </a:prstGeom>
        </p:spPr>
      </p:pic>
      <p:pic>
        <p:nvPicPr>
          <p:cNvPr id="6" name="object 5">
            <a:extLst>
              <a:ext uri="{FF2B5EF4-FFF2-40B4-BE49-F238E27FC236}">
                <a16:creationId xmlns:a16="http://schemas.microsoft.com/office/drawing/2014/main" id="{860A6E42-D863-026E-C223-2B6F5990E295}"/>
              </a:ext>
            </a:extLst>
          </p:cNvPr>
          <p:cNvPicPr/>
          <p:nvPr userDrawn="1"/>
        </p:nvPicPr>
        <p:blipFill>
          <a:blip r:embed="rId3"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4">
            <a:extLst>
              <a:ext uri="{28A0092B-C50C-407E-A947-70E740481C1C}">
                <a14:useLocalDpi xmlns:a14="http://schemas.microsoft.com/office/drawing/2010/main" val="0"/>
              </a:ext>
            </a:extLst>
          </a:blip>
          <a:srcRect l="10000" t="35333" r="10000" b="37077"/>
          <a:stretch>
            <a:fillRect/>
          </a:stretch>
        </p:blipFill>
        <p:spPr>
          <a:xfrm>
            <a:off x="16773647" y="473076"/>
            <a:ext cx="2703164" cy="699189"/>
          </a:xfrm>
          <a:prstGeom prst="rect">
            <a:avLst/>
          </a:prstGeom>
        </p:spPr>
      </p:pic>
      <p:sp>
        <p:nvSpPr>
          <p:cNvPr id="2" name="Holder 2"/>
          <p:cNvSpPr>
            <a:spLocks noGrp="1"/>
          </p:cNvSpPr>
          <p:nvPr>
            <p:ph type="title"/>
          </p:nvPr>
        </p:nvSpPr>
        <p:spPr>
          <a:xfrm>
            <a:off x="222250" y="4684928"/>
            <a:ext cx="2971800" cy="677108"/>
          </a:xfrm>
        </p:spPr>
        <p:txBody>
          <a:bodyPr lIns="0" tIns="0" rIns="0" bIns="0"/>
          <a:lstStyle>
            <a:lvl1pPr>
              <a:defRPr sz="4400" b="0" i="0">
                <a:solidFill>
                  <a:schemeClr val="bg1"/>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cxnSp>
        <p:nvCxnSpPr>
          <p:cNvPr id="10" name="Conector recto 9">
            <a:extLst>
              <a:ext uri="{FF2B5EF4-FFF2-40B4-BE49-F238E27FC236}">
                <a16:creationId xmlns:a16="http://schemas.microsoft.com/office/drawing/2014/main" id="{5AB10021-C2C3-5494-B5BF-072B0954EE46}"/>
              </a:ext>
            </a:extLst>
          </p:cNvPr>
          <p:cNvCxnSpPr/>
          <p:nvPr userDrawn="1"/>
        </p:nvCxnSpPr>
        <p:spPr>
          <a:xfrm flipH="1">
            <a:off x="3442883" y="1539875"/>
            <a:ext cx="1666121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5702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518627DA-891C-09BF-6702-FC7706CEC6C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8373"/>
            <a:ext cx="3442883" cy="11309349"/>
          </a:xfrm>
          <a:prstGeom prst="rect">
            <a:avLst/>
          </a:prstGeom>
        </p:spPr>
      </p:pic>
      <p:pic>
        <p:nvPicPr>
          <p:cNvPr id="6" name="object 5">
            <a:extLst>
              <a:ext uri="{FF2B5EF4-FFF2-40B4-BE49-F238E27FC236}">
                <a16:creationId xmlns:a16="http://schemas.microsoft.com/office/drawing/2014/main" id="{860A6E42-D863-026E-C223-2B6F5990E295}"/>
              </a:ext>
            </a:extLst>
          </p:cNvPr>
          <p:cNvPicPr/>
          <p:nvPr userDrawn="1"/>
        </p:nvPicPr>
        <p:blipFill>
          <a:blip r:embed="rId3" cstate="print"/>
          <a:stretch>
            <a:fillRect/>
          </a:stretch>
        </p:blipFill>
        <p:spPr>
          <a:xfrm>
            <a:off x="0" y="11174089"/>
            <a:ext cx="20104099" cy="134467"/>
          </a:xfrm>
          <a:prstGeom prst="rect">
            <a:avLst/>
          </a:prstGeom>
        </p:spPr>
      </p:pic>
      <p:pic>
        <p:nvPicPr>
          <p:cNvPr id="7" name="Imagen 6">
            <a:extLst>
              <a:ext uri="{FF2B5EF4-FFF2-40B4-BE49-F238E27FC236}">
                <a16:creationId xmlns:a16="http://schemas.microsoft.com/office/drawing/2014/main" id="{6DA48E5B-F5E1-B958-A1C7-1A99991290D8}"/>
              </a:ext>
            </a:extLst>
          </p:cNvPr>
          <p:cNvPicPr>
            <a:picLocks noChangeAspect="1"/>
          </p:cNvPicPr>
          <p:nvPr userDrawn="1"/>
        </p:nvPicPr>
        <p:blipFill>
          <a:blip r:embed="rId4">
            <a:extLst>
              <a:ext uri="{28A0092B-C50C-407E-A947-70E740481C1C}">
                <a14:useLocalDpi xmlns:a14="http://schemas.microsoft.com/office/drawing/2010/main" val="0"/>
              </a:ext>
            </a:extLst>
          </a:blip>
          <a:srcRect l="10000" t="35333" r="10000" b="37077"/>
          <a:stretch>
            <a:fillRect/>
          </a:stretch>
        </p:blipFill>
        <p:spPr>
          <a:xfrm>
            <a:off x="16773647" y="473076"/>
            <a:ext cx="2703164" cy="699189"/>
          </a:xfrm>
          <a:prstGeom prst="rect">
            <a:avLst/>
          </a:prstGeom>
        </p:spPr>
      </p:pic>
      <p:sp>
        <p:nvSpPr>
          <p:cNvPr id="2" name="Holder 2"/>
          <p:cNvSpPr>
            <a:spLocks noGrp="1"/>
          </p:cNvSpPr>
          <p:nvPr>
            <p:ph type="title"/>
          </p:nvPr>
        </p:nvSpPr>
        <p:spPr>
          <a:xfrm>
            <a:off x="222250" y="4684928"/>
            <a:ext cx="2971800" cy="677108"/>
          </a:xfrm>
        </p:spPr>
        <p:txBody>
          <a:bodyPr lIns="0" tIns="0" rIns="0" bIns="0"/>
          <a:lstStyle>
            <a:lvl1pPr>
              <a:defRPr sz="4400" b="0" i="0">
                <a:solidFill>
                  <a:schemeClr val="bg1"/>
                </a:solidFill>
                <a:latin typeface="Haas Grot Disp 65 Medium"/>
                <a:cs typeface="Haas Grot Disp 65 Medium"/>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cxnSp>
        <p:nvCxnSpPr>
          <p:cNvPr id="10" name="Conector recto 9">
            <a:extLst>
              <a:ext uri="{FF2B5EF4-FFF2-40B4-BE49-F238E27FC236}">
                <a16:creationId xmlns:a16="http://schemas.microsoft.com/office/drawing/2014/main" id="{5AB10021-C2C3-5494-B5BF-072B0954EE46}"/>
              </a:ext>
            </a:extLst>
          </p:cNvPr>
          <p:cNvCxnSpPr/>
          <p:nvPr userDrawn="1"/>
        </p:nvCxnSpPr>
        <p:spPr>
          <a:xfrm flipH="1">
            <a:off x="3442883" y="1539875"/>
            <a:ext cx="1666121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520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ada 1">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96617E41-19C9-50A6-E241-7723B5D29FE0}"/>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3"/>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9A4AA5B2-BF7E-332C-EC01-FC58A636CBD0}"/>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867337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ortada 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805F2535-62E2-1051-B186-2B3DFD70714B}"/>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418479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Portada 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396"/>
            <a:ext cx="20104803" cy="1130895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805F2535-62E2-1051-B186-2B3DFD70714B}"/>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134100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ortada 4">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AC60818-88FD-FF95-6F30-CDE723E7BA0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96"/>
            <a:ext cx="20104805" cy="11308953"/>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DAD60B01-D549-62BC-EB06-F07922EFB528}"/>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2907895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Portada 4">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6" name="Holder 2">
            <a:extLst>
              <a:ext uri="{FF2B5EF4-FFF2-40B4-BE49-F238E27FC236}">
                <a16:creationId xmlns:a16="http://schemas.microsoft.com/office/drawing/2014/main" id="{DAD60B01-D549-62BC-EB06-F07922EFB528}"/>
              </a:ext>
            </a:extLst>
          </p:cNvPr>
          <p:cNvSpPr>
            <a:spLocks noGrp="1"/>
          </p:cNvSpPr>
          <p:nvPr>
            <p:ph type="title"/>
          </p:nvPr>
        </p:nvSpPr>
        <p:spPr>
          <a:xfrm>
            <a:off x="912896" y="4341471"/>
            <a:ext cx="9367754" cy="917575"/>
          </a:xfrm>
        </p:spPr>
        <p:txBody>
          <a:bodyPr lIns="0" tIns="0" rIns="0" bIns="0"/>
          <a:lstStyle>
            <a:lvl1pPr>
              <a:defRPr sz="5850" b="0" i="0">
                <a:solidFill>
                  <a:schemeClr val="bg1"/>
                </a:solidFill>
                <a:latin typeface="Haas Grot Disp 65 Medium"/>
                <a:cs typeface="Haas Grot Disp 65 Medium"/>
              </a:defRPr>
            </a:lvl1pPr>
          </a:lstStyle>
          <a:p>
            <a:endParaRPr dirty="0"/>
          </a:p>
        </p:txBody>
      </p:sp>
    </p:spTree>
    <p:extLst>
      <p:ext uri="{BB962C8B-B14F-4D97-AF65-F5344CB8AC3E}">
        <p14:creationId xmlns:p14="http://schemas.microsoft.com/office/powerpoint/2010/main" val="343073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2896" y="746940"/>
            <a:ext cx="5631815" cy="917575"/>
          </a:xfrm>
          <a:prstGeom prst="rect">
            <a:avLst/>
          </a:prstGeom>
        </p:spPr>
        <p:txBody>
          <a:bodyPr wrap="square" lIns="0" tIns="0" rIns="0" bIns="0">
            <a:spAutoFit/>
          </a:bodyPr>
          <a:lstStyle>
            <a:lvl1pPr>
              <a:defRPr sz="5850" b="0" i="0">
                <a:solidFill>
                  <a:srgbClr val="182948"/>
                </a:solidFill>
                <a:latin typeface="Haas Grot Disp 65 Medium"/>
                <a:cs typeface="Haas Grot Disp 65 Medium"/>
              </a:defRPr>
            </a:lvl1pPr>
          </a:lstStyle>
          <a:p>
            <a:endParaRPr dirty="0"/>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73" r:id="rId3"/>
    <p:sldLayoutId id="2147483672" r:id="rId4"/>
    <p:sldLayoutId id="2147483678" r:id="rId5"/>
    <p:sldLayoutId id="2147483663" r:id="rId6"/>
    <p:sldLayoutId id="2147483669" r:id="rId7"/>
    <p:sldLayoutId id="2147483670" r:id="rId8"/>
    <p:sldLayoutId id="2147483671" r:id="rId9"/>
    <p:sldLayoutId id="2147483664" r:id="rId10"/>
    <p:sldLayoutId id="2147483676" r:id="rId11"/>
    <p:sldLayoutId id="2147483677" r:id="rId12"/>
    <p:sldLayoutId id="2147483665" r:id="rId13"/>
    <p:sldLayoutId id="2147483666" r:id="rId14"/>
    <p:sldLayoutId id="2147483667" r:id="rId15"/>
    <p:sldLayoutId id="2147483675" r:id="rId16"/>
    <p:sldLayoutId id="2147483668" r:id="rId17"/>
    <p:sldLayoutId id="2147483674" r:id="rId1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0">
            <a:extLst>
              <a:ext uri="{FF2B5EF4-FFF2-40B4-BE49-F238E27FC236}">
                <a16:creationId xmlns:a16="http://schemas.microsoft.com/office/drawing/2014/main" id="{4D7C6F7C-E76B-15B5-092A-C9E674238677}"/>
              </a:ext>
            </a:extLst>
          </p:cNvPr>
          <p:cNvSpPr txBox="1">
            <a:spLocks/>
          </p:cNvSpPr>
          <p:nvPr/>
        </p:nvSpPr>
        <p:spPr>
          <a:xfrm>
            <a:off x="875415" y="3175000"/>
            <a:ext cx="12700000" cy="2413000"/>
          </a:xfrm>
          <a:prstGeom prst="rect">
            <a:avLst/>
          </a:prstGeom>
        </p:spPr>
        <p:txBody>
          <a:bodyPr vert="horz" wrap="square" lIns="0" tIns="103247" rIns="0" bIns="0" rtlCol="0">
            <a:spAutoFit/>
          </a:bodyPr>
          <a:lstStyle>
            <a:lvl1pPr>
              <a:defRPr>
                <a:latin typeface="+mj-lt"/>
                <a:ea typeface="+mj-ea"/>
                <a:cs typeface="+mj-cs"/>
              </a:defRPr>
            </a:lvl1pPr>
          </a:lstStyle>
          <a:p>
            <a:pPr marL="14604">
              <a:spcBef>
                <a:spcPts val="105"/>
              </a:spcBef>
            </a:pPr>
            <a:r>
              <a:rPr lang="es-MX" sz="7400">
                <a:solidFill>
                  <a:srgbClr val="FFFFFF"/>
                </a:solidFill>
                <a:latin typeface="Haas Grot Disp 65 Medium" panose="020D0504030502050203" pitchFamily="34" charset="77"/>
              </a:rPr>
              <a:t>Digitalización de</a:t>
            </a:r>
          </a:p>
          <a:p>
            <a:pPr marL="14604">
              <a:spcBef>
                <a:spcPts val="105"/>
              </a:spcBef>
            </a:pPr>
            <a:r>
              <a:rPr lang="es-MX" sz="7400">
                <a:solidFill>
                  <a:srgbClr val="FFFFFF"/>
                </a:solidFill>
                <a:latin typeface="Haas Grot Disp 65 Medium" panose="020D0504030502050203" pitchFamily="34" charset="77"/>
              </a:rPr>
              <a:t>Protocolos de Calidad</a:t>
            </a:r>
            <a:endParaRPr lang="es-CL" sz="7400" dirty="0">
              <a:latin typeface="Haas Grot Disp 65 Medium" panose="020D0504030502050203" pitchFamily="34" charset="77"/>
            </a:endParaRPr>
          </a:p>
        </p:txBody>
      </p:sp>
      <p:sp>
        <p:nvSpPr>
          <p:cNvPr id="3" name="object 11">
            <a:extLst>
              <a:ext uri="{FF2B5EF4-FFF2-40B4-BE49-F238E27FC236}">
                <a16:creationId xmlns:a16="http://schemas.microsoft.com/office/drawing/2014/main" id="{FBB87CC6-5687-36E0-9452-320F3F6758C4}"/>
              </a:ext>
            </a:extLst>
          </p:cNvPr>
          <p:cNvSpPr/>
          <p:nvPr/>
        </p:nvSpPr>
        <p:spPr>
          <a:xfrm>
            <a:off x="977369" y="5969000"/>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4" name="object 12">
            <a:extLst>
              <a:ext uri="{FF2B5EF4-FFF2-40B4-BE49-F238E27FC236}">
                <a16:creationId xmlns:a16="http://schemas.microsoft.com/office/drawing/2014/main" id="{70E9ED69-1670-313E-B2D5-22C5FD9C3131}"/>
              </a:ext>
            </a:extLst>
          </p:cNvPr>
          <p:cNvSpPr txBox="1"/>
          <p:nvPr/>
        </p:nvSpPr>
        <p:spPr>
          <a:xfrm>
            <a:off x="923833" y="6286500"/>
            <a:ext cx="13335000" cy="505267"/>
          </a:xfrm>
          <a:prstGeom prst="rect">
            <a:avLst/>
          </a:prstGeom>
        </p:spPr>
        <p:txBody>
          <a:bodyPr vert="horz" wrap="square" lIns="0" tIns="12700" rIns="0" bIns="0" rtlCol="0">
            <a:spAutoFit/>
          </a:bodyPr>
          <a:lstStyle/>
          <a:p>
            <a:pPr marL="12700">
              <a:lnSpc>
                <a:spcPct val="100000"/>
              </a:lnSpc>
              <a:spcBef>
                <a:spcPts val="100"/>
              </a:spcBef>
            </a:pPr>
            <a:r>
              <a:rPr lang="es-PE" sz="3200">
                <a:solidFill>
                  <a:srgbClr val="FFFFFF"/>
                </a:solidFill>
                <a:latin typeface="Haas Grot Disp 55 Roman" panose="020D0504030502050203" pitchFamily="34" charset="77"/>
                <a:cs typeface="Haas Grot Disp 55 Roman"/>
              </a:rPr>
              <a:t>Entorno Microsoft vs. fuera de Microsoft · Mina Constancia</a:t>
            </a:r>
            <a:endParaRPr sz="3200" dirty="0">
              <a:latin typeface="Haas Grot Disp 55 Roman" panose="020D0504030502050203" pitchFamily="34" charset="77"/>
              <a:cs typeface="Haas Grot Disp 55 Roman"/>
            </a:endParaRPr>
          </a:p>
        </p:txBody>
      </p:sp>
      <p:pic>
        <p:nvPicPr>
          <p:cNvPr id="6" name="Imagen 5">
            <a:extLst>
              <a:ext uri="{FF2B5EF4-FFF2-40B4-BE49-F238E27FC236}">
                <a16:creationId xmlns:a16="http://schemas.microsoft.com/office/drawing/2014/main" id="{DE5D6719-BFEA-FD7D-9E6B-AAB57B36FD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1211612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3" cstate="print"/>
          <a:stretch>
            <a:fillRect/>
          </a:stretch>
        </p:blipFill>
        <p:spPr>
          <a:xfrm>
            <a:off x="0" y="11174089"/>
            <a:ext cx="20104099" cy="134467"/>
          </a:xfrm>
          <a:prstGeom prst="rect">
            <a:avLst/>
          </a:prstGeom>
        </p:spPr>
      </p:pic>
      <p:sp>
        <p:nvSpPr>
          <p:cNvPr id="25" name="object 3">
            <a:extLst>
              <a:ext uri="{FF2B5EF4-FFF2-40B4-BE49-F238E27FC236}">
                <a16:creationId xmlns:a16="http://schemas.microsoft.com/office/drawing/2014/main" id="{0DD61930-9D59-60DF-B5E9-C5E1DBB985F5}"/>
              </a:ext>
            </a:extLst>
          </p:cNvPr>
          <p:cNvSpPr/>
          <p:nvPr/>
        </p:nvSpPr>
        <p:spPr>
          <a:xfrm>
            <a:off x="922083" y="2636003"/>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6" name="object 4">
            <a:extLst>
              <a:ext uri="{FF2B5EF4-FFF2-40B4-BE49-F238E27FC236}">
                <a16:creationId xmlns:a16="http://schemas.microsoft.com/office/drawing/2014/main" id="{FA83ED9E-874F-2D61-7340-138E322FE9BB}"/>
              </a:ext>
            </a:extLst>
          </p:cNvPr>
          <p:cNvSpPr txBox="1"/>
          <p:nvPr/>
        </p:nvSpPr>
        <p:spPr>
          <a:xfrm>
            <a:off x="909384" y="3026805"/>
            <a:ext cx="8890000" cy="1274708"/>
          </a:xfrm>
          <a:prstGeom prst="rect">
            <a:avLst/>
          </a:prstGeom>
        </p:spPr>
        <p:txBody>
          <a:bodyPr vert="horz" wrap="square" lIns="0" tIns="12700" rIns="0" bIns="0" rtlCol="0">
            <a:spAutoFit/>
          </a:bodyPr>
          <a:lstStyle/>
          <a:p>
            <a:pPr marL="12700">
              <a:lnSpc>
                <a:spcPct val="100000"/>
              </a:lnSpc>
              <a:spcBef>
                <a:spcPts val="100"/>
              </a:spcBef>
            </a:pPr>
            <a:r>
              <a:rPr lang="es-PE" sz="4100">
                <a:solidFill>
                  <a:srgbClr val="182948"/>
                </a:solidFill>
                <a:latin typeface="Haas Grot Disp 55 Roman"/>
                <a:cs typeface="Haas Grot Disp 55 Roman"/>
              </a:rPr>
              <a:t>Contenido de la presentación</a:t>
            </a:r>
            <a:endParaRPr sz="4100">
              <a:latin typeface="Haas Grot Disp 55 Roman"/>
              <a:cs typeface="Haas Grot Disp 55 Roman"/>
            </a:endParaRPr>
          </a:p>
        </p:txBody>
      </p:sp>
      <p:sp>
        <p:nvSpPr>
          <p:cNvPr id="27" name="object 7">
            <a:extLst>
              <a:ext uri="{FF2B5EF4-FFF2-40B4-BE49-F238E27FC236}">
                <a16:creationId xmlns:a16="http://schemas.microsoft.com/office/drawing/2014/main" id="{05A0D691-0302-8581-07CD-29F4F1F9F2E7}"/>
              </a:ext>
            </a:extLst>
          </p:cNvPr>
          <p:cNvSpPr txBox="1"/>
          <p:nvPr/>
        </p:nvSpPr>
        <p:spPr>
          <a:xfrm>
            <a:off x="945364" y="6094438"/>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1. Situación actual</a:t>
            </a:r>
            <a:endParaRPr sz="2200" dirty="0">
              <a:solidFill>
                <a:srgbClr val="182949"/>
              </a:solidFill>
              <a:latin typeface="Haas Grot Disp 75 Bold"/>
              <a:cs typeface="Haas Grot Disp 75 Bold"/>
            </a:endParaRPr>
          </a:p>
        </p:txBody>
      </p:sp>
      <p:sp>
        <p:nvSpPr>
          <p:cNvPr id="28" name="object 8">
            <a:extLst>
              <a:ext uri="{FF2B5EF4-FFF2-40B4-BE49-F238E27FC236}">
                <a16:creationId xmlns:a16="http://schemas.microsoft.com/office/drawing/2014/main" id="{3A50C391-EF5C-4FF5-267B-D215170C4BA3}"/>
              </a:ext>
            </a:extLst>
          </p:cNvPr>
          <p:cNvSpPr txBox="1"/>
          <p:nvPr/>
        </p:nvSpPr>
        <p:spPr>
          <a:xfrm>
            <a:off x="945365" y="6764470"/>
            <a:ext cx="7620000" cy="693138"/>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2. Propuesta y alcance</a:t>
            </a:r>
            <a:endParaRPr sz="2200" dirty="0">
              <a:latin typeface="Haas Grot Disp 75 Bold"/>
              <a:cs typeface="Haas Grot Disp 75 Bold"/>
            </a:endParaRPr>
          </a:p>
        </p:txBody>
      </p:sp>
      <p:sp>
        <p:nvSpPr>
          <p:cNvPr id="29" name="object 9">
            <a:extLst>
              <a:ext uri="{FF2B5EF4-FFF2-40B4-BE49-F238E27FC236}">
                <a16:creationId xmlns:a16="http://schemas.microsoft.com/office/drawing/2014/main" id="{D7F5363D-2E5A-5FD5-B6F2-154C6633DD8E}"/>
              </a:ext>
            </a:extLst>
          </p:cNvPr>
          <p:cNvSpPr txBox="1"/>
          <p:nvPr/>
        </p:nvSpPr>
        <p:spPr>
          <a:xfrm>
            <a:off x="945364" y="7434502"/>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3. Arquitecturas</a:t>
            </a:r>
            <a:endParaRPr sz="2200" dirty="0">
              <a:latin typeface="Haas Grot Disp 75 Bold"/>
              <a:cs typeface="Haas Grot Disp 75 Bold"/>
            </a:endParaRPr>
          </a:p>
        </p:txBody>
      </p:sp>
      <p:sp>
        <p:nvSpPr>
          <p:cNvPr id="30" name="object 10">
            <a:extLst>
              <a:ext uri="{FF2B5EF4-FFF2-40B4-BE49-F238E27FC236}">
                <a16:creationId xmlns:a16="http://schemas.microsoft.com/office/drawing/2014/main" id="{3C782557-F5CE-6371-C548-E290C262A0D6}"/>
              </a:ext>
            </a:extLst>
          </p:cNvPr>
          <p:cNvSpPr txBox="1"/>
          <p:nvPr/>
        </p:nvSpPr>
        <p:spPr>
          <a:xfrm>
            <a:off x="945365" y="8104534"/>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4. Comparativa</a:t>
            </a:r>
            <a:endParaRPr sz="2200" dirty="0">
              <a:latin typeface="Haas Grot Disp 75 Bold"/>
              <a:cs typeface="Haas Grot Disp 75 Bold"/>
            </a:endParaRPr>
          </a:p>
        </p:txBody>
      </p:sp>
      <p:sp>
        <p:nvSpPr>
          <p:cNvPr id="31" name="object 11">
            <a:extLst>
              <a:ext uri="{FF2B5EF4-FFF2-40B4-BE49-F238E27FC236}">
                <a16:creationId xmlns:a16="http://schemas.microsoft.com/office/drawing/2014/main" id="{C5CD5AA9-D51D-1EF3-B7B2-610CE26C88E0}"/>
              </a:ext>
            </a:extLst>
          </p:cNvPr>
          <p:cNvSpPr txBox="1"/>
          <p:nvPr/>
        </p:nvSpPr>
        <p:spPr>
          <a:xfrm>
            <a:off x="945365" y="8774566"/>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5. Costos y seguridad</a:t>
            </a:r>
            <a:endParaRPr sz="2200" dirty="0">
              <a:latin typeface="Haas Grot Disp 75 Bold"/>
              <a:cs typeface="Haas Grot Disp 75 Bold"/>
            </a:endParaRPr>
          </a:p>
        </p:txBody>
      </p:sp>
      <p:sp>
        <p:nvSpPr>
          <p:cNvPr id="32" name="object 12">
            <a:extLst>
              <a:ext uri="{FF2B5EF4-FFF2-40B4-BE49-F238E27FC236}">
                <a16:creationId xmlns:a16="http://schemas.microsoft.com/office/drawing/2014/main" id="{20B38C02-8B33-F687-3261-E2259817613A}"/>
              </a:ext>
            </a:extLst>
          </p:cNvPr>
          <p:cNvSpPr txBox="1"/>
          <p:nvPr/>
        </p:nvSpPr>
        <p:spPr>
          <a:xfrm>
            <a:off x="945365" y="9444598"/>
            <a:ext cx="7620000" cy="365125"/>
          </a:xfrm>
          <a:prstGeom prst="rect">
            <a:avLst/>
          </a:prstGeom>
        </p:spPr>
        <p:txBody>
          <a:bodyPr vert="horz" wrap="square" lIns="0" tIns="15875" rIns="0" bIns="0" rtlCol="0">
            <a:spAutoFit/>
          </a:bodyPr>
          <a:lstStyle/>
          <a:p>
            <a:pPr marL="12700">
              <a:lnSpc>
                <a:spcPct val="100000"/>
              </a:lnSpc>
              <a:spcBef>
                <a:spcPts val="125"/>
              </a:spcBef>
            </a:pPr>
            <a:r>
              <a:rPr lang="es-PE" sz="2200" b="1">
                <a:solidFill>
                  <a:srgbClr val="182948"/>
                </a:solidFill>
                <a:latin typeface="Haas Grot Disp 75 Bold"/>
                <a:cs typeface="Haas Grot Disp 75 Bold"/>
              </a:rPr>
              <a:t>6. Recomendación</a:t>
            </a:r>
            <a:endParaRPr sz="2200" dirty="0">
              <a:latin typeface="Haas Grot Disp 75 Bold"/>
              <a:cs typeface="Haas Grot Disp 75 Bold"/>
            </a:endParaRPr>
          </a:p>
        </p:txBody>
      </p:sp>
      <p:sp>
        <p:nvSpPr>
          <p:cNvPr id="33" name="object 13">
            <a:extLst>
              <a:ext uri="{FF2B5EF4-FFF2-40B4-BE49-F238E27FC236}">
                <a16:creationId xmlns:a16="http://schemas.microsoft.com/office/drawing/2014/main" id="{8EBB117C-6390-A404-699E-0FAC2C8B0EC1}"/>
              </a:ext>
            </a:extLst>
          </p:cNvPr>
          <p:cNvSpPr txBox="1"/>
          <p:nvPr/>
        </p:nvSpPr>
        <p:spPr>
          <a:xfrm>
            <a:off x="9652000" y="6093873"/>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Cómo se gestionan hoy los protocolos</a:t>
            </a:r>
            <a:endParaRPr sz="2200" dirty="0">
              <a:solidFill>
                <a:srgbClr val="182949"/>
              </a:solidFill>
              <a:latin typeface="Haas Grot Disp 55 Roman"/>
              <a:cs typeface="Haas Grot Disp 55 Roman"/>
            </a:endParaRPr>
          </a:p>
        </p:txBody>
      </p:sp>
      <p:sp>
        <p:nvSpPr>
          <p:cNvPr id="34" name="object 14">
            <a:extLst>
              <a:ext uri="{FF2B5EF4-FFF2-40B4-BE49-F238E27FC236}">
                <a16:creationId xmlns:a16="http://schemas.microsoft.com/office/drawing/2014/main" id="{A1CF4A7B-CB7D-341D-553B-788097F1FF38}"/>
              </a:ext>
            </a:extLst>
          </p:cNvPr>
          <p:cNvSpPr txBox="1"/>
          <p:nvPr/>
        </p:nvSpPr>
        <p:spPr>
          <a:xfrm>
            <a:off x="9652000" y="6763904"/>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Qué se digitaliza en el MVP</a:t>
            </a:r>
            <a:endParaRPr sz="2200" dirty="0">
              <a:solidFill>
                <a:srgbClr val="182949"/>
              </a:solidFill>
              <a:latin typeface="Haas Grot Disp 55 Roman"/>
              <a:cs typeface="Haas Grot Disp 55 Roman"/>
            </a:endParaRPr>
          </a:p>
        </p:txBody>
      </p:sp>
      <p:sp>
        <p:nvSpPr>
          <p:cNvPr id="35" name="object 15">
            <a:extLst>
              <a:ext uri="{FF2B5EF4-FFF2-40B4-BE49-F238E27FC236}">
                <a16:creationId xmlns:a16="http://schemas.microsoft.com/office/drawing/2014/main" id="{5A06E8C1-8910-BB73-81C7-A0198E57FE48}"/>
              </a:ext>
            </a:extLst>
          </p:cNvPr>
          <p:cNvSpPr txBox="1"/>
          <p:nvPr/>
        </p:nvSpPr>
        <p:spPr>
          <a:xfrm>
            <a:off x="9652000" y="7433936"/>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Opción Microsoft y opción fuera de Microsoft</a:t>
            </a:r>
            <a:endParaRPr sz="2200">
              <a:solidFill>
                <a:srgbClr val="182949"/>
              </a:solidFill>
              <a:latin typeface="Haas Grot Disp 55 Roman"/>
              <a:cs typeface="Haas Grot Disp 55 Roman"/>
            </a:endParaRPr>
          </a:p>
        </p:txBody>
      </p:sp>
      <p:sp>
        <p:nvSpPr>
          <p:cNvPr id="36" name="object 16">
            <a:extLst>
              <a:ext uri="{FF2B5EF4-FFF2-40B4-BE49-F238E27FC236}">
                <a16:creationId xmlns:a16="http://schemas.microsoft.com/office/drawing/2014/main" id="{CAEE56F7-54FF-5B9B-CD13-7D58F247A195}"/>
              </a:ext>
            </a:extLst>
          </p:cNvPr>
          <p:cNvSpPr txBox="1"/>
          <p:nvPr/>
        </p:nvSpPr>
        <p:spPr>
          <a:xfrm>
            <a:off x="9652000" y="8103968"/>
            <a:ext cx="9525000" cy="693138"/>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Sistemas y licencias que necesita cada opción</a:t>
            </a:r>
            <a:endParaRPr sz="2200" dirty="0">
              <a:solidFill>
                <a:srgbClr val="182949"/>
              </a:solidFill>
              <a:latin typeface="Haas Grot Disp 55 Roman"/>
              <a:cs typeface="Haas Grot Disp 55 Roman"/>
            </a:endParaRPr>
          </a:p>
        </p:txBody>
      </p:sp>
      <p:sp>
        <p:nvSpPr>
          <p:cNvPr id="37" name="object 17">
            <a:extLst>
              <a:ext uri="{FF2B5EF4-FFF2-40B4-BE49-F238E27FC236}">
                <a16:creationId xmlns:a16="http://schemas.microsoft.com/office/drawing/2014/main" id="{089562E0-C700-51A6-8B16-EB857B825649}"/>
              </a:ext>
            </a:extLst>
          </p:cNvPr>
          <p:cNvSpPr txBox="1"/>
          <p:nvPr/>
        </p:nvSpPr>
        <p:spPr>
          <a:xfrm>
            <a:off x="9652000" y="8774000"/>
            <a:ext cx="9525000" cy="693138"/>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Precios, costo estimado y protección de datos</a:t>
            </a:r>
            <a:endParaRPr sz="2200">
              <a:solidFill>
                <a:srgbClr val="182949"/>
              </a:solidFill>
              <a:latin typeface="Haas Grot Disp 55 Roman"/>
              <a:cs typeface="Haas Grot Disp 55 Roman"/>
            </a:endParaRPr>
          </a:p>
        </p:txBody>
      </p:sp>
      <p:sp>
        <p:nvSpPr>
          <p:cNvPr id="38" name="object 18">
            <a:extLst>
              <a:ext uri="{FF2B5EF4-FFF2-40B4-BE49-F238E27FC236}">
                <a16:creationId xmlns:a16="http://schemas.microsoft.com/office/drawing/2014/main" id="{EBF2FFC0-D812-0FE5-32B1-1594C4E94609}"/>
              </a:ext>
            </a:extLst>
          </p:cNvPr>
          <p:cNvSpPr txBox="1"/>
          <p:nvPr/>
        </p:nvSpPr>
        <p:spPr>
          <a:xfrm>
            <a:off x="9652000" y="9444032"/>
            <a:ext cx="9525000" cy="365125"/>
          </a:xfrm>
          <a:prstGeom prst="rect">
            <a:avLst/>
          </a:prstGeom>
        </p:spPr>
        <p:txBody>
          <a:bodyPr vert="horz" wrap="square" lIns="0" tIns="15875" rIns="0" bIns="0" rtlCol="0">
            <a:spAutoFit/>
          </a:bodyPr>
          <a:lstStyle/>
          <a:p>
            <a:pPr marL="12700">
              <a:lnSpc>
                <a:spcPct val="100000"/>
              </a:lnSpc>
              <a:spcBef>
                <a:spcPts val="125"/>
              </a:spcBef>
            </a:pPr>
            <a:r>
              <a:rPr lang="es-MX" sz="2200">
                <a:solidFill>
                  <a:srgbClr val="182949"/>
                </a:solidFill>
                <a:latin typeface="Haas Grot Disp 55 Roman"/>
                <a:cs typeface="Haas Grot Disp 55 Roman"/>
              </a:rPr>
              <a:t>Ventajas, decisiones pendientes y próximos pasos</a:t>
            </a:r>
            <a:endParaRPr sz="2200">
              <a:solidFill>
                <a:srgbClr val="182949"/>
              </a:solidFill>
              <a:latin typeface="Haas Grot Disp 55 Roman"/>
              <a:cs typeface="Haas Grot Disp 55 Roman"/>
            </a:endParaRPr>
          </a:p>
        </p:txBody>
      </p:sp>
      <p:sp>
        <p:nvSpPr>
          <p:cNvPr id="39" name="object 19">
            <a:extLst>
              <a:ext uri="{FF2B5EF4-FFF2-40B4-BE49-F238E27FC236}">
                <a16:creationId xmlns:a16="http://schemas.microsoft.com/office/drawing/2014/main" id="{2D4D43F7-5E6B-715D-2480-C8E2482F90E6}"/>
              </a:ext>
            </a:extLst>
          </p:cNvPr>
          <p:cNvSpPr/>
          <p:nvPr/>
        </p:nvSpPr>
        <p:spPr>
          <a:xfrm>
            <a:off x="922921" y="6601627"/>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0" name="object 20">
            <a:extLst>
              <a:ext uri="{FF2B5EF4-FFF2-40B4-BE49-F238E27FC236}">
                <a16:creationId xmlns:a16="http://schemas.microsoft.com/office/drawing/2014/main" id="{5DFBCA6F-9FF8-B9B9-96F8-534C9DD84C99}"/>
              </a:ext>
            </a:extLst>
          </p:cNvPr>
          <p:cNvSpPr/>
          <p:nvPr/>
        </p:nvSpPr>
        <p:spPr>
          <a:xfrm>
            <a:off x="922921" y="7291434"/>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1" name="object 21">
            <a:extLst>
              <a:ext uri="{FF2B5EF4-FFF2-40B4-BE49-F238E27FC236}">
                <a16:creationId xmlns:a16="http://schemas.microsoft.com/office/drawing/2014/main" id="{516C4E06-0A5B-282D-735E-3112F7D4C207}"/>
              </a:ext>
            </a:extLst>
          </p:cNvPr>
          <p:cNvSpPr/>
          <p:nvPr/>
        </p:nvSpPr>
        <p:spPr>
          <a:xfrm>
            <a:off x="922921" y="7981240"/>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2" name="object 22">
            <a:extLst>
              <a:ext uri="{FF2B5EF4-FFF2-40B4-BE49-F238E27FC236}">
                <a16:creationId xmlns:a16="http://schemas.microsoft.com/office/drawing/2014/main" id="{C9F4AE62-010B-A924-B07B-948DB2441C40}"/>
              </a:ext>
            </a:extLst>
          </p:cNvPr>
          <p:cNvSpPr/>
          <p:nvPr/>
        </p:nvSpPr>
        <p:spPr>
          <a:xfrm>
            <a:off x="922921" y="8671048"/>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sp>
        <p:nvSpPr>
          <p:cNvPr id="43" name="object 23">
            <a:extLst>
              <a:ext uri="{FF2B5EF4-FFF2-40B4-BE49-F238E27FC236}">
                <a16:creationId xmlns:a16="http://schemas.microsoft.com/office/drawing/2014/main" id="{BB4F041E-0C7B-609D-EBE7-10B3FBAA4BDD}"/>
              </a:ext>
            </a:extLst>
          </p:cNvPr>
          <p:cNvSpPr/>
          <p:nvPr/>
        </p:nvSpPr>
        <p:spPr>
          <a:xfrm>
            <a:off x="922921" y="9347476"/>
            <a:ext cx="18230850" cy="0"/>
          </a:xfrm>
          <a:custGeom>
            <a:avLst/>
            <a:gdLst/>
            <a:ahLst/>
            <a:cxnLst/>
            <a:rect l="l" t="t" r="r" b="b"/>
            <a:pathLst>
              <a:path w="18230850">
                <a:moveTo>
                  <a:pt x="0" y="0"/>
                </a:moveTo>
                <a:lnTo>
                  <a:pt x="18230764" y="0"/>
                </a:lnTo>
              </a:path>
            </a:pathLst>
          </a:custGeom>
          <a:ln w="8062">
            <a:solidFill>
              <a:srgbClr val="000000"/>
            </a:solidFill>
          </a:ln>
        </p:spPr>
        <p:txBody>
          <a:bodyPr wrap="square" lIns="0" tIns="0" rIns="0" bIns="0" rtlCol="0"/>
          <a:lstStyle/>
          <a:p>
            <a:endParaRPr/>
          </a:p>
        </p:txBody>
      </p:sp>
      <p:pic>
        <p:nvPicPr>
          <p:cNvPr id="44" name="Imagen 43">
            <a:extLst>
              <a:ext uri="{FF2B5EF4-FFF2-40B4-BE49-F238E27FC236}">
                <a16:creationId xmlns:a16="http://schemas.microsoft.com/office/drawing/2014/main" id="{17A3D5D6-ABF3-4738-4EBE-11EC93A43813}"/>
              </a:ext>
            </a:extLst>
          </p:cNvPr>
          <p:cNvPicPr>
            <a:picLocks noChangeAspect="1"/>
          </p:cNvPicPr>
          <p:nvPr/>
        </p:nvPicPr>
        <p:blipFill>
          <a:blip r:embed="rId4">
            <a:extLst>
              <a:ext uri="{28A0092B-C50C-407E-A947-70E740481C1C}">
                <a14:useLocalDpi xmlns:a14="http://schemas.microsoft.com/office/drawing/2010/main" val="0"/>
              </a:ext>
            </a:extLst>
          </a:blip>
          <a:srcRect l="10000" t="35333" r="10000" b="37077"/>
          <a:stretch>
            <a:fillRect/>
          </a:stretch>
        </p:blipFill>
        <p:spPr>
          <a:xfrm>
            <a:off x="16480728" y="1150598"/>
            <a:ext cx="2703164" cy="699189"/>
          </a:xfrm>
          <a:prstGeom prst="rect">
            <a:avLst/>
          </a:prstGeom>
        </p:spPr>
      </p:pic>
      <p:sp>
        <p:nvSpPr>
          <p:cNvPr id="47" name="object 2">
            <a:extLst>
              <a:ext uri="{FF2B5EF4-FFF2-40B4-BE49-F238E27FC236}">
                <a16:creationId xmlns:a16="http://schemas.microsoft.com/office/drawing/2014/main" id="{A1D5E7BA-0420-7534-527F-629208C53ACC}"/>
              </a:ext>
            </a:extLst>
          </p:cNvPr>
          <p:cNvSpPr txBox="1"/>
          <p:nvPr/>
        </p:nvSpPr>
        <p:spPr>
          <a:xfrm>
            <a:off x="979247" y="803251"/>
            <a:ext cx="5349240" cy="1474470"/>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182949"/>
                </a:solidFill>
                <a:latin typeface="Haas Grot Disp 65 Medium"/>
                <a:cs typeface="Haas Grot Disp 65 Medium"/>
              </a:rPr>
              <a:t>Índice</a:t>
            </a:r>
            <a:endParaRPr sz="9500" dirty="0">
              <a:solidFill>
                <a:srgbClr val="182949"/>
              </a:solidFill>
              <a:latin typeface="Haas Grot Disp 65 Medium"/>
              <a:cs typeface="Haas Grot Disp 65 Medium"/>
            </a:endParaRPr>
          </a:p>
        </p:txBody>
      </p:sp>
    </p:spTree>
    <p:extLst>
      <p:ext uri="{BB962C8B-B14F-4D97-AF65-F5344CB8AC3E}">
        <p14:creationId xmlns:p14="http://schemas.microsoft.com/office/powerpoint/2010/main" val="2909068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Protocolos en Excel con flujo manual: WhatsApp, correo, impresión y firma escaneada</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Situación actual</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EE5D7950-88D4-D313-D1DD-EF89FC83026D}"/>
              </a:ext>
            </a:extLst>
          </p:cNvPr>
          <p:cNvSpPr/>
          <p:nvPr/>
        </p:nvSpPr>
        <p:spPr>
          <a:xfrm>
            <a:off x="939800" y="4191000"/>
            <a:ext cx="4292600" cy="558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41B13A4E-6A55-1220-425C-5EEA0D9236A6}"/>
              </a:ext>
            </a:extLst>
          </p:cNvPr>
          <p:cNvSpPr txBox="1"/>
          <p:nvPr/>
        </p:nvSpPr>
        <p:spPr>
          <a:xfrm>
            <a:off x="12954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01</a:t>
            </a:r>
          </a:p>
        </p:txBody>
      </p:sp>
      <p:sp>
        <p:nvSpPr>
          <p:cNvPr id="4" name="CuadroTexto 3">
            <a:extLst>
              <a:ext uri="{FF2B5EF4-FFF2-40B4-BE49-F238E27FC236}">
                <a16:creationId xmlns:a16="http://schemas.microsoft.com/office/drawing/2014/main" id="{9F571CD5-E5B1-0D34-582A-70AE7229417E}"/>
              </a:ext>
            </a:extLst>
          </p:cNvPr>
          <p:cNvSpPr txBox="1"/>
          <p:nvPr/>
        </p:nvSpPr>
        <p:spPr>
          <a:xfrm>
            <a:off x="1295400" y="5588000"/>
            <a:ext cx="3581400" cy="369332"/>
          </a:xfrm>
          <a:prstGeom prst="rect">
            <a:avLst/>
          </a:prstGeom>
          <a:noFill/>
        </p:spPr>
        <p:txBody>
          <a:bodyPr vert="horz" wrap="square" lIns="0" tIns="0" rIns="0" bIns="0" rtlCol="0" anchor="t">
            <a:noAutofit/>
          </a:bodyPr>
          <a:lstStyle/>
          <a:p>
            <a:pPr algn="l"/>
            <a:r>
              <a:rPr lang="es-PE" sz="3250" b="1">
                <a:solidFill>
                  <a:srgbClr val="FFFFFF"/>
                </a:solidFill>
                <a:latin typeface="Haas Grot Disp 75 Bold"/>
              </a:rPr>
              <a:t>Firmas manuales y papel</a:t>
            </a:r>
          </a:p>
        </p:txBody>
      </p:sp>
      <p:sp>
        <p:nvSpPr>
          <p:cNvPr id="5" name="CuadroTexto 4">
            <a:extLst>
              <a:ext uri="{FF2B5EF4-FFF2-40B4-BE49-F238E27FC236}">
                <a16:creationId xmlns:a16="http://schemas.microsoft.com/office/drawing/2014/main" id="{838E51F4-765B-33FB-1216-803208BBB85F}"/>
              </a:ext>
            </a:extLst>
          </p:cNvPr>
          <p:cNvSpPr txBox="1"/>
          <p:nvPr/>
        </p:nvSpPr>
        <p:spPr>
          <a:xfrm>
            <a:off x="1295400" y="6731000"/>
            <a:ext cx="3581400" cy="369332"/>
          </a:xfrm>
          <a:prstGeom prst="rect">
            <a:avLst/>
          </a:prstGeom>
          <a:noFill/>
        </p:spPr>
        <p:txBody>
          <a:bodyPr vert="horz" wrap="square" lIns="0" tIns="0" rIns="0" bIns="0" rtlCol="0" anchor="t">
            <a:noAutofit/>
          </a:bodyPr>
          <a:lstStyle/>
          <a:p>
            <a:pPr algn="l"/>
            <a:r>
              <a:rPr lang="es-MX" sz="2375">
                <a:solidFill>
                  <a:srgbClr val="FFFFFF"/>
                </a:solidFill>
                <a:latin typeface="Haas Grot Disp 55 Roman" panose="020D0504030502050203"/>
              </a:rPr>
              <a:t>Los formatos se imprimen, se firman a mano, se sellan y se escanean para archivarlos.</a:t>
            </a:r>
            <a:endParaRPr lang="es-PE" sz="2375">
              <a:solidFill>
                <a:srgbClr val="FFFFFF"/>
              </a:solidFill>
              <a:latin typeface="Haas Grot Disp 55 Roman" panose="020D0504030502050203"/>
            </a:endParaRPr>
          </a:p>
        </p:txBody>
      </p:sp>
      <p:sp>
        <p:nvSpPr>
          <p:cNvPr id="6" name="Rectángulo 5">
            <a:extLst>
              <a:ext uri="{FF2B5EF4-FFF2-40B4-BE49-F238E27FC236}">
                <a16:creationId xmlns:a16="http://schemas.microsoft.com/office/drawing/2014/main" id="{D501CC2F-FB57-D495-9380-66C28B85FA42}"/>
              </a:ext>
            </a:extLst>
          </p:cNvPr>
          <p:cNvSpPr/>
          <p:nvPr/>
        </p:nvSpPr>
        <p:spPr>
          <a:xfrm>
            <a:off x="55880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723B22E4-15A8-9881-3CDF-10B29F778493}"/>
              </a:ext>
            </a:extLst>
          </p:cNvPr>
          <p:cNvSpPr txBox="1"/>
          <p:nvPr/>
        </p:nvSpPr>
        <p:spPr>
          <a:xfrm>
            <a:off x="59436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02</a:t>
            </a:r>
          </a:p>
        </p:txBody>
      </p:sp>
      <p:sp>
        <p:nvSpPr>
          <p:cNvPr id="33" name="CuadroTexto 32">
            <a:extLst>
              <a:ext uri="{FF2B5EF4-FFF2-40B4-BE49-F238E27FC236}">
                <a16:creationId xmlns:a16="http://schemas.microsoft.com/office/drawing/2014/main" id="{6AB9FA4E-9979-BC29-68AB-8FA2ECCB2390}"/>
              </a:ext>
            </a:extLst>
          </p:cNvPr>
          <p:cNvSpPr txBox="1"/>
          <p:nvPr/>
        </p:nvSpPr>
        <p:spPr>
          <a:xfrm>
            <a:off x="59436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Canales dispersos</a:t>
            </a:r>
          </a:p>
        </p:txBody>
      </p:sp>
      <p:sp>
        <p:nvSpPr>
          <p:cNvPr id="36" name="CuadroTexto 35">
            <a:extLst>
              <a:ext uri="{FF2B5EF4-FFF2-40B4-BE49-F238E27FC236}">
                <a16:creationId xmlns:a16="http://schemas.microsoft.com/office/drawing/2014/main" id="{C2C7715C-C8B0-6A30-56E3-F853E4686452}"/>
              </a:ext>
            </a:extLst>
          </p:cNvPr>
          <p:cNvSpPr txBox="1"/>
          <p:nvPr/>
        </p:nvSpPr>
        <p:spPr>
          <a:xfrm>
            <a:off x="5943600" y="6731000"/>
            <a:ext cx="35814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55 Roman" panose="020D0504030502050203"/>
              </a:rPr>
              <a:t>Solicitudes y correcciones llegan por WhatsApp, llamadas y correo; no hay un registro único.</a:t>
            </a:r>
            <a:endParaRPr lang="es-PE" sz="2375">
              <a:solidFill>
                <a:srgbClr val="182949"/>
              </a:solidFill>
              <a:latin typeface="Haas Grot Disp 55 Roman" panose="020D0504030502050203"/>
            </a:endParaRPr>
          </a:p>
        </p:txBody>
      </p:sp>
      <p:sp>
        <p:nvSpPr>
          <p:cNvPr id="37" name="Rectángulo 36">
            <a:extLst>
              <a:ext uri="{FF2B5EF4-FFF2-40B4-BE49-F238E27FC236}">
                <a16:creationId xmlns:a16="http://schemas.microsoft.com/office/drawing/2014/main" id="{966A3D3E-7BA7-948E-3AC4-E047B033F9A1}"/>
              </a:ext>
            </a:extLst>
          </p:cNvPr>
          <p:cNvSpPr/>
          <p:nvPr/>
        </p:nvSpPr>
        <p:spPr>
          <a:xfrm>
            <a:off x="102362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CuadroTexto 37">
            <a:extLst>
              <a:ext uri="{FF2B5EF4-FFF2-40B4-BE49-F238E27FC236}">
                <a16:creationId xmlns:a16="http://schemas.microsoft.com/office/drawing/2014/main" id="{02331993-1EAC-B397-BC99-DAA0FFCC3CEE}"/>
              </a:ext>
            </a:extLst>
          </p:cNvPr>
          <p:cNvSpPr txBox="1"/>
          <p:nvPr/>
        </p:nvSpPr>
        <p:spPr>
          <a:xfrm>
            <a:off x="105918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03</a:t>
            </a:r>
          </a:p>
        </p:txBody>
      </p:sp>
      <p:sp>
        <p:nvSpPr>
          <p:cNvPr id="39" name="CuadroTexto 38">
            <a:extLst>
              <a:ext uri="{FF2B5EF4-FFF2-40B4-BE49-F238E27FC236}">
                <a16:creationId xmlns:a16="http://schemas.microsoft.com/office/drawing/2014/main" id="{1EB40CB2-907E-DAC8-A003-84832732C540}"/>
              </a:ext>
            </a:extLst>
          </p:cNvPr>
          <p:cNvSpPr txBox="1"/>
          <p:nvPr/>
        </p:nvSpPr>
        <p:spPr>
          <a:xfrm>
            <a:off x="105918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Doble o triple manipulación</a:t>
            </a:r>
          </a:p>
        </p:txBody>
      </p:sp>
      <p:sp>
        <p:nvSpPr>
          <p:cNvPr id="40" name="CuadroTexto 39">
            <a:extLst>
              <a:ext uri="{FF2B5EF4-FFF2-40B4-BE49-F238E27FC236}">
                <a16:creationId xmlns:a16="http://schemas.microsoft.com/office/drawing/2014/main" id="{0AF137DC-6FC1-B12E-ADC8-AD32AA8AC577}"/>
              </a:ext>
            </a:extLst>
          </p:cNvPr>
          <p:cNvSpPr txBox="1"/>
          <p:nvPr/>
        </p:nvSpPr>
        <p:spPr>
          <a:xfrm>
            <a:off x="10591800" y="6731000"/>
            <a:ext cx="35814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55 Roman" panose="020D0504030502050203"/>
              </a:rPr>
              <a:t>La misma información se transcribe entre Excel, PDF e impresiones, con riesgo de error.</a:t>
            </a:r>
            <a:endParaRPr lang="es-PE" sz="2375">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CD2F41D2-0900-DD0F-4D6C-04EE5EA28B38}"/>
              </a:ext>
            </a:extLst>
          </p:cNvPr>
          <p:cNvSpPr/>
          <p:nvPr/>
        </p:nvSpPr>
        <p:spPr>
          <a:xfrm>
            <a:off x="14884400" y="4191000"/>
            <a:ext cx="4292600" cy="558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65E16CC7-D3B3-CB49-C6D3-5590E33E0358}"/>
              </a:ext>
            </a:extLst>
          </p:cNvPr>
          <p:cNvSpPr txBox="1"/>
          <p:nvPr/>
        </p:nvSpPr>
        <p:spPr>
          <a:xfrm>
            <a:off x="15240000" y="4572000"/>
            <a:ext cx="1016000" cy="369332"/>
          </a:xfrm>
          <a:prstGeom prst="rect">
            <a:avLst/>
          </a:prstGeom>
          <a:noFill/>
        </p:spPr>
        <p:txBody>
          <a:bodyPr vert="horz" wrap="square" lIns="0" tIns="0" rIns="0" bIns="0" rtlCol="0" anchor="t">
            <a:noAutofit/>
          </a:bodyPr>
          <a:lstStyle/>
          <a:p>
            <a:pPr algn="l"/>
            <a:r>
              <a:rPr lang="es-PE" sz="5500" b="1">
                <a:solidFill>
                  <a:srgbClr val="F72833"/>
                </a:solidFill>
                <a:latin typeface="Haas Grot Disp 75 Bold"/>
              </a:rPr>
              <a:t>04</a:t>
            </a:r>
          </a:p>
        </p:txBody>
      </p:sp>
      <p:sp>
        <p:nvSpPr>
          <p:cNvPr id="43" name="CuadroTexto 42">
            <a:extLst>
              <a:ext uri="{FF2B5EF4-FFF2-40B4-BE49-F238E27FC236}">
                <a16:creationId xmlns:a16="http://schemas.microsoft.com/office/drawing/2014/main" id="{77A7B7B0-EFEB-9773-41AC-B0B449AEE8F7}"/>
              </a:ext>
            </a:extLst>
          </p:cNvPr>
          <p:cNvSpPr txBox="1"/>
          <p:nvPr/>
        </p:nvSpPr>
        <p:spPr>
          <a:xfrm>
            <a:off x="15240000" y="5588000"/>
            <a:ext cx="3581400" cy="369332"/>
          </a:xfrm>
          <a:prstGeom prst="rect">
            <a:avLst/>
          </a:prstGeom>
          <a:noFill/>
        </p:spPr>
        <p:txBody>
          <a:bodyPr vert="horz" wrap="square" lIns="0" tIns="0" rIns="0" bIns="0" rtlCol="0" anchor="t">
            <a:noAutofit/>
          </a:bodyPr>
          <a:lstStyle/>
          <a:p>
            <a:pPr algn="l"/>
            <a:r>
              <a:rPr lang="es-PE" sz="3250" b="1">
                <a:solidFill>
                  <a:srgbClr val="182949"/>
                </a:solidFill>
                <a:latin typeface="Haas Grot Disp 75 Bold"/>
              </a:rPr>
              <a:t>Dependencia del tercero</a:t>
            </a:r>
          </a:p>
        </p:txBody>
      </p:sp>
      <p:sp>
        <p:nvSpPr>
          <p:cNvPr id="44" name="CuadroTexto 43">
            <a:extLst>
              <a:ext uri="{FF2B5EF4-FFF2-40B4-BE49-F238E27FC236}">
                <a16:creationId xmlns:a16="http://schemas.microsoft.com/office/drawing/2014/main" id="{D9CEA866-F821-B475-29D3-17683F30F37F}"/>
              </a:ext>
            </a:extLst>
          </p:cNvPr>
          <p:cNvSpPr txBox="1"/>
          <p:nvPr/>
        </p:nvSpPr>
        <p:spPr>
          <a:xfrm>
            <a:off x="15240000" y="6731000"/>
            <a:ext cx="35814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55 Roman" panose="020D0504030502050203"/>
              </a:rPr>
              <a:t>Knight Piésold revisa y firma fuera de cualquier sistema; sus rechazos no quedan trazados.</a:t>
            </a:r>
            <a:endParaRPr lang="es-PE" sz="2375">
              <a:solidFill>
                <a:srgbClr val="182949"/>
              </a:solidFill>
              <a:latin typeface="Haas Grot Disp 55 Roman" panose="020D0504030502050203"/>
            </a:endParaRPr>
          </a:p>
        </p:txBody>
      </p:sp>
    </p:spTree>
    <p:extLst>
      <p:ext uri="{BB962C8B-B14F-4D97-AF65-F5344CB8AC3E}">
        <p14:creationId xmlns:p14="http://schemas.microsoft.com/office/powerpoint/2010/main" val="204419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FA7B6F-29A8-C9F5-F998-646B370D56FE}"/>
            </a:ext>
          </a:extLst>
        </p:cNvPr>
        <p:cNvGrpSpPr/>
        <p:nvPr/>
      </p:nvGrpSpPr>
      <p:grpSpPr>
        <a:xfrm>
          <a:off x="0" y="0"/>
          <a:ext cx="0" cy="0"/>
          <a:chOff x="0" y="0"/>
          <a:chExt cx="0" cy="0"/>
        </a:xfrm>
      </p:grpSpPr>
      <p:sp>
        <p:nvSpPr>
          <p:cNvPr id="6" name="object 11">
            <a:extLst>
              <a:ext uri="{FF2B5EF4-FFF2-40B4-BE49-F238E27FC236}">
                <a16:creationId xmlns:a16="http://schemas.microsoft.com/office/drawing/2014/main" id="{256820E4-ED16-BC32-5523-51412DC00FE1}"/>
              </a:ext>
            </a:extLst>
          </p:cNvPr>
          <p:cNvSpPr/>
          <p:nvPr/>
        </p:nvSpPr>
        <p:spPr>
          <a:xfrm>
            <a:off x="966014" y="1913555"/>
            <a:ext cx="944244" cy="0"/>
          </a:xfrm>
          <a:custGeom>
            <a:avLst/>
            <a:gdLst/>
            <a:ahLst/>
            <a:cxnLst/>
            <a:rect l="l" t="t" r="r" b="b"/>
            <a:pathLst>
              <a:path w="944244">
                <a:moveTo>
                  <a:pt x="0" y="0"/>
                </a:moveTo>
                <a:lnTo>
                  <a:pt x="944201" y="0"/>
                </a:lnTo>
              </a:path>
            </a:pathLst>
          </a:custGeom>
          <a:ln w="27768">
            <a:solidFill>
              <a:srgbClr val="F72833"/>
            </a:solidFill>
          </a:ln>
        </p:spPr>
        <p:txBody>
          <a:bodyPr wrap="square" lIns="0" tIns="0" rIns="0" bIns="0" rtlCol="0"/>
          <a:lstStyle/>
          <a:p>
            <a:endParaRPr/>
          </a:p>
        </p:txBody>
      </p:sp>
      <p:sp>
        <p:nvSpPr>
          <p:cNvPr id="7" name="object 12">
            <a:extLst>
              <a:ext uri="{FF2B5EF4-FFF2-40B4-BE49-F238E27FC236}">
                <a16:creationId xmlns:a16="http://schemas.microsoft.com/office/drawing/2014/main" id="{FBB7AB9A-69BB-631E-3ACD-4077C40FCDEB}"/>
              </a:ext>
            </a:extLst>
          </p:cNvPr>
          <p:cNvSpPr txBox="1"/>
          <p:nvPr/>
        </p:nvSpPr>
        <p:spPr>
          <a:xfrm>
            <a:off x="923834" y="2136738"/>
            <a:ext cx="7874000" cy="1376018"/>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182949"/>
                </a:solidFill>
                <a:latin typeface="Haas Grot Disp 55 Roman"/>
                <a:cs typeface="Haas Grot Disp 55 Roman"/>
              </a:rPr>
              <a:t>Digitalizar el protocolo de principio a fin</a:t>
            </a:r>
            <a:endParaRPr sz="2950" dirty="0">
              <a:solidFill>
                <a:srgbClr val="182949"/>
              </a:solidFill>
              <a:latin typeface="Haas Grot Disp 55 Roman"/>
              <a:cs typeface="Haas Grot Disp 55 Roman"/>
            </a:endParaRPr>
          </a:p>
        </p:txBody>
      </p:sp>
      <p:sp>
        <p:nvSpPr>
          <p:cNvPr id="23" name="object 13">
            <a:extLst>
              <a:ext uri="{FF2B5EF4-FFF2-40B4-BE49-F238E27FC236}">
                <a16:creationId xmlns:a16="http://schemas.microsoft.com/office/drawing/2014/main" id="{24D9DAE5-D2EF-965D-85DA-F3322B88908C}"/>
              </a:ext>
            </a:extLst>
          </p:cNvPr>
          <p:cNvSpPr txBox="1">
            <a:spLocks noGrp="1"/>
          </p:cNvSpPr>
          <p:nvPr>
            <p:ph type="title"/>
          </p:nvPr>
        </p:nvSpPr>
        <p:spPr>
          <a:xfrm>
            <a:off x="912895" y="790244"/>
            <a:ext cx="7874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002060"/>
                </a:solidFill>
              </a:rPr>
              <a:t>Propuesta</a:t>
            </a:r>
            <a:endParaRPr spc="-10" dirty="0">
              <a:solidFill>
                <a:srgbClr val="002060"/>
              </a:solidFill>
            </a:endParaRPr>
          </a:p>
        </p:txBody>
      </p:sp>
      <p:sp>
        <p:nvSpPr>
          <p:cNvPr id="24" name="object 14">
            <a:extLst>
              <a:ext uri="{FF2B5EF4-FFF2-40B4-BE49-F238E27FC236}">
                <a16:creationId xmlns:a16="http://schemas.microsoft.com/office/drawing/2014/main" id="{8E312645-5CD6-3B6D-0EAD-00E9ABCA983F}"/>
              </a:ext>
            </a:extLst>
          </p:cNvPr>
          <p:cNvSpPr/>
          <p:nvPr/>
        </p:nvSpPr>
        <p:spPr>
          <a:xfrm>
            <a:off x="9513881" y="524242"/>
            <a:ext cx="9687560" cy="3089910"/>
          </a:xfrm>
          <a:custGeom>
            <a:avLst/>
            <a:gdLst/>
            <a:ahLst/>
            <a:cxnLst/>
            <a:rect l="l" t="t" r="r" b="b"/>
            <a:pathLst>
              <a:path w="9687560" h="3089910">
                <a:moveTo>
                  <a:pt x="9259079" y="0"/>
                </a:moveTo>
                <a:lnTo>
                  <a:pt x="0" y="0"/>
                </a:lnTo>
                <a:lnTo>
                  <a:pt x="0" y="3089727"/>
                </a:lnTo>
                <a:lnTo>
                  <a:pt x="9686961" y="3089727"/>
                </a:lnTo>
                <a:lnTo>
                  <a:pt x="9686961" y="412783"/>
                </a:lnTo>
                <a:lnTo>
                  <a:pt x="9259079" y="0"/>
                </a:lnTo>
                <a:close/>
              </a:path>
            </a:pathLst>
          </a:custGeom>
          <a:solidFill>
            <a:srgbClr val="F72833"/>
          </a:solidFill>
        </p:spPr>
        <p:txBody>
          <a:bodyPr wrap="square" lIns="0" tIns="0" rIns="0" bIns="0" rtlCol="0"/>
          <a:lstStyle/>
          <a:p>
            <a:endParaRPr/>
          </a:p>
        </p:txBody>
      </p:sp>
      <p:pic>
        <p:nvPicPr>
          <p:cNvPr id="25" name="object 15">
            <a:extLst>
              <a:ext uri="{FF2B5EF4-FFF2-40B4-BE49-F238E27FC236}">
                <a16:creationId xmlns:a16="http://schemas.microsoft.com/office/drawing/2014/main" id="{E170CB2E-F2E3-8C67-B2F7-2D01C3EC09CA}"/>
              </a:ext>
            </a:extLst>
          </p:cNvPr>
          <p:cNvPicPr/>
          <p:nvPr/>
        </p:nvPicPr>
        <p:blipFill>
          <a:blip r:embed="rId3" cstate="print"/>
          <a:stretch>
            <a:fillRect/>
          </a:stretch>
        </p:blipFill>
        <p:spPr>
          <a:xfrm>
            <a:off x="9513878" y="4045688"/>
            <a:ext cx="9686972" cy="3089717"/>
          </a:xfrm>
          <a:prstGeom prst="rect">
            <a:avLst/>
          </a:prstGeom>
        </p:spPr>
      </p:pic>
      <p:sp>
        <p:nvSpPr>
          <p:cNvPr id="26" name="object 16">
            <a:extLst>
              <a:ext uri="{FF2B5EF4-FFF2-40B4-BE49-F238E27FC236}">
                <a16:creationId xmlns:a16="http://schemas.microsoft.com/office/drawing/2014/main" id="{E5925902-617B-E6DC-B123-8EDB110F80C8}"/>
              </a:ext>
            </a:extLst>
          </p:cNvPr>
          <p:cNvSpPr/>
          <p:nvPr/>
        </p:nvSpPr>
        <p:spPr>
          <a:xfrm>
            <a:off x="9513881" y="7567120"/>
            <a:ext cx="9687560" cy="3089910"/>
          </a:xfrm>
          <a:custGeom>
            <a:avLst/>
            <a:gdLst/>
            <a:ahLst/>
            <a:cxnLst/>
            <a:rect l="l" t="t" r="r" b="b"/>
            <a:pathLst>
              <a:path w="9687560" h="3089909">
                <a:moveTo>
                  <a:pt x="9259079" y="0"/>
                </a:moveTo>
                <a:lnTo>
                  <a:pt x="0" y="0"/>
                </a:lnTo>
                <a:lnTo>
                  <a:pt x="0" y="3089727"/>
                </a:lnTo>
                <a:lnTo>
                  <a:pt x="9686961" y="3089727"/>
                </a:lnTo>
                <a:lnTo>
                  <a:pt x="9686961" y="412783"/>
                </a:lnTo>
                <a:lnTo>
                  <a:pt x="9259079" y="0"/>
                </a:lnTo>
                <a:close/>
              </a:path>
            </a:pathLst>
          </a:custGeom>
          <a:solidFill>
            <a:srgbClr val="808080"/>
          </a:solidFill>
        </p:spPr>
        <p:txBody>
          <a:bodyPr wrap="square" lIns="0" tIns="0" rIns="0" bIns="0" rtlCol="0"/>
          <a:lstStyle/>
          <a:p>
            <a:endParaRPr/>
          </a:p>
        </p:txBody>
      </p:sp>
      <p:sp>
        <p:nvSpPr>
          <p:cNvPr id="27" name="object 17">
            <a:extLst>
              <a:ext uri="{FF2B5EF4-FFF2-40B4-BE49-F238E27FC236}">
                <a16:creationId xmlns:a16="http://schemas.microsoft.com/office/drawing/2014/main" id="{1ED39FA9-3EE2-DA84-550C-6BF51B02CCDC}"/>
              </a:ext>
            </a:extLst>
          </p:cNvPr>
          <p:cNvSpPr txBox="1"/>
          <p:nvPr/>
        </p:nvSpPr>
        <p:spPr>
          <a:xfrm>
            <a:off x="13208000" y="1274298"/>
            <a:ext cx="5588000" cy="808939"/>
          </a:xfrm>
          <a:prstGeom prst="rect">
            <a:avLst/>
          </a:prstGeom>
        </p:spPr>
        <p:txBody>
          <a:bodyPr vert="horz" wrap="square" lIns="0" tIns="11430" rIns="0" bIns="0" rtlCol="0">
            <a:spAutoFit/>
          </a:bodyPr>
          <a:lstStyle/>
          <a:p>
            <a:pPr marL="12700" marR="5080">
              <a:lnSpc>
                <a:spcPct val="121800"/>
              </a:lnSpc>
              <a:spcBef>
                <a:spcPts val="90"/>
              </a:spcBef>
            </a:pPr>
            <a:r>
              <a:rPr lang="es-MX" sz="2200">
                <a:solidFill>
                  <a:srgbClr val="FFFFFF"/>
                </a:solidFill>
                <a:latin typeface="Haas Grot Disp 55 Roman"/>
                <a:cs typeface="Haas Grot Disp 55 Roman"/>
              </a:rPr>
              <a:t>formatos de Calidad incluidos en el MVP (fundaciones, rellenos y vaciado)</a:t>
            </a:r>
            <a:endParaRPr sz="2200">
              <a:latin typeface="Haas Grot Disp 55 Roman"/>
              <a:cs typeface="Haas Grot Disp 55 Roman"/>
            </a:endParaRPr>
          </a:p>
        </p:txBody>
      </p:sp>
      <p:sp>
        <p:nvSpPr>
          <p:cNvPr id="28" name="object 18">
            <a:extLst>
              <a:ext uri="{FF2B5EF4-FFF2-40B4-BE49-F238E27FC236}">
                <a16:creationId xmlns:a16="http://schemas.microsoft.com/office/drawing/2014/main" id="{18EF8FA1-C1CF-7637-B224-28FB8602F601}"/>
              </a:ext>
            </a:extLst>
          </p:cNvPr>
          <p:cNvSpPr/>
          <p:nvPr/>
        </p:nvSpPr>
        <p:spPr>
          <a:xfrm>
            <a:off x="971768" y="3696518"/>
            <a:ext cx="3429000" cy="588010"/>
          </a:xfrm>
          <a:custGeom>
            <a:avLst/>
            <a:gdLst/>
            <a:ahLst/>
            <a:cxnLst/>
            <a:rect l="l" t="t" r="r" b="b"/>
            <a:pathLst>
              <a:path w="2700020" h="588010">
                <a:moveTo>
                  <a:pt x="2558225" y="0"/>
                </a:moveTo>
                <a:lnTo>
                  <a:pt x="0" y="0"/>
                </a:lnTo>
                <a:lnTo>
                  <a:pt x="0" y="587448"/>
                </a:lnTo>
                <a:lnTo>
                  <a:pt x="2699624" y="587448"/>
                </a:lnTo>
                <a:lnTo>
                  <a:pt x="2699624" y="145252"/>
                </a:lnTo>
                <a:lnTo>
                  <a:pt x="2558225" y="0"/>
                </a:lnTo>
                <a:close/>
              </a:path>
            </a:pathLst>
          </a:custGeom>
          <a:solidFill>
            <a:srgbClr val="F72833"/>
          </a:solidFill>
        </p:spPr>
        <p:txBody>
          <a:bodyPr wrap="square" lIns="0" tIns="0" rIns="0" bIns="0" rtlCol="0"/>
          <a:lstStyle/>
          <a:p>
            <a:endParaRPr/>
          </a:p>
        </p:txBody>
      </p:sp>
      <p:sp>
        <p:nvSpPr>
          <p:cNvPr id="29" name="object 19">
            <a:extLst>
              <a:ext uri="{FF2B5EF4-FFF2-40B4-BE49-F238E27FC236}">
                <a16:creationId xmlns:a16="http://schemas.microsoft.com/office/drawing/2014/main" id="{70104A8E-181B-BFC2-40D1-96B4685D98D6}"/>
              </a:ext>
            </a:extLst>
          </p:cNvPr>
          <p:cNvSpPr txBox="1"/>
          <p:nvPr/>
        </p:nvSpPr>
        <p:spPr>
          <a:xfrm>
            <a:off x="977632" y="3748321"/>
            <a:ext cx="7356475" cy="1382173"/>
          </a:xfrm>
          <a:prstGeom prst="rect">
            <a:avLst/>
          </a:prstGeom>
        </p:spPr>
        <p:txBody>
          <a:bodyPr vert="horz" wrap="square" lIns="0" tIns="15240" rIns="0" bIns="0" rtlCol="0">
            <a:spAutoFit/>
          </a:bodyPr>
          <a:lstStyle/>
          <a:p>
            <a:pPr marL="339090">
              <a:lnSpc>
                <a:spcPct val="100000"/>
              </a:lnSpc>
              <a:spcBef>
                <a:spcPts val="120"/>
              </a:spcBef>
            </a:pPr>
            <a:r>
              <a:rPr lang="es-PE" sz="2450" b="1">
                <a:solidFill>
                  <a:srgbClr val="FFFFFF"/>
                </a:solidFill>
                <a:latin typeface="Haas Grot Disp 75 Bold"/>
                <a:cs typeface="Haas Grot Disp 75 Bold"/>
              </a:rPr>
              <a:t>Objetivo</a:t>
            </a:r>
            <a:endParaRPr sz="2450" dirty="0">
              <a:latin typeface="Haas Grot Disp 75 Bold"/>
              <a:cs typeface="Haas Grot Disp 75 Bold"/>
            </a:endParaRPr>
          </a:p>
          <a:p>
            <a:pPr marL="12700" marR="5080">
              <a:lnSpc>
                <a:spcPct val="121800"/>
              </a:lnSpc>
              <a:spcBef>
                <a:spcPts val="1490"/>
              </a:spcBef>
            </a:pPr>
            <a:r>
              <a:rPr lang="es-MX" sz="2200">
                <a:solidFill>
                  <a:srgbClr val="182949"/>
                </a:solidFill>
                <a:latin typeface="Haas Grot Disp 55 Roman"/>
                <a:cs typeface="Haas Grot Disp 55 Roman"/>
              </a:rPr>
              <a:t>Llenado, adjuntos, firmas (incluido el tercero externo), versiones y archivo en un solo flujo, sin papel.</a:t>
            </a:r>
            <a:endParaRPr sz="2200" dirty="0">
              <a:solidFill>
                <a:srgbClr val="182949"/>
              </a:solidFill>
              <a:latin typeface="Haas Grot Disp 55 Roman"/>
              <a:cs typeface="Haas Grot Disp 55 Roman"/>
            </a:endParaRPr>
          </a:p>
        </p:txBody>
      </p:sp>
      <p:sp>
        <p:nvSpPr>
          <p:cNvPr id="30" name="object 20">
            <a:extLst>
              <a:ext uri="{FF2B5EF4-FFF2-40B4-BE49-F238E27FC236}">
                <a16:creationId xmlns:a16="http://schemas.microsoft.com/office/drawing/2014/main" id="{B3C57F88-9B51-4F98-0E42-41C54BF53D3D}"/>
              </a:ext>
            </a:extLst>
          </p:cNvPr>
          <p:cNvSpPr/>
          <p:nvPr/>
        </p:nvSpPr>
        <p:spPr>
          <a:xfrm>
            <a:off x="971768" y="6441547"/>
            <a:ext cx="3429000" cy="588010"/>
          </a:xfrm>
          <a:custGeom>
            <a:avLst/>
            <a:gdLst/>
            <a:ahLst/>
            <a:cxnLst/>
            <a:rect l="l" t="t" r="r" b="b"/>
            <a:pathLst>
              <a:path w="2700020" h="588009">
                <a:moveTo>
                  <a:pt x="2558225" y="0"/>
                </a:moveTo>
                <a:lnTo>
                  <a:pt x="0" y="0"/>
                </a:lnTo>
                <a:lnTo>
                  <a:pt x="0" y="587448"/>
                </a:lnTo>
                <a:lnTo>
                  <a:pt x="2699624" y="587448"/>
                </a:lnTo>
                <a:lnTo>
                  <a:pt x="2699624" y="145252"/>
                </a:lnTo>
                <a:lnTo>
                  <a:pt x="2558225" y="0"/>
                </a:lnTo>
                <a:close/>
              </a:path>
            </a:pathLst>
          </a:custGeom>
          <a:solidFill>
            <a:srgbClr val="F72833"/>
          </a:solidFill>
        </p:spPr>
        <p:txBody>
          <a:bodyPr wrap="square" lIns="0" tIns="0" rIns="0" bIns="0" rtlCol="0"/>
          <a:lstStyle/>
          <a:p>
            <a:endParaRPr/>
          </a:p>
        </p:txBody>
      </p:sp>
      <p:sp>
        <p:nvSpPr>
          <p:cNvPr id="31" name="object 21">
            <a:extLst>
              <a:ext uri="{FF2B5EF4-FFF2-40B4-BE49-F238E27FC236}">
                <a16:creationId xmlns:a16="http://schemas.microsoft.com/office/drawing/2014/main" id="{64CDC6DC-6D45-3190-1F79-FBAE62373164}"/>
              </a:ext>
            </a:extLst>
          </p:cNvPr>
          <p:cNvSpPr txBox="1"/>
          <p:nvPr/>
        </p:nvSpPr>
        <p:spPr>
          <a:xfrm>
            <a:off x="977632" y="6493360"/>
            <a:ext cx="7356475" cy="1407821"/>
          </a:xfrm>
          <a:prstGeom prst="rect">
            <a:avLst/>
          </a:prstGeom>
        </p:spPr>
        <p:txBody>
          <a:bodyPr vert="horz" wrap="square" lIns="0" tIns="15240" rIns="0" bIns="0" rtlCol="0">
            <a:spAutoFit/>
          </a:bodyPr>
          <a:lstStyle/>
          <a:p>
            <a:pPr marL="339090">
              <a:lnSpc>
                <a:spcPct val="100000"/>
              </a:lnSpc>
              <a:spcBef>
                <a:spcPts val="120"/>
              </a:spcBef>
            </a:pPr>
            <a:r>
              <a:rPr lang="es-PE" sz="2450" b="1">
                <a:solidFill>
                  <a:srgbClr val="FFFFFF"/>
                </a:solidFill>
                <a:latin typeface="Haas Grot Disp 75 Bold"/>
                <a:cs typeface="Haas Grot Disp 75 Bold"/>
              </a:rPr>
              <a:t>Alcance del MVP</a:t>
            </a:r>
            <a:endParaRPr sz="2450" dirty="0">
              <a:latin typeface="Haas Grot Disp 75 Bold"/>
              <a:cs typeface="Haas Grot Disp 75 Bold"/>
            </a:endParaRPr>
          </a:p>
          <a:p>
            <a:pPr marL="12700" marR="5080">
              <a:lnSpc>
                <a:spcPct val="121800"/>
              </a:lnSpc>
              <a:spcBef>
                <a:spcPts val="1670"/>
              </a:spcBef>
            </a:pPr>
            <a:r>
              <a:rPr lang="es-MX" sz="2200">
                <a:solidFill>
                  <a:srgbClr val="182949"/>
                </a:solidFill>
                <a:latin typeface="Haas Grot Disp 55 Roman"/>
                <a:cs typeface="Haas Grot Disp 55 Roman"/>
              </a:rPr>
              <a:t>Protocolos de fundaciones, rellenos y vaciado de concreto. Los demás formatos se agregan después sin rediseñar.</a:t>
            </a:r>
            <a:endParaRPr sz="2200" dirty="0">
              <a:solidFill>
                <a:srgbClr val="182949"/>
              </a:solidFill>
              <a:latin typeface="Haas Grot Disp 55 Roman"/>
              <a:cs typeface="Haas Grot Disp 55 Roman"/>
            </a:endParaRPr>
          </a:p>
        </p:txBody>
      </p:sp>
      <p:sp>
        <p:nvSpPr>
          <p:cNvPr id="32" name="object 22">
            <a:extLst>
              <a:ext uri="{FF2B5EF4-FFF2-40B4-BE49-F238E27FC236}">
                <a16:creationId xmlns:a16="http://schemas.microsoft.com/office/drawing/2014/main" id="{D2F1FB4D-C175-58D8-F5B2-BA24E493152C}"/>
              </a:ext>
            </a:extLst>
          </p:cNvPr>
          <p:cNvSpPr txBox="1"/>
          <p:nvPr/>
        </p:nvSpPr>
        <p:spPr>
          <a:xfrm>
            <a:off x="9969500" y="1146879"/>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25">
                <a:solidFill>
                  <a:srgbClr val="FFFFFF"/>
                </a:solidFill>
                <a:latin typeface="Haas Grot Disp 75 Bold"/>
                <a:cs typeface="Haas Grot Disp 75 Bold"/>
              </a:rPr>
              <a:t>8/28</a:t>
            </a:r>
            <a:endParaRPr sz="8250">
              <a:latin typeface="Haas Grot Disp 75 Bold"/>
              <a:cs typeface="Haas Grot Disp 75 Bold"/>
            </a:endParaRPr>
          </a:p>
        </p:txBody>
      </p:sp>
      <p:sp>
        <p:nvSpPr>
          <p:cNvPr id="33" name="object 23">
            <a:extLst>
              <a:ext uri="{FF2B5EF4-FFF2-40B4-BE49-F238E27FC236}">
                <a16:creationId xmlns:a16="http://schemas.microsoft.com/office/drawing/2014/main" id="{86A207A1-19F9-C865-5DEE-49CE8511AAF5}"/>
              </a:ext>
            </a:extLst>
          </p:cNvPr>
          <p:cNvSpPr txBox="1"/>
          <p:nvPr/>
        </p:nvSpPr>
        <p:spPr>
          <a:xfrm>
            <a:off x="13208000" y="4739997"/>
            <a:ext cx="5588000" cy="808939"/>
          </a:xfrm>
          <a:prstGeom prst="rect">
            <a:avLst/>
          </a:prstGeom>
        </p:spPr>
        <p:txBody>
          <a:bodyPr vert="horz" wrap="square" lIns="0" tIns="11430" rIns="0" bIns="0" rtlCol="0">
            <a:spAutoFit/>
          </a:bodyPr>
          <a:lstStyle/>
          <a:p>
            <a:pPr marL="12700" marR="5080">
              <a:lnSpc>
                <a:spcPct val="121800"/>
              </a:lnSpc>
              <a:spcBef>
                <a:spcPts val="90"/>
              </a:spcBef>
            </a:pPr>
            <a:r>
              <a:rPr lang="es-PE" sz="2200">
                <a:solidFill>
                  <a:srgbClr val="FFFFFF"/>
                </a:solidFill>
                <a:latin typeface="Haas Grot Disp 55 Roman"/>
                <a:cs typeface="Haas Grot Disp 55 Roman"/>
              </a:rPr>
              <a:t>bloques de firma por protocolo: Elaborado, Revisado/Aprobado y Aceptado</a:t>
            </a:r>
            <a:endParaRPr sz="2200">
              <a:latin typeface="Haas Grot Disp 55 Roman"/>
              <a:cs typeface="Haas Grot Disp 55 Roman"/>
            </a:endParaRPr>
          </a:p>
        </p:txBody>
      </p:sp>
      <p:sp>
        <p:nvSpPr>
          <p:cNvPr id="34" name="object 24">
            <a:extLst>
              <a:ext uri="{FF2B5EF4-FFF2-40B4-BE49-F238E27FC236}">
                <a16:creationId xmlns:a16="http://schemas.microsoft.com/office/drawing/2014/main" id="{C99C71A6-D156-B4DB-EF1F-54D903B1C624}"/>
              </a:ext>
            </a:extLst>
          </p:cNvPr>
          <p:cNvSpPr txBox="1"/>
          <p:nvPr/>
        </p:nvSpPr>
        <p:spPr>
          <a:xfrm>
            <a:off x="9969500" y="4675546"/>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50">
                <a:solidFill>
                  <a:srgbClr val="FFFFFF"/>
                </a:solidFill>
                <a:latin typeface="Haas Grot Disp 75 Bold"/>
                <a:cs typeface="Haas Grot Disp 75 Bold"/>
              </a:rPr>
              <a:t>3</a:t>
            </a:r>
            <a:endParaRPr sz="8250">
              <a:latin typeface="Haas Grot Disp 75 Bold"/>
              <a:cs typeface="Haas Grot Disp 75 Bold"/>
            </a:endParaRPr>
          </a:p>
        </p:txBody>
      </p:sp>
      <p:sp>
        <p:nvSpPr>
          <p:cNvPr id="35" name="object 25">
            <a:extLst>
              <a:ext uri="{FF2B5EF4-FFF2-40B4-BE49-F238E27FC236}">
                <a16:creationId xmlns:a16="http://schemas.microsoft.com/office/drawing/2014/main" id="{29586548-29BF-7E60-C33C-1ED8067DA2C5}"/>
              </a:ext>
            </a:extLst>
          </p:cNvPr>
          <p:cNvSpPr txBox="1"/>
          <p:nvPr/>
        </p:nvSpPr>
        <p:spPr>
          <a:xfrm>
            <a:off x="13208000" y="8413201"/>
            <a:ext cx="5588000" cy="808939"/>
          </a:xfrm>
          <a:prstGeom prst="rect">
            <a:avLst/>
          </a:prstGeom>
        </p:spPr>
        <p:txBody>
          <a:bodyPr vert="horz" wrap="square" lIns="0" tIns="11430" rIns="0" bIns="0" rtlCol="0">
            <a:spAutoFit/>
          </a:bodyPr>
          <a:lstStyle/>
          <a:p>
            <a:pPr marL="12700" marR="5080">
              <a:lnSpc>
                <a:spcPct val="121800"/>
              </a:lnSpc>
              <a:spcBef>
                <a:spcPts val="90"/>
              </a:spcBef>
            </a:pPr>
            <a:r>
              <a:rPr lang="es-MX" sz="2200">
                <a:solidFill>
                  <a:srgbClr val="FFFFFF"/>
                </a:solidFill>
                <a:latin typeface="Haas Grot Disp 55 Roman"/>
                <a:cs typeface="Haas Grot Disp 55 Roman"/>
              </a:rPr>
              <a:t>motor de formularios para todos los formatos: un formato nuevo es un archivo de configuración</a:t>
            </a:r>
            <a:endParaRPr sz="2200">
              <a:latin typeface="Haas Grot Disp 55 Roman"/>
              <a:cs typeface="Haas Grot Disp 55 Roman"/>
            </a:endParaRPr>
          </a:p>
        </p:txBody>
      </p:sp>
      <p:sp>
        <p:nvSpPr>
          <p:cNvPr id="36" name="object 26">
            <a:extLst>
              <a:ext uri="{FF2B5EF4-FFF2-40B4-BE49-F238E27FC236}">
                <a16:creationId xmlns:a16="http://schemas.microsoft.com/office/drawing/2014/main" id="{2D5F3811-467D-D502-48AD-AC5DB67F2473}"/>
              </a:ext>
            </a:extLst>
          </p:cNvPr>
          <p:cNvSpPr txBox="1"/>
          <p:nvPr/>
        </p:nvSpPr>
        <p:spPr>
          <a:xfrm>
            <a:off x="9969500" y="8310896"/>
            <a:ext cx="3048000" cy="1282065"/>
          </a:xfrm>
          <a:prstGeom prst="rect">
            <a:avLst/>
          </a:prstGeom>
        </p:spPr>
        <p:txBody>
          <a:bodyPr vert="horz" wrap="square" lIns="0" tIns="12065" rIns="0" bIns="0" rtlCol="0">
            <a:spAutoFit/>
          </a:bodyPr>
          <a:lstStyle/>
          <a:p>
            <a:pPr marL="12700">
              <a:lnSpc>
                <a:spcPct val="100000"/>
              </a:lnSpc>
              <a:spcBef>
                <a:spcPts val="95"/>
              </a:spcBef>
            </a:pPr>
            <a:r>
              <a:rPr lang="es-PE" sz="8250" b="1" spc="-25">
                <a:solidFill>
                  <a:srgbClr val="FFFFFF"/>
                </a:solidFill>
                <a:latin typeface="Haas Grot Disp 75 Bold"/>
                <a:cs typeface="Haas Grot Disp 75 Bold"/>
              </a:rPr>
              <a:t>1</a:t>
            </a:r>
            <a:endParaRPr sz="8250">
              <a:latin typeface="Haas Grot Disp 75 Bold"/>
              <a:cs typeface="Haas Grot Disp 75 Bold"/>
            </a:endParaRPr>
          </a:p>
        </p:txBody>
      </p:sp>
      <p:pic>
        <p:nvPicPr>
          <p:cNvPr id="37" name="Imagen 36">
            <a:extLst>
              <a:ext uri="{FF2B5EF4-FFF2-40B4-BE49-F238E27FC236}">
                <a16:creationId xmlns:a16="http://schemas.microsoft.com/office/drawing/2014/main" id="{BF6374F8-832D-AF57-FE10-D21962D11F03}"/>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10000" t="35333" r="10000" b="37077"/>
          <a:stretch>
            <a:fillRect/>
          </a:stretch>
        </p:blipFill>
        <p:spPr>
          <a:xfrm>
            <a:off x="860787" y="10226806"/>
            <a:ext cx="2409463" cy="623222"/>
          </a:xfrm>
          <a:prstGeom prst="rect">
            <a:avLst/>
          </a:prstGeom>
        </p:spPr>
      </p:pic>
      <p:pic>
        <p:nvPicPr>
          <p:cNvPr id="38" name="object 5">
            <a:extLst>
              <a:ext uri="{FF2B5EF4-FFF2-40B4-BE49-F238E27FC236}">
                <a16:creationId xmlns:a16="http://schemas.microsoft.com/office/drawing/2014/main" id="{CE4538F5-658D-C6A9-4036-30C960FC0FF9}"/>
              </a:ext>
            </a:extLst>
          </p:cNvPr>
          <p:cNvPicPr/>
          <p:nvPr/>
        </p:nvPicPr>
        <p:blipFill>
          <a:blip r:embed="rId5" cstate="print"/>
          <a:stretch>
            <a:fillRect/>
          </a:stretch>
        </p:blipFill>
        <p:spPr>
          <a:xfrm>
            <a:off x="0" y="11174089"/>
            <a:ext cx="20104099" cy="134467"/>
          </a:xfrm>
          <a:prstGeom prst="rect">
            <a:avLst/>
          </a:prstGeom>
        </p:spPr>
      </p:pic>
    </p:spTree>
    <p:extLst>
      <p:ext uri="{BB962C8B-B14F-4D97-AF65-F5344CB8AC3E}">
        <p14:creationId xmlns:p14="http://schemas.microsoft.com/office/powerpoint/2010/main" val="3013399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Fondo">
            <a:extLst>
              <a:ext uri="{FF2B5EF4-FFF2-40B4-BE49-F238E27FC236}">
                <a16:creationId xmlns:a16="http://schemas.microsoft.com/office/drawing/2014/main" id="{674574CF-5953-A0E4-91FB-0F02E59476C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6"/>
            <a:ext cx="20103398" cy="11308159"/>
          </a:xfrm>
          <a:prstGeom prst="rect">
            <a:avLst/>
          </a:prstGeom>
        </p:spPr>
      </p:pic>
      <p:sp>
        <p:nvSpPr>
          <p:cNvPr id="6" name="object 6"/>
          <p:cNvSpPr txBox="1"/>
          <p:nvPr/>
        </p:nvSpPr>
        <p:spPr>
          <a:xfrm>
            <a:off x="921146" y="6714658"/>
            <a:ext cx="11430000" cy="1474470"/>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FFFFFF"/>
                </a:solidFill>
                <a:latin typeface="Haas Grot Disp 65 Medium"/>
                <a:cs typeface="Haas Grot Disp 65 Medium"/>
              </a:rPr>
              <a:t>Arquitecturas</a:t>
            </a:r>
            <a:endParaRPr sz="9500">
              <a:latin typeface="Haas Grot Disp 65 Medium"/>
              <a:cs typeface="Haas Grot Disp 65 Medium"/>
            </a:endParaRPr>
          </a:p>
        </p:txBody>
      </p:sp>
      <p:sp>
        <p:nvSpPr>
          <p:cNvPr id="10" name="object 10"/>
          <p:cNvSpPr txBox="1"/>
          <p:nvPr/>
        </p:nvSpPr>
        <p:spPr>
          <a:xfrm>
            <a:off x="921154" y="8888655"/>
            <a:ext cx="11430000" cy="1905650"/>
          </a:xfrm>
          <a:prstGeom prst="rect">
            <a:avLst/>
          </a:prstGeom>
        </p:spPr>
        <p:txBody>
          <a:bodyPr vert="horz" wrap="square" lIns="0" tIns="12700" rIns="0" bIns="0" rtlCol="0">
            <a:spAutoFit/>
          </a:bodyPr>
          <a:lstStyle/>
          <a:p>
            <a:pPr marL="12700">
              <a:lnSpc>
                <a:spcPct val="100000"/>
              </a:lnSpc>
              <a:spcBef>
                <a:spcPts val="100"/>
              </a:spcBef>
            </a:pPr>
            <a:r>
              <a:rPr lang="es-PE" sz="4100">
                <a:solidFill>
                  <a:srgbClr val="FFFFFF"/>
                </a:solidFill>
                <a:latin typeface="Haas Grot Disp 55 Roman"/>
                <a:cs typeface="Haas Grot Disp 55 Roman"/>
              </a:rPr>
              <a:t>Mismo proceso, distintas herramientas</a:t>
            </a:r>
            <a:endParaRPr sz="4100">
              <a:latin typeface="Haas Grot Disp 55 Roman"/>
              <a:cs typeface="Haas Grot Disp 55 Roman"/>
            </a:endParaRPr>
          </a:p>
        </p:txBody>
      </p:sp>
      <p:sp>
        <p:nvSpPr>
          <p:cNvPr id="13" name="object 8">
            <a:extLst>
              <a:ext uri="{FF2B5EF4-FFF2-40B4-BE49-F238E27FC236}">
                <a16:creationId xmlns:a16="http://schemas.microsoft.com/office/drawing/2014/main" id="{83BC61BA-2A98-D784-2D5E-9901BD3D3F68}"/>
              </a:ext>
            </a:extLst>
          </p:cNvPr>
          <p:cNvSpPr/>
          <p:nvPr/>
        </p:nvSpPr>
        <p:spPr>
          <a:xfrm>
            <a:off x="975820" y="8497847"/>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pic>
        <p:nvPicPr>
          <p:cNvPr id="11" name="Logo">
            <a:extLst>
              <a:ext uri="{FF2B5EF4-FFF2-40B4-BE49-F238E27FC236}">
                <a16:creationId xmlns:a16="http://schemas.microsoft.com/office/drawing/2014/main" id="{F8DEE75E-12FD-14C3-6D85-0C9B28F4514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1815471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Igual en ambas opciones; lo que cambia es la herramienta de cada paso</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Flujo propuesto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cxnSp>
        <p:nvCxnSpPr>
          <p:cNvPr id="2" name="Conector recto 1">
            <a:extLst>
              <a:ext uri="{FF2B5EF4-FFF2-40B4-BE49-F238E27FC236}">
                <a16:creationId xmlns:a16="http://schemas.microsoft.com/office/drawing/2014/main" id="{0CCE7CED-A40F-2A56-30CD-7CFE270F388B}"/>
              </a:ext>
            </a:extLst>
          </p:cNvPr>
          <p:cNvCxnSpPr/>
          <p:nvPr/>
        </p:nvCxnSpPr>
        <p:spPr>
          <a:xfrm>
            <a:off x="2242457" y="5461000"/>
            <a:ext cx="15631886" cy="0"/>
          </a:xfrm>
          <a:prstGeom prst="line">
            <a:avLst/>
          </a:prstGeom>
          <a:ln w="25400">
            <a:solidFill>
              <a:srgbClr val="C9D0DA"/>
            </a:solidFill>
          </a:ln>
        </p:spPr>
        <p:style>
          <a:lnRef idx="1">
            <a:schemeClr val="accent1"/>
          </a:lnRef>
          <a:fillRef idx="0">
            <a:schemeClr val="accent1"/>
          </a:fillRef>
          <a:effectRef idx="0">
            <a:schemeClr val="accent1"/>
          </a:effectRef>
          <a:fontRef idx="minor">
            <a:schemeClr val="tx1"/>
          </a:fontRef>
        </p:style>
      </p:cxnSp>
      <p:sp>
        <p:nvSpPr>
          <p:cNvPr id="3" name="Elipse 2">
            <a:extLst>
              <a:ext uri="{FF2B5EF4-FFF2-40B4-BE49-F238E27FC236}">
                <a16:creationId xmlns:a16="http://schemas.microsoft.com/office/drawing/2014/main" id="{39E211E1-2351-D317-0689-A4A584CC72E2}"/>
              </a:ext>
            </a:extLst>
          </p:cNvPr>
          <p:cNvSpPr/>
          <p:nvPr/>
        </p:nvSpPr>
        <p:spPr>
          <a:xfrm>
            <a:off x="1810657"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1</a:t>
            </a:r>
          </a:p>
        </p:txBody>
      </p:sp>
      <p:sp>
        <p:nvSpPr>
          <p:cNvPr id="4" name="CuadroTexto 3">
            <a:extLst>
              <a:ext uri="{FF2B5EF4-FFF2-40B4-BE49-F238E27FC236}">
                <a16:creationId xmlns:a16="http://schemas.microsoft.com/office/drawing/2014/main" id="{FA2F5148-4CC3-8BD2-85CA-0DD05E7D6750}"/>
              </a:ext>
            </a:extLst>
          </p:cNvPr>
          <p:cNvSpPr txBox="1"/>
          <p:nvPr/>
        </p:nvSpPr>
        <p:spPr>
          <a:xfrm>
            <a:off x="1066800"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Solicitud</a:t>
            </a:r>
          </a:p>
        </p:txBody>
      </p:sp>
      <p:sp>
        <p:nvSpPr>
          <p:cNvPr id="5" name="CuadroTexto 4">
            <a:extLst>
              <a:ext uri="{FF2B5EF4-FFF2-40B4-BE49-F238E27FC236}">
                <a16:creationId xmlns:a16="http://schemas.microsoft.com/office/drawing/2014/main" id="{DBFB72C3-1958-A13F-947C-AA1526972A3E}"/>
              </a:ext>
            </a:extLst>
          </p:cNvPr>
          <p:cNvSpPr txBox="1"/>
          <p:nvPr/>
        </p:nvSpPr>
        <p:spPr>
          <a:xfrm>
            <a:off x="1066800"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Operaciones lo pide o nace del backlog periódico</a:t>
            </a:r>
            <a:endParaRPr lang="es-PE" sz="2000">
              <a:solidFill>
                <a:srgbClr val="5C697C"/>
              </a:solidFill>
              <a:latin typeface="Haas Grot Disp 55 Roman" panose="020D0504030502050203"/>
            </a:endParaRPr>
          </a:p>
        </p:txBody>
      </p:sp>
      <p:sp>
        <p:nvSpPr>
          <p:cNvPr id="6" name="Elipse 5">
            <a:extLst>
              <a:ext uri="{FF2B5EF4-FFF2-40B4-BE49-F238E27FC236}">
                <a16:creationId xmlns:a16="http://schemas.microsoft.com/office/drawing/2014/main" id="{205D8680-5051-D78A-5B06-F08BC267517E}"/>
              </a:ext>
            </a:extLst>
          </p:cNvPr>
          <p:cNvSpPr/>
          <p:nvPr/>
        </p:nvSpPr>
        <p:spPr>
          <a:xfrm>
            <a:off x="4415972"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2</a:t>
            </a:r>
          </a:p>
        </p:txBody>
      </p:sp>
      <p:sp>
        <p:nvSpPr>
          <p:cNvPr id="7" name="CuadroTexto 6">
            <a:extLst>
              <a:ext uri="{FF2B5EF4-FFF2-40B4-BE49-F238E27FC236}">
                <a16:creationId xmlns:a16="http://schemas.microsoft.com/office/drawing/2014/main" id="{DC2103BD-5471-3A4D-E67C-813776A9B858}"/>
              </a:ext>
            </a:extLst>
          </p:cNvPr>
          <p:cNvSpPr txBox="1"/>
          <p:nvPr/>
        </p:nvSpPr>
        <p:spPr>
          <a:xfrm>
            <a:off x="3672114"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Llenado</a:t>
            </a:r>
          </a:p>
        </p:txBody>
      </p:sp>
      <p:sp>
        <p:nvSpPr>
          <p:cNvPr id="33" name="CuadroTexto 32">
            <a:extLst>
              <a:ext uri="{FF2B5EF4-FFF2-40B4-BE49-F238E27FC236}">
                <a16:creationId xmlns:a16="http://schemas.microsoft.com/office/drawing/2014/main" id="{91C70CE0-72F3-1301-20B5-A52638C8B7F9}"/>
              </a:ext>
            </a:extLst>
          </p:cNvPr>
          <p:cNvSpPr txBox="1"/>
          <p:nvPr/>
        </p:nvSpPr>
        <p:spPr>
          <a:xfrm>
            <a:off x="3672114"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Calidad completa el formulario; el sistema valida que esté completo</a:t>
            </a:r>
            <a:endParaRPr lang="es-PE" sz="2000">
              <a:solidFill>
                <a:srgbClr val="5C697C"/>
              </a:solidFill>
              <a:latin typeface="Haas Grot Disp 55 Roman" panose="020D0504030502050203"/>
            </a:endParaRPr>
          </a:p>
        </p:txBody>
      </p:sp>
      <p:sp>
        <p:nvSpPr>
          <p:cNvPr id="36" name="Elipse 35">
            <a:extLst>
              <a:ext uri="{FF2B5EF4-FFF2-40B4-BE49-F238E27FC236}">
                <a16:creationId xmlns:a16="http://schemas.microsoft.com/office/drawing/2014/main" id="{D1CE615F-C1F4-0AA9-ADF2-AAB381024970}"/>
              </a:ext>
            </a:extLst>
          </p:cNvPr>
          <p:cNvSpPr/>
          <p:nvPr/>
        </p:nvSpPr>
        <p:spPr>
          <a:xfrm>
            <a:off x="7021285"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3</a:t>
            </a:r>
          </a:p>
        </p:txBody>
      </p:sp>
      <p:sp>
        <p:nvSpPr>
          <p:cNvPr id="37" name="CuadroTexto 36">
            <a:extLst>
              <a:ext uri="{FF2B5EF4-FFF2-40B4-BE49-F238E27FC236}">
                <a16:creationId xmlns:a16="http://schemas.microsoft.com/office/drawing/2014/main" id="{97668B30-9FEB-98EE-DD6E-AB3C9A356195}"/>
              </a:ext>
            </a:extLst>
          </p:cNvPr>
          <p:cNvSpPr txBox="1"/>
          <p:nvPr/>
        </p:nvSpPr>
        <p:spPr>
          <a:xfrm>
            <a:off x="6277428"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Firmas internas</a:t>
            </a:r>
          </a:p>
        </p:txBody>
      </p:sp>
      <p:sp>
        <p:nvSpPr>
          <p:cNvPr id="38" name="CuadroTexto 37">
            <a:extLst>
              <a:ext uri="{FF2B5EF4-FFF2-40B4-BE49-F238E27FC236}">
                <a16:creationId xmlns:a16="http://schemas.microsoft.com/office/drawing/2014/main" id="{BAC6FF32-88A6-A84D-5D23-100DDF7F85F2}"/>
              </a:ext>
            </a:extLst>
          </p:cNvPr>
          <p:cNvSpPr txBox="1"/>
          <p:nvPr/>
        </p:nvSpPr>
        <p:spPr>
          <a:xfrm>
            <a:off x="6277428"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Elaborado y Revisado/Aprobado firman con su sello</a:t>
            </a:r>
            <a:endParaRPr lang="es-PE" sz="2000">
              <a:solidFill>
                <a:srgbClr val="5C697C"/>
              </a:solidFill>
              <a:latin typeface="Haas Grot Disp 55 Roman" panose="020D0504030502050203"/>
            </a:endParaRPr>
          </a:p>
        </p:txBody>
      </p:sp>
      <p:sp>
        <p:nvSpPr>
          <p:cNvPr id="39" name="Elipse 38">
            <a:extLst>
              <a:ext uri="{FF2B5EF4-FFF2-40B4-BE49-F238E27FC236}">
                <a16:creationId xmlns:a16="http://schemas.microsoft.com/office/drawing/2014/main" id="{CA7513D7-CBCE-1F71-8EA9-43D68AB82D67}"/>
              </a:ext>
            </a:extLst>
          </p:cNvPr>
          <p:cNvSpPr/>
          <p:nvPr/>
        </p:nvSpPr>
        <p:spPr>
          <a:xfrm>
            <a:off x="9626600"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4</a:t>
            </a:r>
          </a:p>
        </p:txBody>
      </p:sp>
      <p:sp>
        <p:nvSpPr>
          <p:cNvPr id="40" name="CuadroTexto 39">
            <a:extLst>
              <a:ext uri="{FF2B5EF4-FFF2-40B4-BE49-F238E27FC236}">
                <a16:creationId xmlns:a16="http://schemas.microsoft.com/office/drawing/2014/main" id="{55F14E55-AD2F-D275-48EC-C79652A5B418}"/>
              </a:ext>
            </a:extLst>
          </p:cNvPr>
          <p:cNvSpPr txBox="1"/>
          <p:nvPr/>
        </p:nvSpPr>
        <p:spPr>
          <a:xfrm>
            <a:off x="8882743"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PDF y adjuntos</a:t>
            </a:r>
          </a:p>
        </p:txBody>
      </p:sp>
      <p:sp>
        <p:nvSpPr>
          <p:cNvPr id="41" name="CuadroTexto 40">
            <a:extLst>
              <a:ext uri="{FF2B5EF4-FFF2-40B4-BE49-F238E27FC236}">
                <a16:creationId xmlns:a16="http://schemas.microsoft.com/office/drawing/2014/main" id="{065E9610-4BC4-D009-310F-43493C70AD23}"/>
              </a:ext>
            </a:extLst>
          </p:cNvPr>
          <p:cNvSpPr txBox="1"/>
          <p:nvPr/>
        </p:nvSpPr>
        <p:spPr>
          <a:xfrm>
            <a:off x="8882743"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Se genera el PDF y se une con topografía y laboratorio</a:t>
            </a:r>
            <a:endParaRPr lang="es-PE" sz="2000">
              <a:solidFill>
                <a:srgbClr val="5C697C"/>
              </a:solidFill>
              <a:latin typeface="Haas Grot Disp 55 Roman" panose="020D0504030502050203"/>
            </a:endParaRPr>
          </a:p>
        </p:txBody>
      </p:sp>
      <p:sp>
        <p:nvSpPr>
          <p:cNvPr id="42" name="Elipse 41">
            <a:extLst>
              <a:ext uri="{FF2B5EF4-FFF2-40B4-BE49-F238E27FC236}">
                <a16:creationId xmlns:a16="http://schemas.microsoft.com/office/drawing/2014/main" id="{DF70BF57-E3B8-E331-BD8D-F43167933D27}"/>
              </a:ext>
            </a:extLst>
          </p:cNvPr>
          <p:cNvSpPr/>
          <p:nvPr/>
        </p:nvSpPr>
        <p:spPr>
          <a:xfrm>
            <a:off x="12231915" y="5029200"/>
            <a:ext cx="863599" cy="8636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5</a:t>
            </a:r>
          </a:p>
        </p:txBody>
      </p:sp>
      <p:sp>
        <p:nvSpPr>
          <p:cNvPr id="43" name="CuadroTexto 42">
            <a:extLst>
              <a:ext uri="{FF2B5EF4-FFF2-40B4-BE49-F238E27FC236}">
                <a16:creationId xmlns:a16="http://schemas.microsoft.com/office/drawing/2014/main" id="{FEDC4539-0788-EC7D-A00F-983807741C8D}"/>
              </a:ext>
            </a:extLst>
          </p:cNvPr>
          <p:cNvSpPr txBox="1"/>
          <p:nvPr/>
        </p:nvSpPr>
        <p:spPr>
          <a:xfrm>
            <a:off x="11488057"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Revisión de KP</a:t>
            </a:r>
          </a:p>
        </p:txBody>
      </p:sp>
      <p:sp>
        <p:nvSpPr>
          <p:cNvPr id="44" name="CuadroTexto 43">
            <a:extLst>
              <a:ext uri="{FF2B5EF4-FFF2-40B4-BE49-F238E27FC236}">
                <a16:creationId xmlns:a16="http://schemas.microsoft.com/office/drawing/2014/main" id="{C84A8362-1824-0302-3015-FC3BD78290E2}"/>
              </a:ext>
            </a:extLst>
          </p:cNvPr>
          <p:cNvSpPr txBox="1"/>
          <p:nvPr/>
        </p:nvSpPr>
        <p:spPr>
          <a:xfrm>
            <a:off x="11488057"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Acepta o rechaza cada protocolo, con motivo obligatorio</a:t>
            </a:r>
            <a:endParaRPr lang="es-PE" sz="2000">
              <a:solidFill>
                <a:srgbClr val="5C697C"/>
              </a:solidFill>
              <a:latin typeface="Haas Grot Disp 55 Roman" panose="020D0504030502050203"/>
            </a:endParaRPr>
          </a:p>
        </p:txBody>
      </p:sp>
      <p:sp>
        <p:nvSpPr>
          <p:cNvPr id="45" name="Elipse 44">
            <a:extLst>
              <a:ext uri="{FF2B5EF4-FFF2-40B4-BE49-F238E27FC236}">
                <a16:creationId xmlns:a16="http://schemas.microsoft.com/office/drawing/2014/main" id="{9304A4FE-F433-A095-CF21-FDA75A75542A}"/>
              </a:ext>
            </a:extLst>
          </p:cNvPr>
          <p:cNvSpPr/>
          <p:nvPr/>
        </p:nvSpPr>
        <p:spPr>
          <a:xfrm>
            <a:off x="14837229" y="5029200"/>
            <a:ext cx="863600" cy="8636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6</a:t>
            </a:r>
          </a:p>
        </p:txBody>
      </p:sp>
      <p:sp>
        <p:nvSpPr>
          <p:cNvPr id="46" name="CuadroTexto 45">
            <a:extLst>
              <a:ext uri="{FF2B5EF4-FFF2-40B4-BE49-F238E27FC236}">
                <a16:creationId xmlns:a16="http://schemas.microsoft.com/office/drawing/2014/main" id="{AB16555E-342C-E737-D07A-DBA49BCD9B7D}"/>
              </a:ext>
            </a:extLst>
          </p:cNvPr>
          <p:cNvSpPr txBox="1"/>
          <p:nvPr/>
        </p:nvSpPr>
        <p:spPr>
          <a:xfrm>
            <a:off x="14093371"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Firma externa</a:t>
            </a:r>
          </a:p>
        </p:txBody>
      </p:sp>
      <p:sp>
        <p:nvSpPr>
          <p:cNvPr id="47" name="CuadroTexto 46">
            <a:extLst>
              <a:ext uri="{FF2B5EF4-FFF2-40B4-BE49-F238E27FC236}">
                <a16:creationId xmlns:a16="http://schemas.microsoft.com/office/drawing/2014/main" id="{39B00C2D-316A-5E14-1529-2EF04BCE7E88}"/>
              </a:ext>
            </a:extLst>
          </p:cNvPr>
          <p:cNvSpPr txBox="1"/>
          <p:nvPr/>
        </p:nvSpPr>
        <p:spPr>
          <a:xfrm>
            <a:off x="14093371" y="7302500"/>
            <a:ext cx="2351314" cy="369332"/>
          </a:xfrm>
          <a:prstGeom prst="rect">
            <a:avLst/>
          </a:prstGeom>
          <a:noFill/>
        </p:spPr>
        <p:txBody>
          <a:bodyPr vert="horz" wrap="square" lIns="0" tIns="0" rIns="0" bIns="0" rtlCol="0" anchor="t">
            <a:noAutofit/>
          </a:bodyPr>
          <a:lstStyle/>
          <a:p>
            <a:pPr algn="ctr"/>
            <a:r>
              <a:rPr lang="es-MX" sz="2000">
                <a:solidFill>
                  <a:srgbClr val="5C697C"/>
                </a:solidFill>
                <a:latin typeface="Haas Grot Disp 55 Roman" panose="020D0504030502050203"/>
              </a:rPr>
              <a:t>KP firma “Aceptado por” en Acrobat Sign</a:t>
            </a:r>
            <a:endParaRPr lang="es-PE" sz="2000">
              <a:solidFill>
                <a:srgbClr val="5C697C"/>
              </a:solidFill>
              <a:latin typeface="Haas Grot Disp 55 Roman" panose="020D0504030502050203"/>
            </a:endParaRPr>
          </a:p>
        </p:txBody>
      </p:sp>
      <p:sp>
        <p:nvSpPr>
          <p:cNvPr id="48" name="Elipse 47">
            <a:extLst>
              <a:ext uri="{FF2B5EF4-FFF2-40B4-BE49-F238E27FC236}">
                <a16:creationId xmlns:a16="http://schemas.microsoft.com/office/drawing/2014/main" id="{C0A52323-7F55-DE8C-07E1-C4F70B2E1A6A}"/>
              </a:ext>
            </a:extLst>
          </p:cNvPr>
          <p:cNvSpPr/>
          <p:nvPr/>
        </p:nvSpPr>
        <p:spPr>
          <a:xfrm>
            <a:off x="17442543" y="5029200"/>
            <a:ext cx="863600" cy="8636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3000" b="1">
                <a:solidFill>
                  <a:srgbClr val="FFFFFF"/>
                </a:solidFill>
                <a:latin typeface="Haas Grot Disp 75 Bold"/>
              </a:rPr>
              <a:t>7</a:t>
            </a:r>
          </a:p>
        </p:txBody>
      </p:sp>
      <p:sp>
        <p:nvSpPr>
          <p:cNvPr id="49" name="CuadroTexto 48">
            <a:extLst>
              <a:ext uri="{FF2B5EF4-FFF2-40B4-BE49-F238E27FC236}">
                <a16:creationId xmlns:a16="http://schemas.microsoft.com/office/drawing/2014/main" id="{B382EE36-3B4E-97E5-FBBB-07B628DD665A}"/>
              </a:ext>
            </a:extLst>
          </p:cNvPr>
          <p:cNvSpPr txBox="1"/>
          <p:nvPr/>
        </p:nvSpPr>
        <p:spPr>
          <a:xfrm>
            <a:off x="16698686" y="6350000"/>
            <a:ext cx="2351314" cy="369332"/>
          </a:xfrm>
          <a:prstGeom prst="rect">
            <a:avLst/>
          </a:prstGeom>
          <a:noFill/>
        </p:spPr>
        <p:txBody>
          <a:bodyPr vert="horz" wrap="square" lIns="0" tIns="0" rIns="0" bIns="0" rtlCol="0" anchor="t">
            <a:noAutofit/>
          </a:bodyPr>
          <a:lstStyle/>
          <a:p>
            <a:pPr algn="ctr"/>
            <a:r>
              <a:rPr lang="es-PE" sz="2625" b="1">
                <a:solidFill>
                  <a:srgbClr val="182949"/>
                </a:solidFill>
                <a:latin typeface="Haas Grot Disp 75 Bold"/>
              </a:rPr>
              <a:t>Archivo y versiones</a:t>
            </a:r>
          </a:p>
        </p:txBody>
      </p:sp>
      <p:sp>
        <p:nvSpPr>
          <p:cNvPr id="50" name="CuadroTexto 49">
            <a:extLst>
              <a:ext uri="{FF2B5EF4-FFF2-40B4-BE49-F238E27FC236}">
                <a16:creationId xmlns:a16="http://schemas.microsoft.com/office/drawing/2014/main" id="{A2A9EB05-A53B-AA6F-933B-740CF32D7640}"/>
              </a:ext>
            </a:extLst>
          </p:cNvPr>
          <p:cNvSpPr txBox="1"/>
          <p:nvPr/>
        </p:nvSpPr>
        <p:spPr>
          <a:xfrm>
            <a:off x="16698686" y="7302500"/>
            <a:ext cx="2351314" cy="369332"/>
          </a:xfrm>
          <a:prstGeom prst="rect">
            <a:avLst/>
          </a:prstGeom>
          <a:noFill/>
        </p:spPr>
        <p:txBody>
          <a:bodyPr vert="horz" wrap="square" lIns="0" tIns="0" rIns="0" bIns="0" rtlCol="0" anchor="t">
            <a:noAutofit/>
          </a:bodyPr>
          <a:lstStyle/>
          <a:p>
            <a:pPr algn="ctr"/>
            <a:r>
              <a:rPr lang="es-PE" sz="2000">
                <a:solidFill>
                  <a:srgbClr val="5C697C"/>
                </a:solidFill>
                <a:latin typeface="Haas Grot Disp 55 Roman" panose="020D0504030502050203"/>
              </a:rPr>
              <a:t>PDF final guardado; cambios posteriores generan V1, V2…</a:t>
            </a:r>
          </a:p>
        </p:txBody>
      </p:sp>
      <p:sp>
        <p:nvSpPr>
          <p:cNvPr id="51" name="Rectángulo 50">
            <a:extLst>
              <a:ext uri="{FF2B5EF4-FFF2-40B4-BE49-F238E27FC236}">
                <a16:creationId xmlns:a16="http://schemas.microsoft.com/office/drawing/2014/main" id="{B9C98653-808F-9928-9F3D-6BB012659799}"/>
              </a:ext>
            </a:extLst>
          </p:cNvPr>
          <p:cNvSpPr/>
          <p:nvPr/>
        </p:nvSpPr>
        <p:spPr>
          <a:xfrm>
            <a:off x="939800" y="9398000"/>
            <a:ext cx="18237200" cy="1016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2" name="CuadroTexto 51">
            <a:extLst>
              <a:ext uri="{FF2B5EF4-FFF2-40B4-BE49-F238E27FC236}">
                <a16:creationId xmlns:a16="http://schemas.microsoft.com/office/drawing/2014/main" id="{26A90F31-CBCF-6B5E-A1C3-8EBF48D17DAF}"/>
              </a:ext>
            </a:extLst>
          </p:cNvPr>
          <p:cNvSpPr txBox="1"/>
          <p:nvPr/>
        </p:nvSpPr>
        <p:spPr>
          <a:xfrm>
            <a:off x="1320800" y="9398000"/>
            <a:ext cx="17475200" cy="369332"/>
          </a:xfrm>
          <a:prstGeom prst="rect">
            <a:avLst/>
          </a:prstGeom>
          <a:noFill/>
        </p:spPr>
        <p:txBody>
          <a:bodyPr vert="horz" wrap="square" lIns="0" tIns="0" rIns="0" bIns="0" rtlCol="0" anchor="ctr">
            <a:noAutofit/>
          </a:bodyPr>
          <a:lstStyle/>
          <a:p>
            <a:pPr algn="l"/>
            <a:r>
              <a:rPr lang="es-MX" sz="2250">
                <a:solidFill>
                  <a:srgbClr val="182949"/>
                </a:solidFill>
                <a:latin typeface="Haas Grot Disp 65 Medium"/>
              </a:rPr>
              <a:t>Los pasos 5 y 6 (en rojo) involucran a Knight Piésold, que no tiene acceso al tenant de Stracon: es el punto donde más se diferencian las dos opciones.</a:t>
            </a:r>
            <a:endParaRPr lang="es-PE" sz="2250">
              <a:solidFill>
                <a:srgbClr val="182949"/>
              </a:solidFill>
              <a:latin typeface="Haas Grot Disp 65 Medium"/>
            </a:endParaRPr>
          </a:p>
        </p:txBody>
      </p:sp>
    </p:spTree>
    <p:extLst>
      <p:ext uri="{BB962C8B-B14F-4D97-AF65-F5344CB8AC3E}">
        <p14:creationId xmlns:p14="http://schemas.microsoft.com/office/powerpoint/2010/main" val="375459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n-US" sz="2950">
                <a:solidFill>
                  <a:srgbClr val="FFFFFF"/>
                </a:solidFill>
                <a:latin typeface="Haas Grot Disp 55 Roman"/>
                <a:cs typeface="Haas Grot Disp 55 Roman"/>
              </a:rPr>
              <a:t>Power Apps · SharePoint · Power Automate · Adobe</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Opción 1: Entorno Microsoft</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2140B79F-84EC-EE35-AD78-5312B15CEC7C}"/>
              </a:ext>
            </a:extLst>
          </p:cNvPr>
          <p:cNvSpPr/>
          <p:nvPr/>
        </p:nvSpPr>
        <p:spPr>
          <a:xfrm>
            <a:off x="762000" y="3810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Rectángulo 2">
            <a:extLst>
              <a:ext uri="{FF2B5EF4-FFF2-40B4-BE49-F238E27FC236}">
                <a16:creationId xmlns:a16="http://schemas.microsoft.com/office/drawing/2014/main" id="{A03B3E46-748C-575B-CEA4-C6E2C61C79C1}"/>
              </a:ext>
            </a:extLst>
          </p:cNvPr>
          <p:cNvSpPr/>
          <p:nvPr/>
        </p:nvSpPr>
        <p:spPr>
          <a:xfrm>
            <a:off x="762000" y="3810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CuadroTexto 3">
            <a:extLst>
              <a:ext uri="{FF2B5EF4-FFF2-40B4-BE49-F238E27FC236}">
                <a16:creationId xmlns:a16="http://schemas.microsoft.com/office/drawing/2014/main" id="{36D4206B-B183-9DF5-2BEA-B45F6045E00B}"/>
              </a:ext>
            </a:extLst>
          </p:cNvPr>
          <p:cNvSpPr txBox="1"/>
          <p:nvPr/>
        </p:nvSpPr>
        <p:spPr>
          <a:xfrm>
            <a:off x="939800" y="3810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Operaciones</a:t>
            </a:r>
          </a:p>
          <a:p>
            <a:pPr algn="l"/>
            <a:r>
              <a:rPr lang="es-PE" sz="1300">
                <a:solidFill>
                  <a:srgbClr val="FFFFFF"/>
                </a:solidFill>
                <a:latin typeface="Haas Grot Disp 55 Roman" panose="020D0504030502050203"/>
              </a:rPr>
              <a:t>y Cadista</a:t>
            </a:r>
          </a:p>
        </p:txBody>
      </p:sp>
      <p:sp>
        <p:nvSpPr>
          <p:cNvPr id="5" name="Rectángulo 4">
            <a:extLst>
              <a:ext uri="{FF2B5EF4-FFF2-40B4-BE49-F238E27FC236}">
                <a16:creationId xmlns:a16="http://schemas.microsoft.com/office/drawing/2014/main" id="{4FC7D56F-E558-88F7-F08C-6BD314742C66}"/>
              </a:ext>
            </a:extLst>
          </p:cNvPr>
          <p:cNvSpPr/>
          <p:nvPr/>
        </p:nvSpPr>
        <p:spPr>
          <a:xfrm>
            <a:off x="762000" y="5588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Rectángulo 5">
            <a:extLst>
              <a:ext uri="{FF2B5EF4-FFF2-40B4-BE49-F238E27FC236}">
                <a16:creationId xmlns:a16="http://schemas.microsoft.com/office/drawing/2014/main" id="{9856189E-9F6B-EDC6-4FB2-07AF4EA00EDE}"/>
              </a:ext>
            </a:extLst>
          </p:cNvPr>
          <p:cNvSpPr/>
          <p:nvPr/>
        </p:nvSpPr>
        <p:spPr>
          <a:xfrm>
            <a:off x="762000" y="5588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BC33E2DB-FCB5-5152-CF85-039914AC04AE}"/>
              </a:ext>
            </a:extLst>
          </p:cNvPr>
          <p:cNvSpPr txBox="1"/>
          <p:nvPr/>
        </p:nvSpPr>
        <p:spPr>
          <a:xfrm>
            <a:off x="939800" y="5588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Calidad</a:t>
            </a:r>
          </a:p>
          <a:p>
            <a:pPr algn="l"/>
            <a:r>
              <a:rPr lang="es-PE" sz="1300">
                <a:solidFill>
                  <a:srgbClr val="FFFFFF"/>
                </a:solidFill>
                <a:latin typeface="Haas Grot Disp 55 Roman" panose="020D0504030502050203"/>
              </a:rPr>
              <a:t>Stracon</a:t>
            </a:r>
          </a:p>
        </p:txBody>
      </p:sp>
      <p:sp>
        <p:nvSpPr>
          <p:cNvPr id="33" name="Rectángulo 32">
            <a:extLst>
              <a:ext uri="{FF2B5EF4-FFF2-40B4-BE49-F238E27FC236}">
                <a16:creationId xmlns:a16="http://schemas.microsoft.com/office/drawing/2014/main" id="{1985E735-21CB-7D88-FE10-718F693FBA45}"/>
              </a:ext>
            </a:extLst>
          </p:cNvPr>
          <p:cNvSpPr/>
          <p:nvPr/>
        </p:nvSpPr>
        <p:spPr>
          <a:xfrm>
            <a:off x="762000" y="7366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Rectángulo 35">
            <a:extLst>
              <a:ext uri="{FF2B5EF4-FFF2-40B4-BE49-F238E27FC236}">
                <a16:creationId xmlns:a16="http://schemas.microsoft.com/office/drawing/2014/main" id="{C64E9B87-37BD-491A-710A-380CDD46693A}"/>
              </a:ext>
            </a:extLst>
          </p:cNvPr>
          <p:cNvSpPr/>
          <p:nvPr/>
        </p:nvSpPr>
        <p:spPr>
          <a:xfrm>
            <a:off x="762000" y="7366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a:extLst>
              <a:ext uri="{FF2B5EF4-FFF2-40B4-BE49-F238E27FC236}">
                <a16:creationId xmlns:a16="http://schemas.microsoft.com/office/drawing/2014/main" id="{73665CB9-9D0E-9EC2-97C6-B44A94E5FCA5}"/>
              </a:ext>
            </a:extLst>
          </p:cNvPr>
          <p:cNvSpPr txBox="1"/>
          <p:nvPr/>
        </p:nvSpPr>
        <p:spPr>
          <a:xfrm>
            <a:off x="939800" y="7366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Automatización</a:t>
            </a:r>
          </a:p>
          <a:p>
            <a:pPr algn="l"/>
            <a:r>
              <a:rPr lang="es-PE" sz="1300">
                <a:solidFill>
                  <a:srgbClr val="FFFFFF"/>
                </a:solidFill>
                <a:latin typeface="Haas Grot Disp 55 Roman" panose="020D0504030502050203"/>
              </a:rPr>
              <a:t>del sistema</a:t>
            </a:r>
          </a:p>
        </p:txBody>
      </p:sp>
      <p:sp>
        <p:nvSpPr>
          <p:cNvPr id="38" name="Rectángulo 37">
            <a:extLst>
              <a:ext uri="{FF2B5EF4-FFF2-40B4-BE49-F238E27FC236}">
                <a16:creationId xmlns:a16="http://schemas.microsoft.com/office/drawing/2014/main" id="{516C5888-E596-1A39-E473-B7BBBC2B694E}"/>
              </a:ext>
            </a:extLst>
          </p:cNvPr>
          <p:cNvSpPr/>
          <p:nvPr/>
        </p:nvSpPr>
        <p:spPr>
          <a:xfrm>
            <a:off x="762000" y="9144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Rectángulo 38">
            <a:extLst>
              <a:ext uri="{FF2B5EF4-FFF2-40B4-BE49-F238E27FC236}">
                <a16:creationId xmlns:a16="http://schemas.microsoft.com/office/drawing/2014/main" id="{BA7A9AC2-3106-3860-7361-8F887343D34C}"/>
              </a:ext>
            </a:extLst>
          </p:cNvPr>
          <p:cNvSpPr/>
          <p:nvPr/>
        </p:nvSpPr>
        <p:spPr>
          <a:xfrm>
            <a:off x="762000" y="9144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9366E9C6-590B-4457-E11E-4AF0BC2CD04A}"/>
              </a:ext>
            </a:extLst>
          </p:cNvPr>
          <p:cNvSpPr txBox="1"/>
          <p:nvPr/>
        </p:nvSpPr>
        <p:spPr>
          <a:xfrm>
            <a:off x="939800" y="9144000"/>
            <a:ext cx="1447800" cy="369332"/>
          </a:xfrm>
          <a:prstGeom prst="rect">
            <a:avLst/>
          </a:prstGeom>
          <a:noFill/>
        </p:spPr>
        <p:txBody>
          <a:bodyPr vert="horz" wrap="square" lIns="0" tIns="0" rIns="0" bIns="0" rtlCol="0" anchor="ctr">
            <a:noAutofit/>
          </a:bodyPr>
          <a:lstStyle/>
          <a:p>
            <a:pPr algn="l"/>
            <a:r>
              <a:rPr lang="en-US" sz="1700" b="1">
                <a:solidFill>
                  <a:srgbClr val="FFFFFF"/>
                </a:solidFill>
                <a:latin typeface="Haas Grot Disp 75 Bold"/>
              </a:rPr>
              <a:t>Knight Piésold</a:t>
            </a:r>
          </a:p>
          <a:p>
            <a:pPr algn="l"/>
            <a:r>
              <a:rPr lang="en-US" sz="1300">
                <a:solidFill>
                  <a:srgbClr val="FFFFFF"/>
                </a:solidFill>
                <a:latin typeface="Haas Grot Disp 55 Roman" panose="020D0504030502050203"/>
              </a:rPr>
              <a:t>o Hudbay (externo)</a:t>
            </a:r>
            <a:endParaRPr lang="es-PE" sz="1300">
              <a:solidFill>
                <a:srgbClr val="FFFFFF"/>
              </a:solidFill>
              <a:latin typeface="Haas Grot Disp 55 Roman" panose="020D0504030502050203"/>
            </a:endParaRPr>
          </a:p>
        </p:txBody>
      </p:sp>
      <p:cxnSp>
        <p:nvCxnSpPr>
          <p:cNvPr id="41" name="Conector recto 40">
            <a:extLst>
              <a:ext uri="{FF2B5EF4-FFF2-40B4-BE49-F238E27FC236}">
                <a16:creationId xmlns:a16="http://schemas.microsoft.com/office/drawing/2014/main" id="{49A0F26B-096F-CC69-C7D4-0FEAF7164C67}"/>
              </a:ext>
            </a:extLst>
          </p:cNvPr>
          <p:cNvCxnSpPr/>
          <p:nvPr/>
        </p:nvCxnSpPr>
        <p:spPr>
          <a:xfrm>
            <a:off x="4245610" y="4699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6559654E-42DB-9B64-F4D8-C287B096A22D}"/>
              </a:ext>
            </a:extLst>
          </p:cNvPr>
          <p:cNvCxnSpPr/>
          <p:nvPr/>
        </p:nvCxnSpPr>
        <p:spPr>
          <a:xfrm>
            <a:off x="4334510" y="4699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43FAB3B6-3058-1464-6FFE-2A313ED0E836}"/>
              </a:ext>
            </a:extLst>
          </p:cNvPr>
          <p:cNvCxnSpPr/>
          <p:nvPr/>
        </p:nvCxnSpPr>
        <p:spPr>
          <a:xfrm>
            <a:off x="433451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8913ABD4-E1C1-7435-ECC1-9A914DA5377A}"/>
              </a:ext>
            </a:extLst>
          </p:cNvPr>
          <p:cNvCxnSpPr/>
          <p:nvPr/>
        </p:nvCxnSpPr>
        <p:spPr>
          <a:xfrm>
            <a:off x="5168265" y="5422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5A80BF46-9093-434A-CF18-0C0B301B3608}"/>
              </a:ext>
            </a:extLst>
          </p:cNvPr>
          <p:cNvCxnSpPr/>
          <p:nvPr/>
        </p:nvCxnSpPr>
        <p:spPr>
          <a:xfrm>
            <a:off x="5913120"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C9BFC89B-31A5-50A8-6FC8-342970519D2E}"/>
              </a:ext>
            </a:extLst>
          </p:cNvPr>
          <p:cNvCxnSpPr/>
          <p:nvPr/>
        </p:nvCxnSpPr>
        <p:spPr>
          <a:xfrm>
            <a:off x="7546975"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D34798AC-4B14-D2FC-3AD2-D13EEA38C33C}"/>
              </a:ext>
            </a:extLst>
          </p:cNvPr>
          <p:cNvSpPr txBox="1"/>
          <p:nvPr/>
        </p:nvSpPr>
        <p:spPr>
          <a:xfrm>
            <a:off x="7543698" y="6228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48" name="Conector recto 47">
            <a:extLst>
              <a:ext uri="{FF2B5EF4-FFF2-40B4-BE49-F238E27FC236}">
                <a16:creationId xmlns:a16="http://schemas.microsoft.com/office/drawing/2014/main" id="{C1F2DADA-2A3A-927B-B0AD-C213CDE76146}"/>
              </a:ext>
            </a:extLst>
          </p:cNvPr>
          <p:cNvCxnSpPr/>
          <p:nvPr/>
        </p:nvCxnSpPr>
        <p:spPr>
          <a:xfrm>
            <a:off x="6835775" y="6985000"/>
            <a:ext cx="0" cy="3048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9C014A4D-4BB1-E9AD-83EB-15B2A630559B}"/>
              </a:ext>
            </a:extLst>
          </p:cNvPr>
          <p:cNvCxnSpPr/>
          <p:nvPr/>
        </p:nvCxnSpPr>
        <p:spPr>
          <a:xfrm flipH="1">
            <a:off x="5447665" y="7289800"/>
            <a:ext cx="138811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57A20E92-74FE-140F-E7BF-D39960E3C40C}"/>
              </a:ext>
            </a:extLst>
          </p:cNvPr>
          <p:cNvCxnSpPr/>
          <p:nvPr/>
        </p:nvCxnSpPr>
        <p:spPr>
          <a:xfrm flipV="1">
            <a:off x="5447665" y="72009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076841FD-FB9B-51E3-FF83-85DD1097124E}"/>
              </a:ext>
            </a:extLst>
          </p:cNvPr>
          <p:cNvSpPr txBox="1"/>
          <p:nvPr/>
        </p:nvSpPr>
        <p:spPr>
          <a:xfrm>
            <a:off x="6006943" y="7193620"/>
            <a:ext cx="294954"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a:t>
            </a:r>
          </a:p>
        </p:txBody>
      </p:sp>
      <p:cxnSp>
        <p:nvCxnSpPr>
          <p:cNvPr id="52" name="Conector recto 51">
            <a:extLst>
              <a:ext uri="{FF2B5EF4-FFF2-40B4-BE49-F238E27FC236}">
                <a16:creationId xmlns:a16="http://schemas.microsoft.com/office/drawing/2014/main" id="{40EFC567-1D68-1A36-C532-DFE467895C40}"/>
              </a:ext>
            </a:extLst>
          </p:cNvPr>
          <p:cNvCxnSpPr/>
          <p:nvPr/>
        </p:nvCxnSpPr>
        <p:spPr>
          <a:xfrm>
            <a:off x="9248140" y="6477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56F1CAC7-0A67-4B39-A18D-5C2EABAC2A77}"/>
              </a:ext>
            </a:extLst>
          </p:cNvPr>
          <p:cNvCxnSpPr/>
          <p:nvPr/>
        </p:nvCxnSpPr>
        <p:spPr>
          <a:xfrm>
            <a:off x="933704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48DA6180-0787-F23A-DD1F-06102EC09769}"/>
              </a:ext>
            </a:extLst>
          </p:cNvPr>
          <p:cNvCxnSpPr/>
          <p:nvPr/>
        </p:nvCxnSpPr>
        <p:spPr>
          <a:xfrm>
            <a:off x="9337040" y="8255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A2F8F50D-1167-2DAA-E00A-42C9B54DF67E}"/>
              </a:ext>
            </a:extLst>
          </p:cNvPr>
          <p:cNvCxnSpPr/>
          <p:nvPr/>
        </p:nvCxnSpPr>
        <p:spPr>
          <a:xfrm>
            <a:off x="10915650" y="8255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F9579DAA-E17C-8282-7E5C-A25A746E3B92}"/>
              </a:ext>
            </a:extLst>
          </p:cNvPr>
          <p:cNvCxnSpPr/>
          <p:nvPr/>
        </p:nvCxnSpPr>
        <p:spPr>
          <a:xfrm>
            <a:off x="1183830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4E4396B9-F83C-F52F-429A-A691EDFD0167}"/>
              </a:ext>
            </a:extLst>
          </p:cNvPr>
          <p:cNvCxnSpPr/>
          <p:nvPr/>
        </p:nvCxnSpPr>
        <p:spPr>
          <a:xfrm>
            <a:off x="12583160" y="10033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610E1907-1076-8CF0-D79F-48ADA8869152}"/>
              </a:ext>
            </a:extLst>
          </p:cNvPr>
          <p:cNvCxnSpPr/>
          <p:nvPr/>
        </p:nvCxnSpPr>
        <p:spPr>
          <a:xfrm>
            <a:off x="14217014" y="10033000"/>
            <a:ext cx="211456"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59" name="CuadroTexto 58">
            <a:extLst>
              <a:ext uri="{FF2B5EF4-FFF2-40B4-BE49-F238E27FC236}">
                <a16:creationId xmlns:a16="http://schemas.microsoft.com/office/drawing/2014/main" id="{57756FEA-56F2-7F22-D251-DFBE35CB8DD4}"/>
              </a:ext>
            </a:extLst>
          </p:cNvPr>
          <p:cNvSpPr txBox="1"/>
          <p:nvPr/>
        </p:nvSpPr>
        <p:spPr>
          <a:xfrm>
            <a:off x="14213739" y="9784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60" name="Conector recto 59">
            <a:extLst>
              <a:ext uri="{FF2B5EF4-FFF2-40B4-BE49-F238E27FC236}">
                <a16:creationId xmlns:a16="http://schemas.microsoft.com/office/drawing/2014/main" id="{4BC7838B-5201-6195-DE02-CE2A697CCB06}"/>
              </a:ext>
            </a:extLst>
          </p:cNvPr>
          <p:cNvCxnSpPr/>
          <p:nvPr/>
        </p:nvCxnSpPr>
        <p:spPr>
          <a:xfrm flipV="1">
            <a:off x="13505814" y="7200900"/>
            <a:ext cx="0" cy="23241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0A071B42-88DB-1E89-1187-55F8074C27C3}"/>
              </a:ext>
            </a:extLst>
          </p:cNvPr>
          <p:cNvSpPr txBox="1"/>
          <p:nvPr/>
        </p:nvSpPr>
        <p:spPr>
          <a:xfrm>
            <a:off x="12943160" y="7549220"/>
            <a:ext cx="11253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 con motivo</a:t>
            </a:r>
          </a:p>
        </p:txBody>
      </p:sp>
      <p:cxnSp>
        <p:nvCxnSpPr>
          <p:cNvPr id="62" name="Conector recto 61">
            <a:extLst>
              <a:ext uri="{FF2B5EF4-FFF2-40B4-BE49-F238E27FC236}">
                <a16:creationId xmlns:a16="http://schemas.microsoft.com/office/drawing/2014/main" id="{E6FA3A20-A6FC-DCC8-7A2D-E61B5C6FD623}"/>
              </a:ext>
            </a:extLst>
          </p:cNvPr>
          <p:cNvCxnSpPr/>
          <p:nvPr/>
        </p:nvCxnSpPr>
        <p:spPr>
          <a:xfrm flipV="1">
            <a:off x="13505814" y="5664200"/>
            <a:ext cx="0" cy="889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7C961AAD-3673-EDE5-C940-FC8116582A2C}"/>
              </a:ext>
            </a:extLst>
          </p:cNvPr>
          <p:cNvCxnSpPr/>
          <p:nvPr/>
        </p:nvCxnSpPr>
        <p:spPr>
          <a:xfrm flipH="1">
            <a:off x="8503285" y="5664200"/>
            <a:ext cx="5002529"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4B423E55-A14F-E4A7-484D-212D589C7198}"/>
              </a:ext>
            </a:extLst>
          </p:cNvPr>
          <p:cNvCxnSpPr/>
          <p:nvPr/>
        </p:nvCxnSpPr>
        <p:spPr>
          <a:xfrm>
            <a:off x="8503285" y="56642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0B700745-98B5-B871-95CA-E266AC4A873F}"/>
              </a:ext>
            </a:extLst>
          </p:cNvPr>
          <p:cNvSpPr txBox="1"/>
          <p:nvPr/>
        </p:nvSpPr>
        <p:spPr>
          <a:xfrm>
            <a:off x="10433079" y="5568020"/>
            <a:ext cx="1142942"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Reenvía a firma</a:t>
            </a:r>
          </a:p>
        </p:txBody>
      </p:sp>
      <p:cxnSp>
        <p:nvCxnSpPr>
          <p:cNvPr id="66" name="Conector recto 65">
            <a:extLst>
              <a:ext uri="{FF2B5EF4-FFF2-40B4-BE49-F238E27FC236}">
                <a16:creationId xmlns:a16="http://schemas.microsoft.com/office/drawing/2014/main" id="{6A46EA9F-1EF4-8864-D8E8-2BFEB242CF35}"/>
              </a:ext>
            </a:extLst>
          </p:cNvPr>
          <p:cNvCxnSpPr/>
          <p:nvPr/>
        </p:nvCxnSpPr>
        <p:spPr>
          <a:xfrm flipV="1">
            <a:off x="1517332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4BCE0831-9334-322D-BAD8-C2B0A1F9078F}"/>
              </a:ext>
            </a:extLst>
          </p:cNvPr>
          <p:cNvCxnSpPr/>
          <p:nvPr/>
        </p:nvCxnSpPr>
        <p:spPr>
          <a:xfrm>
            <a:off x="15918180" y="8255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240C32FA-7FE8-CBAA-1417-0057A993A454}"/>
              </a:ext>
            </a:extLst>
          </p:cNvPr>
          <p:cNvCxnSpPr/>
          <p:nvPr/>
        </p:nvCxnSpPr>
        <p:spPr>
          <a:xfrm flipV="1">
            <a:off x="1600708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831D5654-924E-9607-096A-96DA1DAFC1BC}"/>
              </a:ext>
            </a:extLst>
          </p:cNvPr>
          <p:cNvCxnSpPr/>
          <p:nvPr/>
        </p:nvCxnSpPr>
        <p:spPr>
          <a:xfrm>
            <a:off x="1600708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096951E6-6047-08CB-128A-ED1E341323FA}"/>
              </a:ext>
            </a:extLst>
          </p:cNvPr>
          <p:cNvCxnSpPr/>
          <p:nvPr/>
        </p:nvCxnSpPr>
        <p:spPr>
          <a:xfrm>
            <a:off x="17585689" y="6477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BE094A89-57F9-EE89-9125-DC7BA39AC056}"/>
              </a:ext>
            </a:extLst>
          </p:cNvPr>
          <p:cNvCxnSpPr/>
          <p:nvPr/>
        </p:nvCxnSpPr>
        <p:spPr>
          <a:xfrm>
            <a:off x="18508345" y="7200900"/>
            <a:ext cx="0" cy="2108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B25EFE6F-76FC-7EB2-7E26-B5C16B29B8FA}"/>
              </a:ext>
            </a:extLst>
          </p:cNvPr>
          <p:cNvCxnSpPr/>
          <p:nvPr/>
        </p:nvCxnSpPr>
        <p:spPr>
          <a:xfrm>
            <a:off x="18508345" y="10756900"/>
            <a:ext cx="0" cy="1016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BE8A0E48-5B19-4C37-BCF3-316C5D5818A7}"/>
              </a:ext>
            </a:extLst>
          </p:cNvPr>
          <p:cNvCxnSpPr/>
          <p:nvPr/>
        </p:nvCxnSpPr>
        <p:spPr>
          <a:xfrm flipH="1">
            <a:off x="4888865" y="10858500"/>
            <a:ext cx="1361948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12FEE9F2-2B86-F855-B071-0601084A9D9D}"/>
              </a:ext>
            </a:extLst>
          </p:cNvPr>
          <p:cNvCxnSpPr/>
          <p:nvPr/>
        </p:nvCxnSpPr>
        <p:spPr>
          <a:xfrm flipV="1">
            <a:off x="4888865" y="7200900"/>
            <a:ext cx="0" cy="36576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CuadroTexto 74">
            <a:extLst>
              <a:ext uri="{FF2B5EF4-FFF2-40B4-BE49-F238E27FC236}">
                <a16:creationId xmlns:a16="http://schemas.microsoft.com/office/drawing/2014/main" id="{FDCAB670-3C2A-0CA1-3C0F-17FFBA167D26}"/>
              </a:ext>
            </a:extLst>
          </p:cNvPr>
          <p:cNvSpPr txBox="1"/>
          <p:nvPr/>
        </p:nvSpPr>
        <p:spPr>
          <a:xfrm>
            <a:off x="10628839" y="10762320"/>
            <a:ext cx="2418932" cy="192360"/>
          </a:xfrm>
          <a:prstGeom prst="rect">
            <a:avLst/>
          </a:prstGeom>
          <a:solidFill>
            <a:srgbClr val="FFFFFF"/>
          </a:solidFill>
        </p:spPr>
        <p:txBody>
          <a:bodyPr vert="horz" wrap="none" lIns="50800" tIns="0" rIns="50800" bIns="0" rtlCol="0" anchor="ctr">
            <a:spAutoFit/>
          </a:bodyPr>
          <a:lstStyle/>
          <a:p>
            <a:pPr algn="ctr"/>
            <a:r>
              <a:rPr lang="es-MX" sz="1250" b="1">
                <a:solidFill>
                  <a:srgbClr val="5C697C"/>
                </a:solidFill>
                <a:latin typeface="Haas Grot Disp 75 Bold"/>
              </a:rPr>
              <a:t>Aprobado: abre nueva versión V+1</a:t>
            </a:r>
            <a:endParaRPr lang="es-PE" sz="1250" b="1">
              <a:solidFill>
                <a:srgbClr val="5C697C"/>
              </a:solidFill>
              <a:latin typeface="Haas Grot Disp 75 Bold"/>
            </a:endParaRPr>
          </a:p>
        </p:txBody>
      </p:sp>
      <p:sp>
        <p:nvSpPr>
          <p:cNvPr id="76" name="Rectángulo: esquinas redondeadas 75">
            <a:extLst>
              <a:ext uri="{FF2B5EF4-FFF2-40B4-BE49-F238E27FC236}">
                <a16:creationId xmlns:a16="http://schemas.microsoft.com/office/drawing/2014/main" id="{DE0541D1-8E37-DF66-EEA6-89BE96B84739}"/>
              </a:ext>
            </a:extLst>
          </p:cNvPr>
          <p:cNvSpPr/>
          <p:nvPr/>
        </p:nvSpPr>
        <p:spPr>
          <a:xfrm>
            <a:off x="275590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7" name="CuadroTexto 76">
            <a:extLst>
              <a:ext uri="{FF2B5EF4-FFF2-40B4-BE49-F238E27FC236}">
                <a16:creationId xmlns:a16="http://schemas.microsoft.com/office/drawing/2014/main" id="{2FBCB6F5-B842-5AB2-37D7-D4F1908C0588}"/>
              </a:ext>
            </a:extLst>
          </p:cNvPr>
          <p:cNvSpPr txBox="1"/>
          <p:nvPr/>
        </p:nvSpPr>
        <p:spPr>
          <a:xfrm>
            <a:off x="279400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protocolo</a:t>
            </a:r>
          </a:p>
        </p:txBody>
      </p:sp>
      <p:sp>
        <p:nvSpPr>
          <p:cNvPr id="78" name="Rectángulo: esquinas redondeadas 77">
            <a:extLst>
              <a:ext uri="{FF2B5EF4-FFF2-40B4-BE49-F238E27FC236}">
                <a16:creationId xmlns:a16="http://schemas.microsoft.com/office/drawing/2014/main" id="{50308883-F211-78AD-6002-0C2B99153D56}"/>
              </a:ext>
            </a:extLst>
          </p:cNvPr>
          <p:cNvSpPr/>
          <p:nvPr/>
        </p:nvSpPr>
        <p:spPr>
          <a:xfrm>
            <a:off x="2878455" y="4660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Elipse 78">
            <a:extLst>
              <a:ext uri="{FF2B5EF4-FFF2-40B4-BE49-F238E27FC236}">
                <a16:creationId xmlns:a16="http://schemas.microsoft.com/office/drawing/2014/main" id="{0F869FB8-064F-120D-2C6F-A6A233FA5784}"/>
              </a:ext>
            </a:extLst>
          </p:cNvPr>
          <p:cNvSpPr/>
          <p:nvPr/>
        </p:nvSpPr>
        <p:spPr>
          <a:xfrm>
            <a:off x="2954655" y="4756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0" name="CuadroTexto 79">
            <a:extLst>
              <a:ext uri="{FF2B5EF4-FFF2-40B4-BE49-F238E27FC236}">
                <a16:creationId xmlns:a16="http://schemas.microsoft.com/office/drawing/2014/main" id="{FF2B8036-9252-FEA8-D8D6-1B3147D25D1D}"/>
              </a:ext>
            </a:extLst>
          </p:cNvPr>
          <p:cNvSpPr txBox="1"/>
          <p:nvPr/>
        </p:nvSpPr>
        <p:spPr>
          <a:xfrm>
            <a:off x="3068955" y="4660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81" name="Rectángulo: esquinas redondeadas 80">
            <a:extLst>
              <a:ext uri="{FF2B5EF4-FFF2-40B4-BE49-F238E27FC236}">
                <a16:creationId xmlns:a16="http://schemas.microsoft.com/office/drawing/2014/main" id="{2353B85A-70D6-AC34-7EAD-1263E7E2AE04}"/>
              </a:ext>
            </a:extLst>
          </p:cNvPr>
          <p:cNvSpPr/>
          <p:nvPr/>
        </p:nvSpPr>
        <p:spPr>
          <a:xfrm>
            <a:off x="442341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CuadroTexto 81">
            <a:extLst>
              <a:ext uri="{FF2B5EF4-FFF2-40B4-BE49-F238E27FC236}">
                <a16:creationId xmlns:a16="http://schemas.microsoft.com/office/drawing/2014/main" id="{752CEE81-2103-9774-21D5-02426AFBBD0A}"/>
              </a:ext>
            </a:extLst>
          </p:cNvPr>
          <p:cNvSpPr txBox="1"/>
          <p:nvPr/>
        </p:nvSpPr>
        <p:spPr>
          <a:xfrm>
            <a:off x="446151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Reporte y plano</a:t>
            </a:r>
          </a:p>
          <a:p>
            <a:pPr algn="ctr"/>
            <a:r>
              <a:rPr lang="es-PE" sz="1450" b="1">
                <a:solidFill>
                  <a:srgbClr val="182949"/>
                </a:solidFill>
                <a:latin typeface="Haas Grot Disp 75 Bold"/>
              </a:rPr>
              <a:t>topográfico</a:t>
            </a:r>
          </a:p>
        </p:txBody>
      </p:sp>
      <p:sp>
        <p:nvSpPr>
          <p:cNvPr id="83" name="Rectángulo: esquinas redondeadas 82">
            <a:extLst>
              <a:ext uri="{FF2B5EF4-FFF2-40B4-BE49-F238E27FC236}">
                <a16:creationId xmlns:a16="http://schemas.microsoft.com/office/drawing/2014/main" id="{945443FD-0F1F-9BAE-D2EB-B8C61B2C0585}"/>
              </a:ext>
            </a:extLst>
          </p:cNvPr>
          <p:cNvSpPr/>
          <p:nvPr/>
        </p:nvSpPr>
        <p:spPr>
          <a:xfrm>
            <a:off x="4545965" y="4660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Elipse 83">
            <a:extLst>
              <a:ext uri="{FF2B5EF4-FFF2-40B4-BE49-F238E27FC236}">
                <a16:creationId xmlns:a16="http://schemas.microsoft.com/office/drawing/2014/main" id="{97776E7D-5F0A-5399-66F1-BCC918331BE2}"/>
              </a:ext>
            </a:extLst>
          </p:cNvPr>
          <p:cNvSpPr/>
          <p:nvPr/>
        </p:nvSpPr>
        <p:spPr>
          <a:xfrm>
            <a:off x="4622165" y="4756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5" name="CuadroTexto 84">
            <a:extLst>
              <a:ext uri="{FF2B5EF4-FFF2-40B4-BE49-F238E27FC236}">
                <a16:creationId xmlns:a16="http://schemas.microsoft.com/office/drawing/2014/main" id="{396910B9-6192-4D01-A811-21842E409176}"/>
              </a:ext>
            </a:extLst>
          </p:cNvPr>
          <p:cNvSpPr txBox="1"/>
          <p:nvPr/>
        </p:nvSpPr>
        <p:spPr>
          <a:xfrm>
            <a:off x="4736465" y="4660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86" name="Rectángulo: esquinas redondeadas 85">
            <a:extLst>
              <a:ext uri="{FF2B5EF4-FFF2-40B4-BE49-F238E27FC236}">
                <a16:creationId xmlns:a16="http://schemas.microsoft.com/office/drawing/2014/main" id="{CA8BDCC1-6849-719C-8F0F-FCD9F02CDEAE}"/>
              </a:ext>
            </a:extLst>
          </p:cNvPr>
          <p:cNvSpPr/>
          <p:nvPr/>
        </p:nvSpPr>
        <p:spPr>
          <a:xfrm>
            <a:off x="4545965" y="4991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7" name="Elipse 86">
            <a:extLst>
              <a:ext uri="{FF2B5EF4-FFF2-40B4-BE49-F238E27FC236}">
                <a16:creationId xmlns:a16="http://schemas.microsoft.com/office/drawing/2014/main" id="{5072D83D-99C4-29C3-C3FC-FBB23F8B502A}"/>
              </a:ext>
            </a:extLst>
          </p:cNvPr>
          <p:cNvSpPr/>
          <p:nvPr/>
        </p:nvSpPr>
        <p:spPr>
          <a:xfrm>
            <a:off x="4622165" y="50863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8" name="CuadroTexto 87">
            <a:extLst>
              <a:ext uri="{FF2B5EF4-FFF2-40B4-BE49-F238E27FC236}">
                <a16:creationId xmlns:a16="http://schemas.microsoft.com/office/drawing/2014/main" id="{3A3F9E08-7765-34C8-FE1E-792094B82E8F}"/>
              </a:ext>
            </a:extLst>
          </p:cNvPr>
          <p:cNvSpPr txBox="1"/>
          <p:nvPr/>
        </p:nvSpPr>
        <p:spPr>
          <a:xfrm>
            <a:off x="4736465" y="4991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89" name="Rectángulo: esquinas redondeadas 88">
            <a:extLst>
              <a:ext uri="{FF2B5EF4-FFF2-40B4-BE49-F238E27FC236}">
                <a16:creationId xmlns:a16="http://schemas.microsoft.com/office/drawing/2014/main" id="{4931A56D-3F29-CD0A-B3D3-AC803EB2F18C}"/>
              </a:ext>
            </a:extLst>
          </p:cNvPr>
          <p:cNvSpPr/>
          <p:nvPr/>
        </p:nvSpPr>
        <p:spPr>
          <a:xfrm>
            <a:off x="442341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CuadroTexto 89">
            <a:extLst>
              <a:ext uri="{FF2B5EF4-FFF2-40B4-BE49-F238E27FC236}">
                <a16:creationId xmlns:a16="http://schemas.microsoft.com/office/drawing/2014/main" id="{F7AB9F7D-0779-3F04-6742-2DDA9AA7E492}"/>
              </a:ext>
            </a:extLst>
          </p:cNvPr>
          <p:cNvSpPr txBox="1"/>
          <p:nvPr/>
        </p:nvSpPr>
        <p:spPr>
          <a:xfrm>
            <a:off x="446151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Llenado del</a:t>
            </a:r>
          </a:p>
          <a:p>
            <a:pPr algn="ctr"/>
            <a:r>
              <a:rPr lang="es-PE" sz="1450" b="1">
                <a:solidFill>
                  <a:srgbClr val="182949"/>
                </a:solidFill>
                <a:latin typeface="Haas Grot Disp 75 Bold"/>
              </a:rPr>
              <a:t>protocolo</a:t>
            </a:r>
          </a:p>
        </p:txBody>
      </p:sp>
      <p:sp>
        <p:nvSpPr>
          <p:cNvPr id="91" name="Rectángulo: esquinas redondeadas 90">
            <a:extLst>
              <a:ext uri="{FF2B5EF4-FFF2-40B4-BE49-F238E27FC236}">
                <a16:creationId xmlns:a16="http://schemas.microsoft.com/office/drawing/2014/main" id="{2B2B4998-E34B-1245-78A9-C352EE89DDD9}"/>
              </a:ext>
            </a:extLst>
          </p:cNvPr>
          <p:cNvSpPr/>
          <p:nvPr/>
        </p:nvSpPr>
        <p:spPr>
          <a:xfrm>
            <a:off x="454596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Elipse 91">
            <a:extLst>
              <a:ext uri="{FF2B5EF4-FFF2-40B4-BE49-F238E27FC236}">
                <a16:creationId xmlns:a16="http://schemas.microsoft.com/office/drawing/2014/main" id="{58CAA814-D22D-1F7D-020D-82EB9F916689}"/>
              </a:ext>
            </a:extLst>
          </p:cNvPr>
          <p:cNvSpPr/>
          <p:nvPr/>
        </p:nvSpPr>
        <p:spPr>
          <a:xfrm>
            <a:off x="462216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CuadroTexto 92">
            <a:extLst>
              <a:ext uri="{FF2B5EF4-FFF2-40B4-BE49-F238E27FC236}">
                <a16:creationId xmlns:a16="http://schemas.microsoft.com/office/drawing/2014/main" id="{3665A92A-E1D7-25FD-EC8B-CBABADA632FB}"/>
              </a:ext>
            </a:extLst>
          </p:cNvPr>
          <p:cNvSpPr txBox="1"/>
          <p:nvPr/>
        </p:nvSpPr>
        <p:spPr>
          <a:xfrm>
            <a:off x="473646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94" name="Rombo 93">
            <a:extLst>
              <a:ext uri="{FF2B5EF4-FFF2-40B4-BE49-F238E27FC236}">
                <a16:creationId xmlns:a16="http://schemas.microsoft.com/office/drawing/2014/main" id="{0DF5B533-F8A4-6BA6-6031-3A533FEED48B}"/>
              </a:ext>
            </a:extLst>
          </p:cNvPr>
          <p:cNvSpPr/>
          <p:nvPr/>
        </p:nvSpPr>
        <p:spPr>
          <a:xfrm>
            <a:off x="6124575" y="5969000"/>
            <a:ext cx="1422400"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CuadroTexto 94">
            <a:extLst>
              <a:ext uri="{FF2B5EF4-FFF2-40B4-BE49-F238E27FC236}">
                <a16:creationId xmlns:a16="http://schemas.microsoft.com/office/drawing/2014/main" id="{30549F51-93C2-762E-E003-00FC5707A8DD}"/>
              </a:ext>
            </a:extLst>
          </p:cNvPr>
          <p:cNvSpPr txBox="1"/>
          <p:nvPr/>
        </p:nvSpPr>
        <p:spPr>
          <a:xfrm>
            <a:off x="6073775" y="6324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¿Completo?</a:t>
            </a:r>
          </a:p>
        </p:txBody>
      </p:sp>
      <p:sp>
        <p:nvSpPr>
          <p:cNvPr id="96" name="Rectángulo: esquinas redondeadas 95">
            <a:extLst>
              <a:ext uri="{FF2B5EF4-FFF2-40B4-BE49-F238E27FC236}">
                <a16:creationId xmlns:a16="http://schemas.microsoft.com/office/drawing/2014/main" id="{CFB079D9-F507-568B-9E67-3D105069BD8F}"/>
              </a:ext>
            </a:extLst>
          </p:cNvPr>
          <p:cNvSpPr/>
          <p:nvPr/>
        </p:nvSpPr>
        <p:spPr>
          <a:xfrm>
            <a:off x="775843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CuadroTexto 96">
            <a:extLst>
              <a:ext uri="{FF2B5EF4-FFF2-40B4-BE49-F238E27FC236}">
                <a16:creationId xmlns:a16="http://schemas.microsoft.com/office/drawing/2014/main" id="{5DC3EDB0-4F8E-9C79-429C-72CC2407C6E2}"/>
              </a:ext>
            </a:extLst>
          </p:cNvPr>
          <p:cNvSpPr txBox="1"/>
          <p:nvPr/>
        </p:nvSpPr>
        <p:spPr>
          <a:xfrm>
            <a:off x="779653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Firmas internas</a:t>
            </a:r>
          </a:p>
          <a:p>
            <a:pPr algn="ctr"/>
            <a:r>
              <a:rPr lang="es-PE" sz="1450" b="1">
                <a:solidFill>
                  <a:srgbClr val="182949"/>
                </a:solidFill>
                <a:latin typeface="Haas Grot Disp 75 Bold"/>
              </a:rPr>
              <a:t>Elab. + Revisado</a:t>
            </a:r>
          </a:p>
        </p:txBody>
      </p:sp>
      <p:sp>
        <p:nvSpPr>
          <p:cNvPr id="98" name="Rectángulo: esquinas redondeadas 97">
            <a:extLst>
              <a:ext uri="{FF2B5EF4-FFF2-40B4-BE49-F238E27FC236}">
                <a16:creationId xmlns:a16="http://schemas.microsoft.com/office/drawing/2014/main" id="{2926CC72-BACE-1D72-E1D7-D3106AD193C7}"/>
              </a:ext>
            </a:extLst>
          </p:cNvPr>
          <p:cNvSpPr/>
          <p:nvPr/>
        </p:nvSpPr>
        <p:spPr>
          <a:xfrm>
            <a:off x="788098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9" name="Elipse 98">
            <a:extLst>
              <a:ext uri="{FF2B5EF4-FFF2-40B4-BE49-F238E27FC236}">
                <a16:creationId xmlns:a16="http://schemas.microsoft.com/office/drawing/2014/main" id="{930E867B-A057-C49B-9237-39AD2E93ED03}"/>
              </a:ext>
            </a:extLst>
          </p:cNvPr>
          <p:cNvSpPr/>
          <p:nvPr/>
        </p:nvSpPr>
        <p:spPr>
          <a:xfrm>
            <a:off x="795718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0" name="CuadroTexto 99">
            <a:extLst>
              <a:ext uri="{FF2B5EF4-FFF2-40B4-BE49-F238E27FC236}">
                <a16:creationId xmlns:a16="http://schemas.microsoft.com/office/drawing/2014/main" id="{33896DDD-BCF8-98D5-D2A9-413C5899BD5D}"/>
              </a:ext>
            </a:extLst>
          </p:cNvPr>
          <p:cNvSpPr txBox="1"/>
          <p:nvPr/>
        </p:nvSpPr>
        <p:spPr>
          <a:xfrm>
            <a:off x="807148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01" name="Rectángulo: esquinas redondeadas 100">
            <a:extLst>
              <a:ext uri="{FF2B5EF4-FFF2-40B4-BE49-F238E27FC236}">
                <a16:creationId xmlns:a16="http://schemas.microsoft.com/office/drawing/2014/main" id="{2413BDA6-5AF0-ABFE-EB1D-4826603DFAE4}"/>
              </a:ext>
            </a:extLst>
          </p:cNvPr>
          <p:cNvSpPr/>
          <p:nvPr/>
        </p:nvSpPr>
        <p:spPr>
          <a:xfrm>
            <a:off x="7880985" y="6769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2" name="Elipse 101">
            <a:extLst>
              <a:ext uri="{FF2B5EF4-FFF2-40B4-BE49-F238E27FC236}">
                <a16:creationId xmlns:a16="http://schemas.microsoft.com/office/drawing/2014/main" id="{10CD2F60-BEAF-0CC1-B9FB-147CE1F56076}"/>
              </a:ext>
            </a:extLst>
          </p:cNvPr>
          <p:cNvSpPr/>
          <p:nvPr/>
        </p:nvSpPr>
        <p:spPr>
          <a:xfrm>
            <a:off x="7957185" y="68643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3" name="CuadroTexto 102">
            <a:extLst>
              <a:ext uri="{FF2B5EF4-FFF2-40B4-BE49-F238E27FC236}">
                <a16:creationId xmlns:a16="http://schemas.microsoft.com/office/drawing/2014/main" id="{780ACE29-8AD2-299A-9CF5-BE84E5BD5B05}"/>
              </a:ext>
            </a:extLst>
          </p:cNvPr>
          <p:cNvSpPr txBox="1"/>
          <p:nvPr/>
        </p:nvSpPr>
        <p:spPr>
          <a:xfrm>
            <a:off x="8071485" y="6769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104" name="Rectángulo: esquinas redondeadas 103">
            <a:extLst>
              <a:ext uri="{FF2B5EF4-FFF2-40B4-BE49-F238E27FC236}">
                <a16:creationId xmlns:a16="http://schemas.microsoft.com/office/drawing/2014/main" id="{0FA4C3FB-417A-368B-C5AB-76AC60F200E2}"/>
              </a:ext>
            </a:extLst>
          </p:cNvPr>
          <p:cNvSpPr/>
          <p:nvPr/>
        </p:nvSpPr>
        <p:spPr>
          <a:xfrm>
            <a:off x="942594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CuadroTexto 104">
            <a:extLst>
              <a:ext uri="{FF2B5EF4-FFF2-40B4-BE49-F238E27FC236}">
                <a16:creationId xmlns:a16="http://schemas.microsoft.com/office/drawing/2014/main" id="{7D05ECB1-604E-796A-D15B-7BCE774AE46F}"/>
              </a:ext>
            </a:extLst>
          </p:cNvPr>
          <p:cNvSpPr txBox="1"/>
          <p:nvPr/>
        </p:nvSpPr>
        <p:spPr>
          <a:xfrm>
            <a:off x="946404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PDF y unión</a:t>
            </a:r>
          </a:p>
          <a:p>
            <a:pPr algn="ctr"/>
            <a:r>
              <a:rPr lang="es-MX" sz="1450" b="1">
                <a:solidFill>
                  <a:srgbClr val="182949"/>
                </a:solidFill>
                <a:latin typeface="Haas Grot Disp 75 Bold"/>
              </a:rPr>
              <a:t>de adjuntos</a:t>
            </a:r>
            <a:endParaRPr lang="es-PE" sz="1450" b="1">
              <a:solidFill>
                <a:srgbClr val="182949"/>
              </a:solidFill>
              <a:latin typeface="Haas Grot Disp 75 Bold"/>
            </a:endParaRPr>
          </a:p>
        </p:txBody>
      </p:sp>
      <p:sp>
        <p:nvSpPr>
          <p:cNvPr id="106" name="Rectángulo: esquinas redondeadas 105">
            <a:extLst>
              <a:ext uri="{FF2B5EF4-FFF2-40B4-BE49-F238E27FC236}">
                <a16:creationId xmlns:a16="http://schemas.microsoft.com/office/drawing/2014/main" id="{992A894B-6350-8F88-6C44-BFF43FE749B3}"/>
              </a:ext>
            </a:extLst>
          </p:cNvPr>
          <p:cNvSpPr/>
          <p:nvPr/>
        </p:nvSpPr>
        <p:spPr>
          <a:xfrm>
            <a:off x="947864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7" name="Elipse 106">
            <a:extLst>
              <a:ext uri="{FF2B5EF4-FFF2-40B4-BE49-F238E27FC236}">
                <a16:creationId xmlns:a16="http://schemas.microsoft.com/office/drawing/2014/main" id="{E952186D-D6C8-CE4B-4C9F-3DA21A94F390}"/>
              </a:ext>
            </a:extLst>
          </p:cNvPr>
          <p:cNvSpPr/>
          <p:nvPr/>
        </p:nvSpPr>
        <p:spPr>
          <a:xfrm>
            <a:off x="955484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8" name="CuadroTexto 107">
            <a:extLst>
              <a:ext uri="{FF2B5EF4-FFF2-40B4-BE49-F238E27FC236}">
                <a16:creationId xmlns:a16="http://schemas.microsoft.com/office/drawing/2014/main" id="{212BFBAB-F6CB-F4B9-7DEA-EE465306287C}"/>
              </a:ext>
            </a:extLst>
          </p:cNvPr>
          <p:cNvSpPr txBox="1"/>
          <p:nvPr/>
        </p:nvSpPr>
        <p:spPr>
          <a:xfrm>
            <a:off x="966914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09" name="Rectángulo: esquinas redondeadas 108">
            <a:extLst>
              <a:ext uri="{FF2B5EF4-FFF2-40B4-BE49-F238E27FC236}">
                <a16:creationId xmlns:a16="http://schemas.microsoft.com/office/drawing/2014/main" id="{85F832A5-8C2D-0A55-739A-F31BC9B0D03E}"/>
              </a:ext>
            </a:extLst>
          </p:cNvPr>
          <p:cNvSpPr/>
          <p:nvPr/>
        </p:nvSpPr>
        <p:spPr>
          <a:xfrm>
            <a:off x="947864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0" name="Elipse 109">
            <a:extLst>
              <a:ext uri="{FF2B5EF4-FFF2-40B4-BE49-F238E27FC236}">
                <a16:creationId xmlns:a16="http://schemas.microsoft.com/office/drawing/2014/main" id="{BD4AD78E-F3E4-CE39-3CE3-C02DB7A24E44}"/>
              </a:ext>
            </a:extLst>
          </p:cNvPr>
          <p:cNvSpPr/>
          <p:nvPr/>
        </p:nvSpPr>
        <p:spPr>
          <a:xfrm>
            <a:off x="955484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1" name="CuadroTexto 110">
            <a:extLst>
              <a:ext uri="{FF2B5EF4-FFF2-40B4-BE49-F238E27FC236}">
                <a16:creationId xmlns:a16="http://schemas.microsoft.com/office/drawing/2014/main" id="{2363EFB8-7027-3A1E-EC65-3D1D80FAAE75}"/>
              </a:ext>
            </a:extLst>
          </p:cNvPr>
          <p:cNvSpPr txBox="1"/>
          <p:nvPr/>
        </p:nvSpPr>
        <p:spPr>
          <a:xfrm>
            <a:off x="966914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PDF Services</a:t>
            </a:r>
          </a:p>
        </p:txBody>
      </p:sp>
      <p:sp>
        <p:nvSpPr>
          <p:cNvPr id="112" name="Rectángulo: esquinas redondeadas 111">
            <a:extLst>
              <a:ext uri="{FF2B5EF4-FFF2-40B4-BE49-F238E27FC236}">
                <a16:creationId xmlns:a16="http://schemas.microsoft.com/office/drawing/2014/main" id="{E26BAD75-8804-2CDE-142E-12127C860239}"/>
              </a:ext>
            </a:extLst>
          </p:cNvPr>
          <p:cNvSpPr/>
          <p:nvPr/>
        </p:nvSpPr>
        <p:spPr>
          <a:xfrm>
            <a:off x="1109345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3" name="CuadroTexto 112">
            <a:extLst>
              <a:ext uri="{FF2B5EF4-FFF2-40B4-BE49-F238E27FC236}">
                <a16:creationId xmlns:a16="http://schemas.microsoft.com/office/drawing/2014/main" id="{62AF06A8-DF69-816A-D6DA-277B3C0C0653}"/>
              </a:ext>
            </a:extLst>
          </p:cNvPr>
          <p:cNvSpPr txBox="1"/>
          <p:nvPr/>
        </p:nvSpPr>
        <p:spPr>
          <a:xfrm>
            <a:off x="1113155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Envío y aviso</a:t>
            </a:r>
          </a:p>
          <a:p>
            <a:pPr algn="ctr"/>
            <a:r>
              <a:rPr lang="es-MX" sz="1450" b="1">
                <a:solidFill>
                  <a:srgbClr val="182949"/>
                </a:solidFill>
                <a:latin typeface="Haas Grot Disp 75 Bold"/>
              </a:rPr>
              <a:t>a KP</a:t>
            </a:r>
            <a:endParaRPr lang="es-PE" sz="1450" b="1">
              <a:solidFill>
                <a:srgbClr val="182949"/>
              </a:solidFill>
              <a:latin typeface="Haas Grot Disp 75 Bold"/>
            </a:endParaRPr>
          </a:p>
        </p:txBody>
      </p:sp>
      <p:sp>
        <p:nvSpPr>
          <p:cNvPr id="114" name="Rectángulo: esquinas redondeadas 113">
            <a:extLst>
              <a:ext uri="{FF2B5EF4-FFF2-40B4-BE49-F238E27FC236}">
                <a16:creationId xmlns:a16="http://schemas.microsoft.com/office/drawing/2014/main" id="{184AB27E-5FFC-2F74-347B-C49D0B010F25}"/>
              </a:ext>
            </a:extLst>
          </p:cNvPr>
          <p:cNvSpPr/>
          <p:nvPr/>
        </p:nvSpPr>
        <p:spPr>
          <a:xfrm>
            <a:off x="1114615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5" name="Elipse 114">
            <a:extLst>
              <a:ext uri="{FF2B5EF4-FFF2-40B4-BE49-F238E27FC236}">
                <a16:creationId xmlns:a16="http://schemas.microsoft.com/office/drawing/2014/main" id="{B20B3C98-3F6E-5AB1-9292-51F61D2497DF}"/>
              </a:ext>
            </a:extLst>
          </p:cNvPr>
          <p:cNvSpPr/>
          <p:nvPr/>
        </p:nvSpPr>
        <p:spPr>
          <a:xfrm>
            <a:off x="1122235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6" name="CuadroTexto 115">
            <a:extLst>
              <a:ext uri="{FF2B5EF4-FFF2-40B4-BE49-F238E27FC236}">
                <a16:creationId xmlns:a16="http://schemas.microsoft.com/office/drawing/2014/main" id="{E0981D7E-7167-6418-AA45-6E3F32A0C7D1}"/>
              </a:ext>
            </a:extLst>
          </p:cNvPr>
          <p:cNvSpPr txBox="1"/>
          <p:nvPr/>
        </p:nvSpPr>
        <p:spPr>
          <a:xfrm>
            <a:off x="1133665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17" name="Rectángulo: esquinas redondeadas 116">
            <a:extLst>
              <a:ext uri="{FF2B5EF4-FFF2-40B4-BE49-F238E27FC236}">
                <a16:creationId xmlns:a16="http://schemas.microsoft.com/office/drawing/2014/main" id="{7F4AC253-170E-A1D0-BB2F-4D00B02894E0}"/>
              </a:ext>
            </a:extLst>
          </p:cNvPr>
          <p:cNvSpPr/>
          <p:nvPr/>
        </p:nvSpPr>
        <p:spPr>
          <a:xfrm>
            <a:off x="1114615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8" name="Elipse 117">
            <a:extLst>
              <a:ext uri="{FF2B5EF4-FFF2-40B4-BE49-F238E27FC236}">
                <a16:creationId xmlns:a16="http://schemas.microsoft.com/office/drawing/2014/main" id="{38A94F11-1A1B-54A9-9FD2-379BAF599E5F}"/>
              </a:ext>
            </a:extLst>
          </p:cNvPr>
          <p:cNvSpPr/>
          <p:nvPr/>
        </p:nvSpPr>
        <p:spPr>
          <a:xfrm>
            <a:off x="1122235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9" name="CuadroTexto 118">
            <a:extLst>
              <a:ext uri="{FF2B5EF4-FFF2-40B4-BE49-F238E27FC236}">
                <a16:creationId xmlns:a16="http://schemas.microsoft.com/office/drawing/2014/main" id="{C3D492B5-06E0-1F7E-00FE-F9232F3BB8B3}"/>
              </a:ext>
            </a:extLst>
          </p:cNvPr>
          <p:cNvSpPr txBox="1"/>
          <p:nvPr/>
        </p:nvSpPr>
        <p:spPr>
          <a:xfrm>
            <a:off x="1133665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20" name="Rectángulo: esquinas redondeadas 119">
            <a:extLst>
              <a:ext uri="{FF2B5EF4-FFF2-40B4-BE49-F238E27FC236}">
                <a16:creationId xmlns:a16="http://schemas.microsoft.com/office/drawing/2014/main" id="{137F85C4-1643-93F5-C41C-EA8D073FE91F}"/>
              </a:ext>
            </a:extLst>
          </p:cNvPr>
          <p:cNvSpPr/>
          <p:nvPr/>
        </p:nvSpPr>
        <p:spPr>
          <a:xfrm>
            <a:off x="1109345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1" name="CuadroTexto 120">
            <a:extLst>
              <a:ext uri="{FF2B5EF4-FFF2-40B4-BE49-F238E27FC236}">
                <a16:creationId xmlns:a16="http://schemas.microsoft.com/office/drawing/2014/main" id="{9F4E8D67-9FC6-CBEA-5FA6-3D2842DE3CF7}"/>
              </a:ext>
            </a:extLst>
          </p:cNvPr>
          <p:cNvSpPr txBox="1"/>
          <p:nvPr/>
        </p:nvSpPr>
        <p:spPr>
          <a:xfrm>
            <a:off x="1113155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Revisión de</a:t>
            </a:r>
          </a:p>
          <a:p>
            <a:pPr algn="ctr"/>
            <a:r>
              <a:rPr lang="es-PE" sz="1450" b="1">
                <a:solidFill>
                  <a:srgbClr val="182949"/>
                </a:solidFill>
                <a:latin typeface="Haas Grot Disp 75 Bold"/>
              </a:rPr>
              <a:t>protocolos</a:t>
            </a:r>
          </a:p>
        </p:txBody>
      </p:sp>
      <p:sp>
        <p:nvSpPr>
          <p:cNvPr id="122" name="Rectángulo: esquinas redondeadas 121">
            <a:extLst>
              <a:ext uri="{FF2B5EF4-FFF2-40B4-BE49-F238E27FC236}">
                <a16:creationId xmlns:a16="http://schemas.microsoft.com/office/drawing/2014/main" id="{21840AE5-47BA-5301-7FDA-3FCE51F6AAE6}"/>
              </a:ext>
            </a:extLst>
          </p:cNvPr>
          <p:cNvSpPr/>
          <p:nvPr/>
        </p:nvSpPr>
        <p:spPr>
          <a:xfrm>
            <a:off x="11349355" y="9994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3" name="Elipse 122">
            <a:extLst>
              <a:ext uri="{FF2B5EF4-FFF2-40B4-BE49-F238E27FC236}">
                <a16:creationId xmlns:a16="http://schemas.microsoft.com/office/drawing/2014/main" id="{247131E2-D0A3-DB39-0D18-D57485B08281}"/>
              </a:ext>
            </a:extLst>
          </p:cNvPr>
          <p:cNvSpPr/>
          <p:nvPr/>
        </p:nvSpPr>
        <p:spPr>
          <a:xfrm>
            <a:off x="11425555" y="10090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4" name="CuadroTexto 123">
            <a:extLst>
              <a:ext uri="{FF2B5EF4-FFF2-40B4-BE49-F238E27FC236}">
                <a16:creationId xmlns:a16="http://schemas.microsoft.com/office/drawing/2014/main" id="{1631B5E5-F918-0F4D-FE5D-C8441C5CBD81}"/>
              </a:ext>
            </a:extLst>
          </p:cNvPr>
          <p:cNvSpPr txBox="1"/>
          <p:nvPr/>
        </p:nvSpPr>
        <p:spPr>
          <a:xfrm>
            <a:off x="11539855" y="9994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Outlook</a:t>
            </a:r>
          </a:p>
        </p:txBody>
      </p:sp>
      <p:sp>
        <p:nvSpPr>
          <p:cNvPr id="125" name="Rectángulo: esquinas redondeadas 124">
            <a:extLst>
              <a:ext uri="{FF2B5EF4-FFF2-40B4-BE49-F238E27FC236}">
                <a16:creationId xmlns:a16="http://schemas.microsoft.com/office/drawing/2014/main" id="{1A4F24AA-8D80-97E7-1681-5655676968B1}"/>
              </a:ext>
            </a:extLst>
          </p:cNvPr>
          <p:cNvSpPr/>
          <p:nvPr/>
        </p:nvSpPr>
        <p:spPr>
          <a:xfrm>
            <a:off x="11146155" y="10325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6" name="Elipse 125">
            <a:extLst>
              <a:ext uri="{FF2B5EF4-FFF2-40B4-BE49-F238E27FC236}">
                <a16:creationId xmlns:a16="http://schemas.microsoft.com/office/drawing/2014/main" id="{C1E0D021-BEEC-C4BE-C0EA-C084CDF78D36}"/>
              </a:ext>
            </a:extLst>
          </p:cNvPr>
          <p:cNvSpPr/>
          <p:nvPr/>
        </p:nvSpPr>
        <p:spPr>
          <a:xfrm>
            <a:off x="11222355" y="10420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7" name="CuadroTexto 126">
            <a:extLst>
              <a:ext uri="{FF2B5EF4-FFF2-40B4-BE49-F238E27FC236}">
                <a16:creationId xmlns:a16="http://schemas.microsoft.com/office/drawing/2014/main" id="{25D30980-0F3B-F898-3F7D-84DD04B3A778}"/>
              </a:ext>
            </a:extLst>
          </p:cNvPr>
          <p:cNvSpPr txBox="1"/>
          <p:nvPr/>
        </p:nvSpPr>
        <p:spPr>
          <a:xfrm>
            <a:off x="11336655" y="10325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28" name="Rombo 127">
            <a:extLst>
              <a:ext uri="{FF2B5EF4-FFF2-40B4-BE49-F238E27FC236}">
                <a16:creationId xmlns:a16="http://schemas.microsoft.com/office/drawing/2014/main" id="{8ABBD2A6-0C61-ADB3-6F61-4DE0E78DA94B}"/>
              </a:ext>
            </a:extLst>
          </p:cNvPr>
          <p:cNvSpPr/>
          <p:nvPr/>
        </p:nvSpPr>
        <p:spPr>
          <a:xfrm>
            <a:off x="12794615" y="9525000"/>
            <a:ext cx="1422399"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 name="CuadroTexto 128">
            <a:extLst>
              <a:ext uri="{FF2B5EF4-FFF2-40B4-BE49-F238E27FC236}">
                <a16:creationId xmlns:a16="http://schemas.microsoft.com/office/drawing/2014/main" id="{1C405739-291B-6A0F-CB63-6BF37A34EBEE}"/>
              </a:ext>
            </a:extLst>
          </p:cNvPr>
          <p:cNvSpPr txBox="1"/>
          <p:nvPr/>
        </p:nvSpPr>
        <p:spPr>
          <a:xfrm>
            <a:off x="12743815" y="9880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¿Conforme?</a:t>
            </a:r>
          </a:p>
        </p:txBody>
      </p:sp>
      <p:sp>
        <p:nvSpPr>
          <p:cNvPr id="130" name="Rectángulo: esquinas redondeadas 129">
            <a:extLst>
              <a:ext uri="{FF2B5EF4-FFF2-40B4-BE49-F238E27FC236}">
                <a16:creationId xmlns:a16="http://schemas.microsoft.com/office/drawing/2014/main" id="{DD3E682C-47F9-45E0-AE2E-7EA047C2BCD3}"/>
              </a:ext>
            </a:extLst>
          </p:cNvPr>
          <p:cNvSpPr/>
          <p:nvPr/>
        </p:nvSpPr>
        <p:spPr>
          <a:xfrm>
            <a:off x="1276096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1" name="CuadroTexto 130">
            <a:extLst>
              <a:ext uri="{FF2B5EF4-FFF2-40B4-BE49-F238E27FC236}">
                <a16:creationId xmlns:a16="http://schemas.microsoft.com/office/drawing/2014/main" id="{A46CAEFB-3EDC-441E-34D8-AA228F316CA4}"/>
              </a:ext>
            </a:extLst>
          </p:cNvPr>
          <p:cNvSpPr txBox="1"/>
          <p:nvPr/>
        </p:nvSpPr>
        <p:spPr>
          <a:xfrm>
            <a:off x="1279906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Corrección de</a:t>
            </a:r>
          </a:p>
          <a:p>
            <a:pPr algn="ctr"/>
            <a:r>
              <a:rPr lang="es-PE" sz="1450" b="1">
                <a:solidFill>
                  <a:srgbClr val="182949"/>
                </a:solidFill>
                <a:latin typeface="Haas Grot Disp 75 Bold"/>
              </a:rPr>
              <a:t>observaciones</a:t>
            </a:r>
          </a:p>
        </p:txBody>
      </p:sp>
      <p:sp>
        <p:nvSpPr>
          <p:cNvPr id="132" name="Rectángulo: esquinas redondeadas 131">
            <a:extLst>
              <a:ext uri="{FF2B5EF4-FFF2-40B4-BE49-F238E27FC236}">
                <a16:creationId xmlns:a16="http://schemas.microsoft.com/office/drawing/2014/main" id="{2A6D66B5-D442-BD3C-7EF0-340DB404B0A9}"/>
              </a:ext>
            </a:extLst>
          </p:cNvPr>
          <p:cNvSpPr/>
          <p:nvPr/>
        </p:nvSpPr>
        <p:spPr>
          <a:xfrm>
            <a:off x="12883515" y="6438900"/>
            <a:ext cx="1244599"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3" name="Elipse 132">
            <a:extLst>
              <a:ext uri="{FF2B5EF4-FFF2-40B4-BE49-F238E27FC236}">
                <a16:creationId xmlns:a16="http://schemas.microsoft.com/office/drawing/2014/main" id="{2AF7A18E-46D8-3A49-231D-8B1C3804406B}"/>
              </a:ext>
            </a:extLst>
          </p:cNvPr>
          <p:cNvSpPr/>
          <p:nvPr/>
        </p:nvSpPr>
        <p:spPr>
          <a:xfrm>
            <a:off x="12959715" y="6534150"/>
            <a:ext cx="88899"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4" name="CuadroTexto 133">
            <a:extLst>
              <a:ext uri="{FF2B5EF4-FFF2-40B4-BE49-F238E27FC236}">
                <a16:creationId xmlns:a16="http://schemas.microsoft.com/office/drawing/2014/main" id="{B2B44AA4-F1EF-A618-202B-013C2627C2C9}"/>
              </a:ext>
            </a:extLst>
          </p:cNvPr>
          <p:cNvSpPr txBox="1"/>
          <p:nvPr/>
        </p:nvSpPr>
        <p:spPr>
          <a:xfrm>
            <a:off x="13074014"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35" name="Rectángulo: esquinas redondeadas 134">
            <a:extLst>
              <a:ext uri="{FF2B5EF4-FFF2-40B4-BE49-F238E27FC236}">
                <a16:creationId xmlns:a16="http://schemas.microsoft.com/office/drawing/2014/main" id="{D7F071C1-DAC1-D0F6-478D-585DEA7DC569}"/>
              </a:ext>
            </a:extLst>
          </p:cNvPr>
          <p:cNvSpPr/>
          <p:nvPr/>
        </p:nvSpPr>
        <p:spPr>
          <a:xfrm>
            <a:off x="1442847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6" name="CuadroTexto 135">
            <a:extLst>
              <a:ext uri="{FF2B5EF4-FFF2-40B4-BE49-F238E27FC236}">
                <a16:creationId xmlns:a16="http://schemas.microsoft.com/office/drawing/2014/main" id="{17201A36-ED0E-78C4-36E0-4A4F12F29C04}"/>
              </a:ext>
            </a:extLst>
          </p:cNvPr>
          <p:cNvSpPr txBox="1"/>
          <p:nvPr/>
        </p:nvSpPr>
        <p:spPr>
          <a:xfrm>
            <a:off x="1446657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a:t>
            </a:r>
          </a:p>
          <a:p>
            <a:pPr algn="ctr"/>
            <a:r>
              <a:rPr lang="es-PE" sz="1450" b="1">
                <a:solidFill>
                  <a:srgbClr val="182949"/>
                </a:solidFill>
                <a:latin typeface="Haas Grot Disp 75 Bold"/>
              </a:rPr>
              <a:t>“Aceptado por”</a:t>
            </a:r>
          </a:p>
        </p:txBody>
      </p:sp>
      <p:sp>
        <p:nvSpPr>
          <p:cNvPr id="137" name="Rectángulo: esquinas redondeadas 136">
            <a:extLst>
              <a:ext uri="{FF2B5EF4-FFF2-40B4-BE49-F238E27FC236}">
                <a16:creationId xmlns:a16="http://schemas.microsoft.com/office/drawing/2014/main" id="{71A35BF5-1E85-3478-ECB8-AFBCCE41F08C}"/>
              </a:ext>
            </a:extLst>
          </p:cNvPr>
          <p:cNvSpPr/>
          <p:nvPr/>
        </p:nvSpPr>
        <p:spPr>
          <a:xfrm>
            <a:off x="1448117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8" name="Elipse 137">
            <a:extLst>
              <a:ext uri="{FF2B5EF4-FFF2-40B4-BE49-F238E27FC236}">
                <a16:creationId xmlns:a16="http://schemas.microsoft.com/office/drawing/2014/main" id="{31E67454-2777-20CF-5298-FE6C6CC9C9B0}"/>
              </a:ext>
            </a:extLst>
          </p:cNvPr>
          <p:cNvSpPr/>
          <p:nvPr/>
        </p:nvSpPr>
        <p:spPr>
          <a:xfrm>
            <a:off x="1455737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9" name="CuadroTexto 138">
            <a:extLst>
              <a:ext uri="{FF2B5EF4-FFF2-40B4-BE49-F238E27FC236}">
                <a16:creationId xmlns:a16="http://schemas.microsoft.com/office/drawing/2014/main" id="{EB52CB74-4C98-4A79-6C5F-609207219627}"/>
              </a:ext>
            </a:extLst>
          </p:cNvPr>
          <p:cNvSpPr txBox="1"/>
          <p:nvPr/>
        </p:nvSpPr>
        <p:spPr>
          <a:xfrm>
            <a:off x="1467167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40" name="Rectángulo: esquinas redondeadas 139">
            <a:extLst>
              <a:ext uri="{FF2B5EF4-FFF2-40B4-BE49-F238E27FC236}">
                <a16:creationId xmlns:a16="http://schemas.microsoft.com/office/drawing/2014/main" id="{6BFF9D3E-8FB3-06FD-EDE9-252017734896}"/>
              </a:ext>
            </a:extLst>
          </p:cNvPr>
          <p:cNvSpPr/>
          <p:nvPr/>
        </p:nvSpPr>
        <p:spPr>
          <a:xfrm>
            <a:off x="1442847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1" name="CuadroTexto 140">
            <a:extLst>
              <a:ext uri="{FF2B5EF4-FFF2-40B4-BE49-F238E27FC236}">
                <a16:creationId xmlns:a16="http://schemas.microsoft.com/office/drawing/2014/main" id="{BC6D5D4A-D9C8-642B-7D30-8EA3AAB2593E}"/>
              </a:ext>
            </a:extLst>
          </p:cNvPr>
          <p:cNvSpPr txBox="1"/>
          <p:nvPr/>
        </p:nvSpPr>
        <p:spPr>
          <a:xfrm>
            <a:off x="1446657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Registro de firma</a:t>
            </a:r>
          </a:p>
          <a:p>
            <a:pPr algn="ctr"/>
            <a:r>
              <a:rPr lang="es-MX" sz="1450" b="1">
                <a:solidFill>
                  <a:srgbClr val="182949"/>
                </a:solidFill>
                <a:latin typeface="Haas Grot Disp 75 Bold"/>
              </a:rPr>
              <a:t>y PDF final</a:t>
            </a:r>
            <a:endParaRPr lang="es-PE" sz="1450" b="1">
              <a:solidFill>
                <a:srgbClr val="182949"/>
              </a:solidFill>
              <a:latin typeface="Haas Grot Disp 75 Bold"/>
            </a:endParaRPr>
          </a:p>
        </p:txBody>
      </p:sp>
      <p:sp>
        <p:nvSpPr>
          <p:cNvPr id="142" name="Rectángulo: esquinas redondeadas 141">
            <a:extLst>
              <a:ext uri="{FF2B5EF4-FFF2-40B4-BE49-F238E27FC236}">
                <a16:creationId xmlns:a16="http://schemas.microsoft.com/office/drawing/2014/main" id="{54064312-81D9-D6AD-2F14-7120FAD3FA75}"/>
              </a:ext>
            </a:extLst>
          </p:cNvPr>
          <p:cNvSpPr/>
          <p:nvPr/>
        </p:nvSpPr>
        <p:spPr>
          <a:xfrm>
            <a:off x="1448117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3" name="Elipse 142">
            <a:extLst>
              <a:ext uri="{FF2B5EF4-FFF2-40B4-BE49-F238E27FC236}">
                <a16:creationId xmlns:a16="http://schemas.microsoft.com/office/drawing/2014/main" id="{4A8321E6-0D2F-290C-500C-D354D346E302}"/>
              </a:ext>
            </a:extLst>
          </p:cNvPr>
          <p:cNvSpPr/>
          <p:nvPr/>
        </p:nvSpPr>
        <p:spPr>
          <a:xfrm>
            <a:off x="14557375" y="83121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4" name="CuadroTexto 143">
            <a:extLst>
              <a:ext uri="{FF2B5EF4-FFF2-40B4-BE49-F238E27FC236}">
                <a16:creationId xmlns:a16="http://schemas.microsoft.com/office/drawing/2014/main" id="{1C937BAB-CEA1-5BB6-9C7F-8D3169EB365F}"/>
              </a:ext>
            </a:extLst>
          </p:cNvPr>
          <p:cNvSpPr txBox="1"/>
          <p:nvPr/>
        </p:nvSpPr>
        <p:spPr>
          <a:xfrm>
            <a:off x="1467167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45" name="Rectángulo: esquinas redondeadas 144">
            <a:extLst>
              <a:ext uri="{FF2B5EF4-FFF2-40B4-BE49-F238E27FC236}">
                <a16:creationId xmlns:a16="http://schemas.microsoft.com/office/drawing/2014/main" id="{676F0F03-EF84-4A7D-4140-FF89858B23A1}"/>
              </a:ext>
            </a:extLst>
          </p:cNvPr>
          <p:cNvSpPr/>
          <p:nvPr/>
        </p:nvSpPr>
        <p:spPr>
          <a:xfrm>
            <a:off x="16095980"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6" name="CuadroTexto 145">
            <a:extLst>
              <a:ext uri="{FF2B5EF4-FFF2-40B4-BE49-F238E27FC236}">
                <a16:creationId xmlns:a16="http://schemas.microsoft.com/office/drawing/2014/main" id="{7B2ECDC4-CF0A-01C1-A387-F85BF8D60015}"/>
              </a:ext>
            </a:extLst>
          </p:cNvPr>
          <p:cNvSpPr txBox="1"/>
          <p:nvPr/>
        </p:nvSpPr>
        <p:spPr>
          <a:xfrm>
            <a:off x="1613408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Almacenamiento</a:t>
            </a:r>
          </a:p>
          <a:p>
            <a:pPr algn="ctr"/>
            <a:r>
              <a:rPr lang="es-PE" sz="1450" b="1">
                <a:solidFill>
                  <a:srgbClr val="182949"/>
                </a:solidFill>
                <a:latin typeface="Haas Grot Disp 75 Bold"/>
              </a:rPr>
              <a:t>y versiones</a:t>
            </a:r>
          </a:p>
        </p:txBody>
      </p:sp>
      <p:sp>
        <p:nvSpPr>
          <p:cNvPr id="147" name="Rectángulo: esquinas redondeadas 146">
            <a:extLst>
              <a:ext uri="{FF2B5EF4-FFF2-40B4-BE49-F238E27FC236}">
                <a16:creationId xmlns:a16="http://schemas.microsoft.com/office/drawing/2014/main" id="{7DD40393-D6FB-EF7F-35E5-E340A14D1693}"/>
              </a:ext>
            </a:extLst>
          </p:cNvPr>
          <p:cNvSpPr/>
          <p:nvPr/>
        </p:nvSpPr>
        <p:spPr>
          <a:xfrm>
            <a:off x="16218536"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8" name="Elipse 147">
            <a:extLst>
              <a:ext uri="{FF2B5EF4-FFF2-40B4-BE49-F238E27FC236}">
                <a16:creationId xmlns:a16="http://schemas.microsoft.com/office/drawing/2014/main" id="{947D2387-797E-017A-3995-A943D7527ED8}"/>
              </a:ext>
            </a:extLst>
          </p:cNvPr>
          <p:cNvSpPr/>
          <p:nvPr/>
        </p:nvSpPr>
        <p:spPr>
          <a:xfrm>
            <a:off x="16294736" y="6534150"/>
            <a:ext cx="88900" cy="88900"/>
          </a:xfrm>
          <a:prstGeom prst="ellipse">
            <a:avLst/>
          </a:prstGeom>
          <a:solidFill>
            <a:srgbClr val="038387"/>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9" name="CuadroTexto 148">
            <a:extLst>
              <a:ext uri="{FF2B5EF4-FFF2-40B4-BE49-F238E27FC236}">
                <a16:creationId xmlns:a16="http://schemas.microsoft.com/office/drawing/2014/main" id="{7B833148-80B6-7C6E-9012-EC7F76D4D2C2}"/>
              </a:ext>
            </a:extLst>
          </p:cNvPr>
          <p:cNvSpPr txBox="1"/>
          <p:nvPr/>
        </p:nvSpPr>
        <p:spPr>
          <a:xfrm>
            <a:off x="16409036"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SharePoint</a:t>
            </a:r>
          </a:p>
        </p:txBody>
      </p:sp>
      <p:sp>
        <p:nvSpPr>
          <p:cNvPr id="150" name="Rectángulo: esquinas redondeadas 149">
            <a:extLst>
              <a:ext uri="{FF2B5EF4-FFF2-40B4-BE49-F238E27FC236}">
                <a16:creationId xmlns:a16="http://schemas.microsoft.com/office/drawing/2014/main" id="{B9FA3941-B325-FD3D-FFA2-9B6E9101243C}"/>
              </a:ext>
            </a:extLst>
          </p:cNvPr>
          <p:cNvSpPr/>
          <p:nvPr/>
        </p:nvSpPr>
        <p:spPr>
          <a:xfrm>
            <a:off x="17763489"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1" name="CuadroTexto 150">
            <a:extLst>
              <a:ext uri="{FF2B5EF4-FFF2-40B4-BE49-F238E27FC236}">
                <a16:creationId xmlns:a16="http://schemas.microsoft.com/office/drawing/2014/main" id="{8C3B2B31-B7D8-DB8E-56CA-F35B10F878AF}"/>
              </a:ext>
            </a:extLst>
          </p:cNvPr>
          <p:cNvSpPr txBox="1"/>
          <p:nvPr/>
        </p:nvSpPr>
        <p:spPr>
          <a:xfrm>
            <a:off x="17801589"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modificación</a:t>
            </a:r>
          </a:p>
        </p:txBody>
      </p:sp>
      <p:sp>
        <p:nvSpPr>
          <p:cNvPr id="152" name="Rectángulo: esquinas redondeadas 151">
            <a:extLst>
              <a:ext uri="{FF2B5EF4-FFF2-40B4-BE49-F238E27FC236}">
                <a16:creationId xmlns:a16="http://schemas.microsoft.com/office/drawing/2014/main" id="{DFEBD71B-DEE3-090E-FFC5-F545D8C79163}"/>
              </a:ext>
            </a:extLst>
          </p:cNvPr>
          <p:cNvSpPr/>
          <p:nvPr/>
        </p:nvSpPr>
        <p:spPr>
          <a:xfrm>
            <a:off x="17886045" y="6438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3" name="Elipse 152">
            <a:extLst>
              <a:ext uri="{FF2B5EF4-FFF2-40B4-BE49-F238E27FC236}">
                <a16:creationId xmlns:a16="http://schemas.microsoft.com/office/drawing/2014/main" id="{02B70E39-3F3E-169E-2F8F-6F59E4223BD3}"/>
              </a:ext>
            </a:extLst>
          </p:cNvPr>
          <p:cNvSpPr/>
          <p:nvPr/>
        </p:nvSpPr>
        <p:spPr>
          <a:xfrm>
            <a:off x="17962245" y="6534150"/>
            <a:ext cx="88900" cy="88900"/>
          </a:xfrm>
          <a:prstGeom prst="ellipse">
            <a:avLst/>
          </a:prstGeom>
          <a:solidFill>
            <a:srgbClr val="742774"/>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4" name="CuadroTexto 153">
            <a:extLst>
              <a:ext uri="{FF2B5EF4-FFF2-40B4-BE49-F238E27FC236}">
                <a16:creationId xmlns:a16="http://schemas.microsoft.com/office/drawing/2014/main" id="{7FA20983-7FA4-E2D4-57EC-42B2A8F707C7}"/>
              </a:ext>
            </a:extLst>
          </p:cNvPr>
          <p:cNvSpPr txBox="1"/>
          <p:nvPr/>
        </p:nvSpPr>
        <p:spPr>
          <a:xfrm>
            <a:off x="18076545" y="6438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Apps</a:t>
            </a:r>
          </a:p>
        </p:txBody>
      </p:sp>
      <p:sp>
        <p:nvSpPr>
          <p:cNvPr id="155" name="Rectángulo: esquinas redondeadas 154">
            <a:extLst>
              <a:ext uri="{FF2B5EF4-FFF2-40B4-BE49-F238E27FC236}">
                <a16:creationId xmlns:a16="http://schemas.microsoft.com/office/drawing/2014/main" id="{36FD24B3-3781-1F12-3D05-2BAEE4925D19}"/>
              </a:ext>
            </a:extLst>
          </p:cNvPr>
          <p:cNvSpPr/>
          <p:nvPr/>
        </p:nvSpPr>
        <p:spPr>
          <a:xfrm>
            <a:off x="17816195" y="6769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6" name="Elipse 155">
            <a:extLst>
              <a:ext uri="{FF2B5EF4-FFF2-40B4-BE49-F238E27FC236}">
                <a16:creationId xmlns:a16="http://schemas.microsoft.com/office/drawing/2014/main" id="{42E5A2AE-B895-EDB5-8239-2E439558D4C9}"/>
              </a:ext>
            </a:extLst>
          </p:cNvPr>
          <p:cNvSpPr/>
          <p:nvPr/>
        </p:nvSpPr>
        <p:spPr>
          <a:xfrm>
            <a:off x="17892395" y="68643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7" name="CuadroTexto 156">
            <a:extLst>
              <a:ext uri="{FF2B5EF4-FFF2-40B4-BE49-F238E27FC236}">
                <a16:creationId xmlns:a16="http://schemas.microsoft.com/office/drawing/2014/main" id="{C2CF8AC7-D7CD-F5E0-B8E5-B7DAAAD3E6A8}"/>
              </a:ext>
            </a:extLst>
          </p:cNvPr>
          <p:cNvSpPr txBox="1"/>
          <p:nvPr/>
        </p:nvSpPr>
        <p:spPr>
          <a:xfrm>
            <a:off x="18006695" y="6769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Power Automate</a:t>
            </a:r>
          </a:p>
        </p:txBody>
      </p:sp>
      <p:sp>
        <p:nvSpPr>
          <p:cNvPr id="158" name="Rectángulo: esquinas redondeadas 157">
            <a:extLst>
              <a:ext uri="{FF2B5EF4-FFF2-40B4-BE49-F238E27FC236}">
                <a16:creationId xmlns:a16="http://schemas.microsoft.com/office/drawing/2014/main" id="{3A3F28FD-D5D1-2D68-5302-EF656CA752E3}"/>
              </a:ext>
            </a:extLst>
          </p:cNvPr>
          <p:cNvSpPr/>
          <p:nvPr/>
        </p:nvSpPr>
        <p:spPr>
          <a:xfrm>
            <a:off x="17763489" y="9309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9" name="CuadroTexto 158">
            <a:extLst>
              <a:ext uri="{FF2B5EF4-FFF2-40B4-BE49-F238E27FC236}">
                <a16:creationId xmlns:a16="http://schemas.microsoft.com/office/drawing/2014/main" id="{402DCFCC-6896-8B60-0C02-C01092BB4DA7}"/>
              </a:ext>
            </a:extLst>
          </p:cNvPr>
          <p:cNvSpPr txBox="1"/>
          <p:nvPr/>
        </p:nvSpPr>
        <p:spPr>
          <a:xfrm>
            <a:off x="17801589"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Aprueba cambio</a:t>
            </a:r>
          </a:p>
          <a:p>
            <a:pPr algn="ctr"/>
            <a:r>
              <a:rPr lang="es-PE" sz="1450" b="1">
                <a:solidFill>
                  <a:srgbClr val="182949"/>
                </a:solidFill>
                <a:latin typeface="Haas Grot Disp 75 Bold"/>
              </a:rPr>
              <a:t>KP + Jefatura</a:t>
            </a:r>
          </a:p>
        </p:txBody>
      </p:sp>
      <p:sp>
        <p:nvSpPr>
          <p:cNvPr id="160" name="Rectángulo: esquinas redondeadas 159">
            <a:extLst>
              <a:ext uri="{FF2B5EF4-FFF2-40B4-BE49-F238E27FC236}">
                <a16:creationId xmlns:a16="http://schemas.microsoft.com/office/drawing/2014/main" id="{BB183B0D-EBE8-ECF8-4AC5-2BDA4727FFE0}"/>
              </a:ext>
            </a:extLst>
          </p:cNvPr>
          <p:cNvSpPr/>
          <p:nvPr/>
        </p:nvSpPr>
        <p:spPr>
          <a:xfrm>
            <a:off x="1781619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1" name="Elipse 160">
            <a:extLst>
              <a:ext uri="{FF2B5EF4-FFF2-40B4-BE49-F238E27FC236}">
                <a16:creationId xmlns:a16="http://schemas.microsoft.com/office/drawing/2014/main" id="{7AE7374A-7CCE-C1E4-3245-121ECFD7C26F}"/>
              </a:ext>
            </a:extLst>
          </p:cNvPr>
          <p:cNvSpPr/>
          <p:nvPr/>
        </p:nvSpPr>
        <p:spPr>
          <a:xfrm>
            <a:off x="1789239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2" name="CuadroTexto 161">
            <a:extLst>
              <a:ext uri="{FF2B5EF4-FFF2-40B4-BE49-F238E27FC236}">
                <a16:creationId xmlns:a16="http://schemas.microsoft.com/office/drawing/2014/main" id="{957A43EE-AA05-BC58-D062-169F08E4DB11}"/>
              </a:ext>
            </a:extLst>
          </p:cNvPr>
          <p:cNvSpPr txBox="1"/>
          <p:nvPr/>
        </p:nvSpPr>
        <p:spPr>
          <a:xfrm>
            <a:off x="1800669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63" name="Rectángulo: esquinas redondeadas 162">
            <a:extLst>
              <a:ext uri="{FF2B5EF4-FFF2-40B4-BE49-F238E27FC236}">
                <a16:creationId xmlns:a16="http://schemas.microsoft.com/office/drawing/2014/main" id="{3B9F1109-F87F-062E-9EBF-44DB1F14E358}"/>
              </a:ext>
            </a:extLst>
          </p:cNvPr>
          <p:cNvSpPr/>
          <p:nvPr/>
        </p:nvSpPr>
        <p:spPr>
          <a:xfrm>
            <a:off x="18019395" y="103251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4" name="Elipse 163">
            <a:extLst>
              <a:ext uri="{FF2B5EF4-FFF2-40B4-BE49-F238E27FC236}">
                <a16:creationId xmlns:a16="http://schemas.microsoft.com/office/drawing/2014/main" id="{EAEE7A1D-3453-143F-4B63-AF73EA48E2C1}"/>
              </a:ext>
            </a:extLst>
          </p:cNvPr>
          <p:cNvSpPr/>
          <p:nvPr/>
        </p:nvSpPr>
        <p:spPr>
          <a:xfrm>
            <a:off x="18095595" y="10420350"/>
            <a:ext cx="88900" cy="88900"/>
          </a:xfrm>
          <a:prstGeom prst="ellipse">
            <a:avLst/>
          </a:prstGeom>
          <a:solidFill>
            <a:srgbClr val="0F6CBD"/>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5" name="CuadroTexto 164">
            <a:extLst>
              <a:ext uri="{FF2B5EF4-FFF2-40B4-BE49-F238E27FC236}">
                <a16:creationId xmlns:a16="http://schemas.microsoft.com/office/drawing/2014/main" id="{D3D6492B-9408-D2E6-563D-770D7C07C152}"/>
              </a:ext>
            </a:extLst>
          </p:cNvPr>
          <p:cNvSpPr txBox="1"/>
          <p:nvPr/>
        </p:nvSpPr>
        <p:spPr>
          <a:xfrm>
            <a:off x="18209895" y="103251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Outlook</a:t>
            </a:r>
          </a:p>
        </p:txBody>
      </p:sp>
    </p:spTree>
    <p:extLst>
      <p:ext uri="{BB962C8B-B14F-4D97-AF65-F5344CB8AC3E}">
        <p14:creationId xmlns:p14="http://schemas.microsoft.com/office/powerpoint/2010/main" val="3203101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App web · Supabase · Adobe · GitLab — MVP ya construido</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Opción 2: Fuera de Microsoft</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33199351-5161-3870-61B2-EEF709818548}"/>
              </a:ext>
            </a:extLst>
          </p:cNvPr>
          <p:cNvSpPr/>
          <p:nvPr/>
        </p:nvSpPr>
        <p:spPr>
          <a:xfrm>
            <a:off x="762000" y="3810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Rectángulo 2">
            <a:extLst>
              <a:ext uri="{FF2B5EF4-FFF2-40B4-BE49-F238E27FC236}">
                <a16:creationId xmlns:a16="http://schemas.microsoft.com/office/drawing/2014/main" id="{F8A7CC1C-34F7-C2F9-72F0-1E36F974DE77}"/>
              </a:ext>
            </a:extLst>
          </p:cNvPr>
          <p:cNvSpPr/>
          <p:nvPr/>
        </p:nvSpPr>
        <p:spPr>
          <a:xfrm>
            <a:off x="762000" y="3810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 name="CuadroTexto 3">
            <a:extLst>
              <a:ext uri="{FF2B5EF4-FFF2-40B4-BE49-F238E27FC236}">
                <a16:creationId xmlns:a16="http://schemas.microsoft.com/office/drawing/2014/main" id="{241FFAA8-E60B-F70D-0246-815AFEDCA309}"/>
              </a:ext>
            </a:extLst>
          </p:cNvPr>
          <p:cNvSpPr txBox="1"/>
          <p:nvPr/>
        </p:nvSpPr>
        <p:spPr>
          <a:xfrm>
            <a:off x="939800" y="3810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Operaciones</a:t>
            </a:r>
          </a:p>
          <a:p>
            <a:pPr algn="l"/>
            <a:r>
              <a:rPr lang="es-PE" sz="1300">
                <a:solidFill>
                  <a:srgbClr val="FFFFFF"/>
                </a:solidFill>
                <a:latin typeface="Haas Grot Disp 55 Roman" panose="020D0504030502050203"/>
              </a:rPr>
              <a:t>y Cadista</a:t>
            </a:r>
          </a:p>
        </p:txBody>
      </p:sp>
      <p:sp>
        <p:nvSpPr>
          <p:cNvPr id="5" name="Rectángulo 4">
            <a:extLst>
              <a:ext uri="{FF2B5EF4-FFF2-40B4-BE49-F238E27FC236}">
                <a16:creationId xmlns:a16="http://schemas.microsoft.com/office/drawing/2014/main" id="{1666E928-223D-7530-376A-F707816A33F9}"/>
              </a:ext>
            </a:extLst>
          </p:cNvPr>
          <p:cNvSpPr/>
          <p:nvPr/>
        </p:nvSpPr>
        <p:spPr>
          <a:xfrm>
            <a:off x="762000" y="5588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Rectángulo 5">
            <a:extLst>
              <a:ext uri="{FF2B5EF4-FFF2-40B4-BE49-F238E27FC236}">
                <a16:creationId xmlns:a16="http://schemas.microsoft.com/office/drawing/2014/main" id="{1CA9C892-CF57-4FC8-5A7E-2BA51ADB6D2B}"/>
              </a:ext>
            </a:extLst>
          </p:cNvPr>
          <p:cNvSpPr/>
          <p:nvPr/>
        </p:nvSpPr>
        <p:spPr>
          <a:xfrm>
            <a:off x="762000" y="5588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0ECE5F9F-7960-5E8E-0CF2-AFB435662F9E}"/>
              </a:ext>
            </a:extLst>
          </p:cNvPr>
          <p:cNvSpPr txBox="1"/>
          <p:nvPr/>
        </p:nvSpPr>
        <p:spPr>
          <a:xfrm>
            <a:off x="939800" y="5588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Calidad</a:t>
            </a:r>
          </a:p>
          <a:p>
            <a:pPr algn="l"/>
            <a:r>
              <a:rPr lang="es-PE" sz="1300">
                <a:solidFill>
                  <a:srgbClr val="FFFFFF"/>
                </a:solidFill>
                <a:latin typeface="Haas Grot Disp 55 Roman" panose="020D0504030502050203"/>
              </a:rPr>
              <a:t>Stracon</a:t>
            </a:r>
          </a:p>
        </p:txBody>
      </p:sp>
      <p:sp>
        <p:nvSpPr>
          <p:cNvPr id="33" name="Rectángulo 32">
            <a:extLst>
              <a:ext uri="{FF2B5EF4-FFF2-40B4-BE49-F238E27FC236}">
                <a16:creationId xmlns:a16="http://schemas.microsoft.com/office/drawing/2014/main" id="{EC48DCF9-D9F8-9A8C-3031-21766549B538}"/>
              </a:ext>
            </a:extLst>
          </p:cNvPr>
          <p:cNvSpPr/>
          <p:nvPr/>
        </p:nvSpPr>
        <p:spPr>
          <a:xfrm>
            <a:off x="762000" y="7366000"/>
            <a:ext cx="18580100" cy="177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Rectángulo 35">
            <a:extLst>
              <a:ext uri="{FF2B5EF4-FFF2-40B4-BE49-F238E27FC236}">
                <a16:creationId xmlns:a16="http://schemas.microsoft.com/office/drawing/2014/main" id="{B7B5A632-C23E-1D4A-14A0-C9F2638AF683}"/>
              </a:ext>
            </a:extLst>
          </p:cNvPr>
          <p:cNvSpPr/>
          <p:nvPr/>
        </p:nvSpPr>
        <p:spPr>
          <a:xfrm>
            <a:off x="762000" y="7366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a:extLst>
              <a:ext uri="{FF2B5EF4-FFF2-40B4-BE49-F238E27FC236}">
                <a16:creationId xmlns:a16="http://schemas.microsoft.com/office/drawing/2014/main" id="{9ADFAD7C-1DB0-BD15-B343-79B17EC36DFB}"/>
              </a:ext>
            </a:extLst>
          </p:cNvPr>
          <p:cNvSpPr txBox="1"/>
          <p:nvPr/>
        </p:nvSpPr>
        <p:spPr>
          <a:xfrm>
            <a:off x="939800" y="7366000"/>
            <a:ext cx="1447800" cy="369332"/>
          </a:xfrm>
          <a:prstGeom prst="rect">
            <a:avLst/>
          </a:prstGeom>
          <a:noFill/>
        </p:spPr>
        <p:txBody>
          <a:bodyPr vert="horz" wrap="square" lIns="0" tIns="0" rIns="0" bIns="0" rtlCol="0" anchor="ctr">
            <a:noAutofit/>
          </a:bodyPr>
          <a:lstStyle/>
          <a:p>
            <a:pPr algn="l"/>
            <a:r>
              <a:rPr lang="es-PE" sz="1700" b="1">
                <a:solidFill>
                  <a:srgbClr val="FFFFFF"/>
                </a:solidFill>
                <a:latin typeface="Haas Grot Disp 75 Bold"/>
              </a:rPr>
              <a:t>Automatización</a:t>
            </a:r>
          </a:p>
          <a:p>
            <a:pPr algn="l"/>
            <a:r>
              <a:rPr lang="es-PE" sz="1300">
                <a:solidFill>
                  <a:srgbClr val="FFFFFF"/>
                </a:solidFill>
                <a:latin typeface="Haas Grot Disp 55 Roman" panose="020D0504030502050203"/>
              </a:rPr>
              <a:t>del sistema</a:t>
            </a:r>
          </a:p>
        </p:txBody>
      </p:sp>
      <p:sp>
        <p:nvSpPr>
          <p:cNvPr id="38" name="Rectángulo 37">
            <a:extLst>
              <a:ext uri="{FF2B5EF4-FFF2-40B4-BE49-F238E27FC236}">
                <a16:creationId xmlns:a16="http://schemas.microsoft.com/office/drawing/2014/main" id="{B4B93E73-FE86-F010-6B0B-18E357C287C4}"/>
              </a:ext>
            </a:extLst>
          </p:cNvPr>
          <p:cNvSpPr/>
          <p:nvPr/>
        </p:nvSpPr>
        <p:spPr>
          <a:xfrm>
            <a:off x="762000" y="9144000"/>
            <a:ext cx="18580100" cy="1778000"/>
          </a:xfrm>
          <a:prstGeom prst="rect">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Rectángulo 38">
            <a:extLst>
              <a:ext uri="{FF2B5EF4-FFF2-40B4-BE49-F238E27FC236}">
                <a16:creationId xmlns:a16="http://schemas.microsoft.com/office/drawing/2014/main" id="{8A7088C0-2735-7F84-B40E-F2D22DC7191A}"/>
              </a:ext>
            </a:extLst>
          </p:cNvPr>
          <p:cNvSpPr/>
          <p:nvPr/>
        </p:nvSpPr>
        <p:spPr>
          <a:xfrm>
            <a:off x="762000" y="9144000"/>
            <a:ext cx="1752600" cy="1778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6ABBD14D-8D93-6711-FAD2-2D4440008C68}"/>
              </a:ext>
            </a:extLst>
          </p:cNvPr>
          <p:cNvSpPr txBox="1"/>
          <p:nvPr/>
        </p:nvSpPr>
        <p:spPr>
          <a:xfrm>
            <a:off x="939800" y="9144000"/>
            <a:ext cx="1447800" cy="369332"/>
          </a:xfrm>
          <a:prstGeom prst="rect">
            <a:avLst/>
          </a:prstGeom>
          <a:noFill/>
        </p:spPr>
        <p:txBody>
          <a:bodyPr vert="horz" wrap="square" lIns="0" tIns="0" rIns="0" bIns="0" rtlCol="0" anchor="ctr">
            <a:noAutofit/>
          </a:bodyPr>
          <a:lstStyle/>
          <a:p>
            <a:pPr algn="l"/>
            <a:r>
              <a:rPr lang="en-US" sz="1700" b="1">
                <a:solidFill>
                  <a:srgbClr val="FFFFFF"/>
                </a:solidFill>
                <a:latin typeface="Haas Grot Disp 75 Bold"/>
              </a:rPr>
              <a:t>Knight Piésold</a:t>
            </a:r>
          </a:p>
          <a:p>
            <a:pPr algn="l"/>
            <a:r>
              <a:rPr lang="en-US" sz="1300">
                <a:solidFill>
                  <a:srgbClr val="FFFFFF"/>
                </a:solidFill>
                <a:latin typeface="Haas Grot Disp 55 Roman" panose="020D0504030502050203"/>
              </a:rPr>
              <a:t>o Hudbay (externo)</a:t>
            </a:r>
            <a:endParaRPr lang="es-PE" sz="1300">
              <a:solidFill>
                <a:srgbClr val="FFFFFF"/>
              </a:solidFill>
              <a:latin typeface="Haas Grot Disp 55 Roman" panose="020D0504030502050203"/>
            </a:endParaRPr>
          </a:p>
        </p:txBody>
      </p:sp>
      <p:cxnSp>
        <p:nvCxnSpPr>
          <p:cNvPr id="41" name="Conector recto 40">
            <a:extLst>
              <a:ext uri="{FF2B5EF4-FFF2-40B4-BE49-F238E27FC236}">
                <a16:creationId xmlns:a16="http://schemas.microsoft.com/office/drawing/2014/main" id="{D58553D6-7CDF-3ACA-4098-5732981044B7}"/>
              </a:ext>
            </a:extLst>
          </p:cNvPr>
          <p:cNvCxnSpPr/>
          <p:nvPr/>
        </p:nvCxnSpPr>
        <p:spPr>
          <a:xfrm>
            <a:off x="4245610" y="4699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108D2524-20C9-9B67-0719-E6B0BCFB8A13}"/>
              </a:ext>
            </a:extLst>
          </p:cNvPr>
          <p:cNvCxnSpPr/>
          <p:nvPr/>
        </p:nvCxnSpPr>
        <p:spPr>
          <a:xfrm>
            <a:off x="4334510" y="4699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9F63694B-8852-75A3-2D3A-43C0D979B271}"/>
              </a:ext>
            </a:extLst>
          </p:cNvPr>
          <p:cNvCxnSpPr/>
          <p:nvPr/>
        </p:nvCxnSpPr>
        <p:spPr>
          <a:xfrm>
            <a:off x="433451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84B3ECEB-8BCE-7CAC-12DC-5FD3D8155A02}"/>
              </a:ext>
            </a:extLst>
          </p:cNvPr>
          <p:cNvCxnSpPr/>
          <p:nvPr/>
        </p:nvCxnSpPr>
        <p:spPr>
          <a:xfrm>
            <a:off x="5168265" y="5422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A2C3E7CA-02BB-E7F7-1F23-CC16364E5EE1}"/>
              </a:ext>
            </a:extLst>
          </p:cNvPr>
          <p:cNvCxnSpPr/>
          <p:nvPr/>
        </p:nvCxnSpPr>
        <p:spPr>
          <a:xfrm>
            <a:off x="5913120"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BD386308-BD58-2C4F-690A-78AEBC9A4ADF}"/>
              </a:ext>
            </a:extLst>
          </p:cNvPr>
          <p:cNvCxnSpPr/>
          <p:nvPr/>
        </p:nvCxnSpPr>
        <p:spPr>
          <a:xfrm>
            <a:off x="7546975" y="6477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00001885-9E98-2284-D2A7-751E8F750F20}"/>
              </a:ext>
            </a:extLst>
          </p:cNvPr>
          <p:cNvSpPr txBox="1"/>
          <p:nvPr/>
        </p:nvSpPr>
        <p:spPr>
          <a:xfrm>
            <a:off x="7543698" y="6228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48" name="Conector recto 47">
            <a:extLst>
              <a:ext uri="{FF2B5EF4-FFF2-40B4-BE49-F238E27FC236}">
                <a16:creationId xmlns:a16="http://schemas.microsoft.com/office/drawing/2014/main" id="{8745E360-D062-D103-23C5-43D98C5A9AFC}"/>
              </a:ext>
            </a:extLst>
          </p:cNvPr>
          <p:cNvCxnSpPr/>
          <p:nvPr/>
        </p:nvCxnSpPr>
        <p:spPr>
          <a:xfrm>
            <a:off x="6835775" y="6985000"/>
            <a:ext cx="0" cy="3048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CBE99501-B4FA-DA86-1BD6-D2929E290DD5}"/>
              </a:ext>
            </a:extLst>
          </p:cNvPr>
          <p:cNvCxnSpPr/>
          <p:nvPr/>
        </p:nvCxnSpPr>
        <p:spPr>
          <a:xfrm flipH="1">
            <a:off x="5447665" y="7289800"/>
            <a:ext cx="138811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50" name="Conector recto 49">
            <a:extLst>
              <a:ext uri="{FF2B5EF4-FFF2-40B4-BE49-F238E27FC236}">
                <a16:creationId xmlns:a16="http://schemas.microsoft.com/office/drawing/2014/main" id="{26FB0F1E-A559-186E-7F61-EAAFB4951791}"/>
              </a:ext>
            </a:extLst>
          </p:cNvPr>
          <p:cNvCxnSpPr/>
          <p:nvPr/>
        </p:nvCxnSpPr>
        <p:spPr>
          <a:xfrm flipV="1">
            <a:off x="5447665" y="72009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2CDE418A-3C41-314A-E0BA-3E4609E5977A}"/>
              </a:ext>
            </a:extLst>
          </p:cNvPr>
          <p:cNvSpPr txBox="1"/>
          <p:nvPr/>
        </p:nvSpPr>
        <p:spPr>
          <a:xfrm>
            <a:off x="6006943" y="7193620"/>
            <a:ext cx="294954"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a:t>
            </a:r>
          </a:p>
        </p:txBody>
      </p:sp>
      <p:cxnSp>
        <p:nvCxnSpPr>
          <p:cNvPr id="52" name="Conector recto 51">
            <a:extLst>
              <a:ext uri="{FF2B5EF4-FFF2-40B4-BE49-F238E27FC236}">
                <a16:creationId xmlns:a16="http://schemas.microsoft.com/office/drawing/2014/main" id="{A89A4A6C-242B-C622-E3DB-098446115342}"/>
              </a:ext>
            </a:extLst>
          </p:cNvPr>
          <p:cNvCxnSpPr/>
          <p:nvPr/>
        </p:nvCxnSpPr>
        <p:spPr>
          <a:xfrm>
            <a:off x="9248140" y="6477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87929140-DE26-306B-4B02-FE5677E537F8}"/>
              </a:ext>
            </a:extLst>
          </p:cNvPr>
          <p:cNvCxnSpPr/>
          <p:nvPr/>
        </p:nvCxnSpPr>
        <p:spPr>
          <a:xfrm>
            <a:off x="933704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6E0B217B-464C-AFB6-FCA2-692B133FC3C7}"/>
              </a:ext>
            </a:extLst>
          </p:cNvPr>
          <p:cNvCxnSpPr/>
          <p:nvPr/>
        </p:nvCxnSpPr>
        <p:spPr>
          <a:xfrm>
            <a:off x="9337040" y="8255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EDB86A78-5BC9-5157-8CDA-128DBFE94224}"/>
              </a:ext>
            </a:extLst>
          </p:cNvPr>
          <p:cNvCxnSpPr/>
          <p:nvPr/>
        </p:nvCxnSpPr>
        <p:spPr>
          <a:xfrm>
            <a:off x="10915650" y="8255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53978F6B-53D1-E26B-FAEF-5F678CB4B375}"/>
              </a:ext>
            </a:extLst>
          </p:cNvPr>
          <p:cNvCxnSpPr/>
          <p:nvPr/>
        </p:nvCxnSpPr>
        <p:spPr>
          <a:xfrm>
            <a:off x="1183830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872BF21D-FF46-A263-45A6-AF42EED96CDA}"/>
              </a:ext>
            </a:extLst>
          </p:cNvPr>
          <p:cNvCxnSpPr/>
          <p:nvPr/>
        </p:nvCxnSpPr>
        <p:spPr>
          <a:xfrm>
            <a:off x="12583160" y="10033000"/>
            <a:ext cx="211455"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57">
            <a:extLst>
              <a:ext uri="{FF2B5EF4-FFF2-40B4-BE49-F238E27FC236}">
                <a16:creationId xmlns:a16="http://schemas.microsoft.com/office/drawing/2014/main" id="{C082F76D-9FC4-E410-89A4-0C9A2FE156A4}"/>
              </a:ext>
            </a:extLst>
          </p:cNvPr>
          <p:cNvCxnSpPr/>
          <p:nvPr/>
        </p:nvCxnSpPr>
        <p:spPr>
          <a:xfrm>
            <a:off x="14217014" y="10033000"/>
            <a:ext cx="211456"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59" name="CuadroTexto 58">
            <a:extLst>
              <a:ext uri="{FF2B5EF4-FFF2-40B4-BE49-F238E27FC236}">
                <a16:creationId xmlns:a16="http://schemas.microsoft.com/office/drawing/2014/main" id="{F95A5A10-D77A-D3D1-F65A-E28ECB39A1CC}"/>
              </a:ext>
            </a:extLst>
          </p:cNvPr>
          <p:cNvSpPr txBox="1"/>
          <p:nvPr/>
        </p:nvSpPr>
        <p:spPr>
          <a:xfrm>
            <a:off x="14213739" y="9784420"/>
            <a:ext cx="2180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Sí</a:t>
            </a:r>
          </a:p>
        </p:txBody>
      </p:sp>
      <p:cxnSp>
        <p:nvCxnSpPr>
          <p:cNvPr id="60" name="Conector recto 59">
            <a:extLst>
              <a:ext uri="{FF2B5EF4-FFF2-40B4-BE49-F238E27FC236}">
                <a16:creationId xmlns:a16="http://schemas.microsoft.com/office/drawing/2014/main" id="{E9842D5E-3AEA-EF81-3215-F286FB0ACA25}"/>
              </a:ext>
            </a:extLst>
          </p:cNvPr>
          <p:cNvCxnSpPr/>
          <p:nvPr/>
        </p:nvCxnSpPr>
        <p:spPr>
          <a:xfrm flipV="1">
            <a:off x="13505814" y="7200900"/>
            <a:ext cx="0" cy="23241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sp>
        <p:nvSpPr>
          <p:cNvPr id="61" name="CuadroTexto 60">
            <a:extLst>
              <a:ext uri="{FF2B5EF4-FFF2-40B4-BE49-F238E27FC236}">
                <a16:creationId xmlns:a16="http://schemas.microsoft.com/office/drawing/2014/main" id="{2F94882E-9DB1-AA6D-0BB2-0306EA6A02CB}"/>
              </a:ext>
            </a:extLst>
          </p:cNvPr>
          <p:cNvSpPr txBox="1"/>
          <p:nvPr/>
        </p:nvSpPr>
        <p:spPr>
          <a:xfrm>
            <a:off x="12943160" y="7549220"/>
            <a:ext cx="1125309"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No, con motivo</a:t>
            </a:r>
          </a:p>
        </p:txBody>
      </p:sp>
      <p:cxnSp>
        <p:nvCxnSpPr>
          <p:cNvPr id="62" name="Conector recto 61">
            <a:extLst>
              <a:ext uri="{FF2B5EF4-FFF2-40B4-BE49-F238E27FC236}">
                <a16:creationId xmlns:a16="http://schemas.microsoft.com/office/drawing/2014/main" id="{D8AC6F55-74EA-2FBB-8686-0816C567473E}"/>
              </a:ext>
            </a:extLst>
          </p:cNvPr>
          <p:cNvCxnSpPr/>
          <p:nvPr/>
        </p:nvCxnSpPr>
        <p:spPr>
          <a:xfrm flipV="1">
            <a:off x="13505814" y="5664200"/>
            <a:ext cx="0" cy="889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B6DCE69A-9682-F0B5-210B-4F1F76191ED7}"/>
              </a:ext>
            </a:extLst>
          </p:cNvPr>
          <p:cNvCxnSpPr/>
          <p:nvPr/>
        </p:nvCxnSpPr>
        <p:spPr>
          <a:xfrm flipH="1">
            <a:off x="8503285" y="5664200"/>
            <a:ext cx="5002529"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64" name="Conector recto 63">
            <a:extLst>
              <a:ext uri="{FF2B5EF4-FFF2-40B4-BE49-F238E27FC236}">
                <a16:creationId xmlns:a16="http://schemas.microsoft.com/office/drawing/2014/main" id="{088C5DA8-9CDD-A5C7-9229-96DC5F382FF2}"/>
              </a:ext>
            </a:extLst>
          </p:cNvPr>
          <p:cNvCxnSpPr/>
          <p:nvPr/>
        </p:nvCxnSpPr>
        <p:spPr>
          <a:xfrm>
            <a:off x="8503285" y="5664200"/>
            <a:ext cx="0" cy="889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CuadroTexto 64">
            <a:extLst>
              <a:ext uri="{FF2B5EF4-FFF2-40B4-BE49-F238E27FC236}">
                <a16:creationId xmlns:a16="http://schemas.microsoft.com/office/drawing/2014/main" id="{51D25708-0F34-EC4D-3A13-A862EF104AD1}"/>
              </a:ext>
            </a:extLst>
          </p:cNvPr>
          <p:cNvSpPr txBox="1"/>
          <p:nvPr/>
        </p:nvSpPr>
        <p:spPr>
          <a:xfrm>
            <a:off x="10433079" y="5568020"/>
            <a:ext cx="1142942" cy="192360"/>
          </a:xfrm>
          <a:prstGeom prst="rect">
            <a:avLst/>
          </a:prstGeom>
          <a:solidFill>
            <a:srgbClr val="FFFFFF"/>
          </a:solidFill>
        </p:spPr>
        <p:txBody>
          <a:bodyPr vert="horz" wrap="none" lIns="50800" tIns="0" rIns="50800" bIns="0" rtlCol="0" anchor="ctr">
            <a:spAutoFit/>
          </a:bodyPr>
          <a:lstStyle/>
          <a:p>
            <a:pPr algn="ctr"/>
            <a:r>
              <a:rPr lang="es-PE" sz="1250" b="1">
                <a:solidFill>
                  <a:srgbClr val="5C697C"/>
                </a:solidFill>
                <a:latin typeface="Haas Grot Disp 75 Bold"/>
              </a:rPr>
              <a:t>Reenvía a firma</a:t>
            </a:r>
          </a:p>
        </p:txBody>
      </p:sp>
      <p:cxnSp>
        <p:nvCxnSpPr>
          <p:cNvPr id="66" name="Conector recto 65">
            <a:extLst>
              <a:ext uri="{FF2B5EF4-FFF2-40B4-BE49-F238E27FC236}">
                <a16:creationId xmlns:a16="http://schemas.microsoft.com/office/drawing/2014/main" id="{3D64B7FD-DD8D-E19E-3E62-4934C1D21977}"/>
              </a:ext>
            </a:extLst>
          </p:cNvPr>
          <p:cNvCxnSpPr/>
          <p:nvPr/>
        </p:nvCxnSpPr>
        <p:spPr>
          <a:xfrm flipV="1">
            <a:off x="15173325" y="8978900"/>
            <a:ext cx="0" cy="330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E0D48CCF-7CD0-B806-D071-97561AFDFEAF}"/>
              </a:ext>
            </a:extLst>
          </p:cNvPr>
          <p:cNvCxnSpPr/>
          <p:nvPr/>
        </p:nvCxnSpPr>
        <p:spPr>
          <a:xfrm>
            <a:off x="15918180" y="8255000"/>
            <a:ext cx="88900" cy="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8" name="Conector recto 67">
            <a:extLst>
              <a:ext uri="{FF2B5EF4-FFF2-40B4-BE49-F238E27FC236}">
                <a16:creationId xmlns:a16="http://schemas.microsoft.com/office/drawing/2014/main" id="{3D312208-C3C1-0E4B-5657-CDBA340D4A79}"/>
              </a:ext>
            </a:extLst>
          </p:cNvPr>
          <p:cNvCxnSpPr/>
          <p:nvPr/>
        </p:nvCxnSpPr>
        <p:spPr>
          <a:xfrm flipV="1">
            <a:off x="16007080" y="6477000"/>
            <a:ext cx="0" cy="1778000"/>
          </a:xfrm>
          <a:prstGeom prst="line">
            <a:avLst/>
          </a:prstGeom>
          <a:ln w="19050">
            <a:solidFill>
              <a:srgbClr val="5C697C"/>
            </a:solidFill>
          </a:ln>
        </p:spPr>
        <p:style>
          <a:lnRef idx="1">
            <a:schemeClr val="accent1"/>
          </a:lnRef>
          <a:fillRef idx="0">
            <a:schemeClr val="accent1"/>
          </a:fillRef>
          <a:effectRef idx="0">
            <a:schemeClr val="accent1"/>
          </a:effectRef>
          <a:fontRef idx="minor">
            <a:schemeClr val="tx1"/>
          </a:fontRef>
        </p:style>
      </p:cxnSp>
      <p:cxnSp>
        <p:nvCxnSpPr>
          <p:cNvPr id="69" name="Conector recto 68">
            <a:extLst>
              <a:ext uri="{FF2B5EF4-FFF2-40B4-BE49-F238E27FC236}">
                <a16:creationId xmlns:a16="http://schemas.microsoft.com/office/drawing/2014/main" id="{2F336B98-8628-79B1-4E2E-E533A960F825}"/>
              </a:ext>
            </a:extLst>
          </p:cNvPr>
          <p:cNvCxnSpPr/>
          <p:nvPr/>
        </p:nvCxnSpPr>
        <p:spPr>
          <a:xfrm>
            <a:off x="16007080" y="6477000"/>
            <a:ext cx="889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69">
            <a:extLst>
              <a:ext uri="{FF2B5EF4-FFF2-40B4-BE49-F238E27FC236}">
                <a16:creationId xmlns:a16="http://schemas.microsoft.com/office/drawing/2014/main" id="{981EA75A-5040-374C-FF7B-923D4EAB732A}"/>
              </a:ext>
            </a:extLst>
          </p:cNvPr>
          <p:cNvCxnSpPr/>
          <p:nvPr/>
        </p:nvCxnSpPr>
        <p:spPr>
          <a:xfrm>
            <a:off x="17585689" y="6477000"/>
            <a:ext cx="177800" cy="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ector recto 70">
            <a:extLst>
              <a:ext uri="{FF2B5EF4-FFF2-40B4-BE49-F238E27FC236}">
                <a16:creationId xmlns:a16="http://schemas.microsoft.com/office/drawing/2014/main" id="{A17DF023-481F-97DE-CDDE-78DDBEC3131B}"/>
              </a:ext>
            </a:extLst>
          </p:cNvPr>
          <p:cNvCxnSpPr/>
          <p:nvPr/>
        </p:nvCxnSpPr>
        <p:spPr>
          <a:xfrm>
            <a:off x="18508345" y="7200900"/>
            <a:ext cx="0" cy="2108200"/>
          </a:xfrm>
          <a:prstGeom prst="line">
            <a:avLst/>
          </a:prstGeom>
          <a:ln w="19050">
            <a:solidFill>
              <a:srgbClr val="5C697C"/>
            </a:solidFill>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E57201F4-5621-9C14-4014-237DA2D12AC9}"/>
              </a:ext>
            </a:extLst>
          </p:cNvPr>
          <p:cNvCxnSpPr/>
          <p:nvPr/>
        </p:nvCxnSpPr>
        <p:spPr>
          <a:xfrm>
            <a:off x="18508345" y="10756900"/>
            <a:ext cx="0" cy="10160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0D3AD1EE-F704-6249-C3D3-5A42BEC76929}"/>
              </a:ext>
            </a:extLst>
          </p:cNvPr>
          <p:cNvCxnSpPr/>
          <p:nvPr/>
        </p:nvCxnSpPr>
        <p:spPr>
          <a:xfrm flipH="1">
            <a:off x="4888865" y="10858500"/>
            <a:ext cx="13619480" cy="0"/>
          </a:xfrm>
          <a:prstGeom prst="line">
            <a:avLst/>
          </a:prstGeom>
          <a:ln w="19050">
            <a:solidFill>
              <a:srgbClr val="5C697C"/>
            </a:solidFill>
            <a:prstDash val="dash"/>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47E696CE-E4CA-2604-2A76-2EAB4831AD25}"/>
              </a:ext>
            </a:extLst>
          </p:cNvPr>
          <p:cNvCxnSpPr/>
          <p:nvPr/>
        </p:nvCxnSpPr>
        <p:spPr>
          <a:xfrm flipV="1">
            <a:off x="4888865" y="7200900"/>
            <a:ext cx="0" cy="3657600"/>
          </a:xfrm>
          <a:prstGeom prst="line">
            <a:avLst/>
          </a:prstGeom>
          <a:ln w="19050">
            <a:solidFill>
              <a:srgbClr val="5C697C"/>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5" name="CuadroTexto 74">
            <a:extLst>
              <a:ext uri="{FF2B5EF4-FFF2-40B4-BE49-F238E27FC236}">
                <a16:creationId xmlns:a16="http://schemas.microsoft.com/office/drawing/2014/main" id="{1EEFDA7A-CD49-D9A6-7DF5-F469E7A91CD6}"/>
              </a:ext>
            </a:extLst>
          </p:cNvPr>
          <p:cNvSpPr txBox="1"/>
          <p:nvPr/>
        </p:nvSpPr>
        <p:spPr>
          <a:xfrm>
            <a:off x="10628839" y="10762320"/>
            <a:ext cx="2418932" cy="192360"/>
          </a:xfrm>
          <a:prstGeom prst="rect">
            <a:avLst/>
          </a:prstGeom>
          <a:solidFill>
            <a:srgbClr val="FFFFFF"/>
          </a:solidFill>
        </p:spPr>
        <p:txBody>
          <a:bodyPr vert="horz" wrap="none" lIns="50800" tIns="0" rIns="50800" bIns="0" rtlCol="0" anchor="ctr">
            <a:spAutoFit/>
          </a:bodyPr>
          <a:lstStyle/>
          <a:p>
            <a:pPr algn="ctr"/>
            <a:r>
              <a:rPr lang="es-MX" sz="1250" b="1">
                <a:solidFill>
                  <a:srgbClr val="5C697C"/>
                </a:solidFill>
                <a:latin typeface="Haas Grot Disp 75 Bold"/>
              </a:rPr>
              <a:t>Aprobado: abre nueva versión V+1</a:t>
            </a:r>
            <a:endParaRPr lang="es-PE" sz="1250" b="1">
              <a:solidFill>
                <a:srgbClr val="5C697C"/>
              </a:solidFill>
              <a:latin typeface="Haas Grot Disp 75 Bold"/>
            </a:endParaRPr>
          </a:p>
        </p:txBody>
      </p:sp>
      <p:sp>
        <p:nvSpPr>
          <p:cNvPr id="76" name="Rectángulo: esquinas redondeadas 75">
            <a:extLst>
              <a:ext uri="{FF2B5EF4-FFF2-40B4-BE49-F238E27FC236}">
                <a16:creationId xmlns:a16="http://schemas.microsoft.com/office/drawing/2014/main" id="{C8024ECB-33D8-2FA1-39F1-CF3E4126890F}"/>
              </a:ext>
            </a:extLst>
          </p:cNvPr>
          <p:cNvSpPr/>
          <p:nvPr/>
        </p:nvSpPr>
        <p:spPr>
          <a:xfrm>
            <a:off x="275590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7" name="CuadroTexto 76">
            <a:extLst>
              <a:ext uri="{FF2B5EF4-FFF2-40B4-BE49-F238E27FC236}">
                <a16:creationId xmlns:a16="http://schemas.microsoft.com/office/drawing/2014/main" id="{F6083473-33C8-7DF3-CC6A-EA0FA334E622}"/>
              </a:ext>
            </a:extLst>
          </p:cNvPr>
          <p:cNvSpPr txBox="1"/>
          <p:nvPr/>
        </p:nvSpPr>
        <p:spPr>
          <a:xfrm>
            <a:off x="279400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protocolo</a:t>
            </a:r>
          </a:p>
        </p:txBody>
      </p:sp>
      <p:sp>
        <p:nvSpPr>
          <p:cNvPr id="78" name="Rectángulo: esquinas redondeadas 77">
            <a:extLst>
              <a:ext uri="{FF2B5EF4-FFF2-40B4-BE49-F238E27FC236}">
                <a16:creationId xmlns:a16="http://schemas.microsoft.com/office/drawing/2014/main" id="{FA1B84CB-79CC-A126-ACD7-C00CF2504B28}"/>
              </a:ext>
            </a:extLst>
          </p:cNvPr>
          <p:cNvSpPr/>
          <p:nvPr/>
        </p:nvSpPr>
        <p:spPr>
          <a:xfrm>
            <a:off x="3011805" y="4660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Elipse 78">
            <a:extLst>
              <a:ext uri="{FF2B5EF4-FFF2-40B4-BE49-F238E27FC236}">
                <a16:creationId xmlns:a16="http://schemas.microsoft.com/office/drawing/2014/main" id="{9F5507AE-43FE-5AAB-0AB0-A14E773AAA8E}"/>
              </a:ext>
            </a:extLst>
          </p:cNvPr>
          <p:cNvSpPr/>
          <p:nvPr/>
        </p:nvSpPr>
        <p:spPr>
          <a:xfrm>
            <a:off x="3088005" y="4756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0" name="CuadroTexto 79">
            <a:extLst>
              <a:ext uri="{FF2B5EF4-FFF2-40B4-BE49-F238E27FC236}">
                <a16:creationId xmlns:a16="http://schemas.microsoft.com/office/drawing/2014/main" id="{702D13E6-7794-7708-15E2-1EF810303DB2}"/>
              </a:ext>
            </a:extLst>
          </p:cNvPr>
          <p:cNvSpPr txBox="1"/>
          <p:nvPr/>
        </p:nvSpPr>
        <p:spPr>
          <a:xfrm>
            <a:off x="3202305" y="4660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81" name="Rectángulo: esquinas redondeadas 80">
            <a:extLst>
              <a:ext uri="{FF2B5EF4-FFF2-40B4-BE49-F238E27FC236}">
                <a16:creationId xmlns:a16="http://schemas.microsoft.com/office/drawing/2014/main" id="{D5B59C92-7B75-4587-FE6F-6BD6C2DFAEF8}"/>
              </a:ext>
            </a:extLst>
          </p:cNvPr>
          <p:cNvSpPr/>
          <p:nvPr/>
        </p:nvSpPr>
        <p:spPr>
          <a:xfrm>
            <a:off x="4423410" y="3975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CuadroTexto 81">
            <a:extLst>
              <a:ext uri="{FF2B5EF4-FFF2-40B4-BE49-F238E27FC236}">
                <a16:creationId xmlns:a16="http://schemas.microsoft.com/office/drawing/2014/main" id="{D874F666-7DC7-0E7B-0662-16C3CA4C927D}"/>
              </a:ext>
            </a:extLst>
          </p:cNvPr>
          <p:cNvSpPr txBox="1"/>
          <p:nvPr/>
        </p:nvSpPr>
        <p:spPr>
          <a:xfrm>
            <a:off x="4461510" y="4089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Reporte y plano</a:t>
            </a:r>
          </a:p>
          <a:p>
            <a:pPr algn="ctr"/>
            <a:r>
              <a:rPr lang="es-PE" sz="1450" b="1">
                <a:solidFill>
                  <a:srgbClr val="182949"/>
                </a:solidFill>
                <a:latin typeface="Haas Grot Disp 75 Bold"/>
              </a:rPr>
              <a:t>topográfico</a:t>
            </a:r>
          </a:p>
        </p:txBody>
      </p:sp>
      <p:sp>
        <p:nvSpPr>
          <p:cNvPr id="83" name="Rectángulo: esquinas redondeadas 82">
            <a:extLst>
              <a:ext uri="{FF2B5EF4-FFF2-40B4-BE49-F238E27FC236}">
                <a16:creationId xmlns:a16="http://schemas.microsoft.com/office/drawing/2014/main" id="{03E576F8-FBE5-A962-0E11-08BBBC65DA33}"/>
              </a:ext>
            </a:extLst>
          </p:cNvPr>
          <p:cNvSpPr/>
          <p:nvPr/>
        </p:nvSpPr>
        <p:spPr>
          <a:xfrm>
            <a:off x="4679315" y="4660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Elipse 83">
            <a:extLst>
              <a:ext uri="{FF2B5EF4-FFF2-40B4-BE49-F238E27FC236}">
                <a16:creationId xmlns:a16="http://schemas.microsoft.com/office/drawing/2014/main" id="{A9896A84-41FD-C863-21CE-D21DBCD34D87}"/>
              </a:ext>
            </a:extLst>
          </p:cNvPr>
          <p:cNvSpPr/>
          <p:nvPr/>
        </p:nvSpPr>
        <p:spPr>
          <a:xfrm>
            <a:off x="4755515" y="4756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5" name="CuadroTexto 84">
            <a:extLst>
              <a:ext uri="{FF2B5EF4-FFF2-40B4-BE49-F238E27FC236}">
                <a16:creationId xmlns:a16="http://schemas.microsoft.com/office/drawing/2014/main" id="{1E2E2ADB-FF9C-4320-FA4A-4BEEE4969B32}"/>
              </a:ext>
            </a:extLst>
          </p:cNvPr>
          <p:cNvSpPr txBox="1"/>
          <p:nvPr/>
        </p:nvSpPr>
        <p:spPr>
          <a:xfrm>
            <a:off x="4869815" y="4660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86" name="Rectángulo: esquinas redondeadas 85">
            <a:extLst>
              <a:ext uri="{FF2B5EF4-FFF2-40B4-BE49-F238E27FC236}">
                <a16:creationId xmlns:a16="http://schemas.microsoft.com/office/drawing/2014/main" id="{DC2518F0-A014-8555-8FF9-CAC24A886595}"/>
              </a:ext>
            </a:extLst>
          </p:cNvPr>
          <p:cNvSpPr/>
          <p:nvPr/>
        </p:nvSpPr>
        <p:spPr>
          <a:xfrm>
            <a:off x="4634865" y="49911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7" name="Elipse 86">
            <a:extLst>
              <a:ext uri="{FF2B5EF4-FFF2-40B4-BE49-F238E27FC236}">
                <a16:creationId xmlns:a16="http://schemas.microsoft.com/office/drawing/2014/main" id="{0CC5FD95-EC99-C806-946E-1EDD26C63A34}"/>
              </a:ext>
            </a:extLst>
          </p:cNvPr>
          <p:cNvSpPr/>
          <p:nvPr/>
        </p:nvSpPr>
        <p:spPr>
          <a:xfrm>
            <a:off x="4711065" y="50863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8" name="CuadroTexto 87">
            <a:extLst>
              <a:ext uri="{FF2B5EF4-FFF2-40B4-BE49-F238E27FC236}">
                <a16:creationId xmlns:a16="http://schemas.microsoft.com/office/drawing/2014/main" id="{1BD4691D-5F1F-84D4-0F6D-D4DE5BBDB29E}"/>
              </a:ext>
            </a:extLst>
          </p:cNvPr>
          <p:cNvSpPr txBox="1"/>
          <p:nvPr/>
        </p:nvSpPr>
        <p:spPr>
          <a:xfrm>
            <a:off x="4825365" y="49911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89" name="Rectángulo: esquinas redondeadas 88">
            <a:extLst>
              <a:ext uri="{FF2B5EF4-FFF2-40B4-BE49-F238E27FC236}">
                <a16:creationId xmlns:a16="http://schemas.microsoft.com/office/drawing/2014/main" id="{441585F7-60A9-99DE-230F-2975973265D1}"/>
              </a:ext>
            </a:extLst>
          </p:cNvPr>
          <p:cNvSpPr/>
          <p:nvPr/>
        </p:nvSpPr>
        <p:spPr>
          <a:xfrm>
            <a:off x="442341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CuadroTexto 89">
            <a:extLst>
              <a:ext uri="{FF2B5EF4-FFF2-40B4-BE49-F238E27FC236}">
                <a16:creationId xmlns:a16="http://schemas.microsoft.com/office/drawing/2014/main" id="{2F8B3070-FD41-579C-B115-1861F8DB3B66}"/>
              </a:ext>
            </a:extLst>
          </p:cNvPr>
          <p:cNvSpPr txBox="1"/>
          <p:nvPr/>
        </p:nvSpPr>
        <p:spPr>
          <a:xfrm>
            <a:off x="446151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Llenado del</a:t>
            </a:r>
          </a:p>
          <a:p>
            <a:pPr algn="ctr"/>
            <a:r>
              <a:rPr lang="es-PE" sz="1450" b="1">
                <a:solidFill>
                  <a:srgbClr val="182949"/>
                </a:solidFill>
                <a:latin typeface="Haas Grot Disp 75 Bold"/>
              </a:rPr>
              <a:t>protocolo</a:t>
            </a:r>
          </a:p>
        </p:txBody>
      </p:sp>
      <p:sp>
        <p:nvSpPr>
          <p:cNvPr id="91" name="Rectángulo: esquinas redondeadas 90">
            <a:extLst>
              <a:ext uri="{FF2B5EF4-FFF2-40B4-BE49-F238E27FC236}">
                <a16:creationId xmlns:a16="http://schemas.microsoft.com/office/drawing/2014/main" id="{75CDA21A-E1F7-27DC-4FF0-FF357ED73F6B}"/>
              </a:ext>
            </a:extLst>
          </p:cNvPr>
          <p:cNvSpPr/>
          <p:nvPr/>
        </p:nvSpPr>
        <p:spPr>
          <a:xfrm>
            <a:off x="467931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Elipse 91">
            <a:extLst>
              <a:ext uri="{FF2B5EF4-FFF2-40B4-BE49-F238E27FC236}">
                <a16:creationId xmlns:a16="http://schemas.microsoft.com/office/drawing/2014/main" id="{BE80F6FE-BA79-B266-C427-1B1BE88758F1}"/>
              </a:ext>
            </a:extLst>
          </p:cNvPr>
          <p:cNvSpPr/>
          <p:nvPr/>
        </p:nvSpPr>
        <p:spPr>
          <a:xfrm>
            <a:off x="475551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CuadroTexto 92">
            <a:extLst>
              <a:ext uri="{FF2B5EF4-FFF2-40B4-BE49-F238E27FC236}">
                <a16:creationId xmlns:a16="http://schemas.microsoft.com/office/drawing/2014/main" id="{20FE85C5-CAF9-E218-4D40-949DE8B54AFF}"/>
              </a:ext>
            </a:extLst>
          </p:cNvPr>
          <p:cNvSpPr txBox="1"/>
          <p:nvPr/>
        </p:nvSpPr>
        <p:spPr>
          <a:xfrm>
            <a:off x="486981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94" name="Rombo 93">
            <a:extLst>
              <a:ext uri="{FF2B5EF4-FFF2-40B4-BE49-F238E27FC236}">
                <a16:creationId xmlns:a16="http://schemas.microsoft.com/office/drawing/2014/main" id="{BB4150EC-0836-F019-14A0-44B0012030FE}"/>
              </a:ext>
            </a:extLst>
          </p:cNvPr>
          <p:cNvSpPr/>
          <p:nvPr/>
        </p:nvSpPr>
        <p:spPr>
          <a:xfrm>
            <a:off x="6124575" y="5969000"/>
            <a:ext cx="1422400"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CuadroTexto 94">
            <a:extLst>
              <a:ext uri="{FF2B5EF4-FFF2-40B4-BE49-F238E27FC236}">
                <a16:creationId xmlns:a16="http://schemas.microsoft.com/office/drawing/2014/main" id="{F7277309-0CB4-FF58-DE32-7EEC9463FFCF}"/>
              </a:ext>
            </a:extLst>
          </p:cNvPr>
          <p:cNvSpPr txBox="1"/>
          <p:nvPr/>
        </p:nvSpPr>
        <p:spPr>
          <a:xfrm>
            <a:off x="6073775" y="6324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¿Completo?</a:t>
            </a:r>
          </a:p>
        </p:txBody>
      </p:sp>
      <p:sp>
        <p:nvSpPr>
          <p:cNvPr id="96" name="Rectángulo: esquinas redondeadas 95">
            <a:extLst>
              <a:ext uri="{FF2B5EF4-FFF2-40B4-BE49-F238E27FC236}">
                <a16:creationId xmlns:a16="http://schemas.microsoft.com/office/drawing/2014/main" id="{28F8604E-6FBE-744B-7FDC-67765B2AC184}"/>
              </a:ext>
            </a:extLst>
          </p:cNvPr>
          <p:cNvSpPr/>
          <p:nvPr/>
        </p:nvSpPr>
        <p:spPr>
          <a:xfrm>
            <a:off x="775843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CuadroTexto 96">
            <a:extLst>
              <a:ext uri="{FF2B5EF4-FFF2-40B4-BE49-F238E27FC236}">
                <a16:creationId xmlns:a16="http://schemas.microsoft.com/office/drawing/2014/main" id="{FFB2D0EC-5688-C3C9-BE03-68E93E536D90}"/>
              </a:ext>
            </a:extLst>
          </p:cNvPr>
          <p:cNvSpPr txBox="1"/>
          <p:nvPr/>
        </p:nvSpPr>
        <p:spPr>
          <a:xfrm>
            <a:off x="779653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Firmas internas</a:t>
            </a:r>
          </a:p>
          <a:p>
            <a:pPr algn="ctr"/>
            <a:r>
              <a:rPr lang="es-PE" sz="1450" b="1">
                <a:solidFill>
                  <a:srgbClr val="182949"/>
                </a:solidFill>
                <a:latin typeface="Haas Grot Disp 75 Bold"/>
              </a:rPr>
              <a:t>Elab. + Revisado</a:t>
            </a:r>
          </a:p>
        </p:txBody>
      </p:sp>
      <p:sp>
        <p:nvSpPr>
          <p:cNvPr id="98" name="Rectángulo: esquinas redondeadas 97">
            <a:extLst>
              <a:ext uri="{FF2B5EF4-FFF2-40B4-BE49-F238E27FC236}">
                <a16:creationId xmlns:a16="http://schemas.microsoft.com/office/drawing/2014/main" id="{B37B213F-C752-4D89-CA37-A5DABB05B9CB}"/>
              </a:ext>
            </a:extLst>
          </p:cNvPr>
          <p:cNvSpPr/>
          <p:nvPr/>
        </p:nvSpPr>
        <p:spPr>
          <a:xfrm>
            <a:off x="801433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9" name="Elipse 98">
            <a:extLst>
              <a:ext uri="{FF2B5EF4-FFF2-40B4-BE49-F238E27FC236}">
                <a16:creationId xmlns:a16="http://schemas.microsoft.com/office/drawing/2014/main" id="{A929CCBF-DADB-0D62-AE25-6F1027749DA3}"/>
              </a:ext>
            </a:extLst>
          </p:cNvPr>
          <p:cNvSpPr/>
          <p:nvPr/>
        </p:nvSpPr>
        <p:spPr>
          <a:xfrm>
            <a:off x="809053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0" name="CuadroTexto 99">
            <a:extLst>
              <a:ext uri="{FF2B5EF4-FFF2-40B4-BE49-F238E27FC236}">
                <a16:creationId xmlns:a16="http://schemas.microsoft.com/office/drawing/2014/main" id="{04EEECCC-C3CF-AC51-5CB5-11BE5F5E6648}"/>
              </a:ext>
            </a:extLst>
          </p:cNvPr>
          <p:cNvSpPr txBox="1"/>
          <p:nvPr/>
        </p:nvSpPr>
        <p:spPr>
          <a:xfrm>
            <a:off x="820483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01" name="Rectángulo: esquinas redondeadas 100">
            <a:extLst>
              <a:ext uri="{FF2B5EF4-FFF2-40B4-BE49-F238E27FC236}">
                <a16:creationId xmlns:a16="http://schemas.microsoft.com/office/drawing/2014/main" id="{04EB8297-F7E7-9A7E-4030-A3218019BCA6}"/>
              </a:ext>
            </a:extLst>
          </p:cNvPr>
          <p:cNvSpPr/>
          <p:nvPr/>
        </p:nvSpPr>
        <p:spPr>
          <a:xfrm>
            <a:off x="7969885" y="67691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2" name="Elipse 101">
            <a:extLst>
              <a:ext uri="{FF2B5EF4-FFF2-40B4-BE49-F238E27FC236}">
                <a16:creationId xmlns:a16="http://schemas.microsoft.com/office/drawing/2014/main" id="{9EC96EA4-02F4-E510-B6CA-5E961387FC46}"/>
              </a:ext>
            </a:extLst>
          </p:cNvPr>
          <p:cNvSpPr/>
          <p:nvPr/>
        </p:nvSpPr>
        <p:spPr>
          <a:xfrm>
            <a:off x="8046085" y="68643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3" name="CuadroTexto 102">
            <a:extLst>
              <a:ext uri="{FF2B5EF4-FFF2-40B4-BE49-F238E27FC236}">
                <a16:creationId xmlns:a16="http://schemas.microsoft.com/office/drawing/2014/main" id="{816BD667-CC05-78A3-BE17-F11D8AEA46D6}"/>
              </a:ext>
            </a:extLst>
          </p:cNvPr>
          <p:cNvSpPr txBox="1"/>
          <p:nvPr/>
        </p:nvSpPr>
        <p:spPr>
          <a:xfrm>
            <a:off x="8160385" y="67691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104" name="Rectángulo: esquinas redondeadas 103">
            <a:extLst>
              <a:ext uri="{FF2B5EF4-FFF2-40B4-BE49-F238E27FC236}">
                <a16:creationId xmlns:a16="http://schemas.microsoft.com/office/drawing/2014/main" id="{475974BF-A5AD-B5DB-7282-C26520393DC5}"/>
              </a:ext>
            </a:extLst>
          </p:cNvPr>
          <p:cNvSpPr/>
          <p:nvPr/>
        </p:nvSpPr>
        <p:spPr>
          <a:xfrm>
            <a:off x="942594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CuadroTexto 104">
            <a:extLst>
              <a:ext uri="{FF2B5EF4-FFF2-40B4-BE49-F238E27FC236}">
                <a16:creationId xmlns:a16="http://schemas.microsoft.com/office/drawing/2014/main" id="{7CC45D40-A43B-44B4-044C-F90D4DAA8CCA}"/>
              </a:ext>
            </a:extLst>
          </p:cNvPr>
          <p:cNvSpPr txBox="1"/>
          <p:nvPr/>
        </p:nvSpPr>
        <p:spPr>
          <a:xfrm>
            <a:off x="946404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PDF y unión</a:t>
            </a:r>
          </a:p>
          <a:p>
            <a:pPr algn="ctr"/>
            <a:r>
              <a:rPr lang="es-MX" sz="1450" b="1">
                <a:solidFill>
                  <a:srgbClr val="182949"/>
                </a:solidFill>
                <a:latin typeface="Haas Grot Disp 75 Bold"/>
              </a:rPr>
              <a:t>de adjuntos</a:t>
            </a:r>
            <a:endParaRPr lang="es-PE" sz="1450" b="1">
              <a:solidFill>
                <a:srgbClr val="182949"/>
              </a:solidFill>
              <a:latin typeface="Haas Grot Disp 75 Bold"/>
            </a:endParaRPr>
          </a:p>
        </p:txBody>
      </p:sp>
      <p:sp>
        <p:nvSpPr>
          <p:cNvPr id="106" name="Rectángulo: esquinas redondeadas 105">
            <a:extLst>
              <a:ext uri="{FF2B5EF4-FFF2-40B4-BE49-F238E27FC236}">
                <a16:creationId xmlns:a16="http://schemas.microsoft.com/office/drawing/2014/main" id="{775B4494-571B-12C8-80D6-906A8A42C49E}"/>
              </a:ext>
            </a:extLst>
          </p:cNvPr>
          <p:cNvSpPr/>
          <p:nvPr/>
        </p:nvSpPr>
        <p:spPr>
          <a:xfrm>
            <a:off x="947864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7" name="Elipse 106">
            <a:extLst>
              <a:ext uri="{FF2B5EF4-FFF2-40B4-BE49-F238E27FC236}">
                <a16:creationId xmlns:a16="http://schemas.microsoft.com/office/drawing/2014/main" id="{FAC52946-D5FF-D0A3-2A3E-098A12F216F8}"/>
              </a:ext>
            </a:extLst>
          </p:cNvPr>
          <p:cNvSpPr/>
          <p:nvPr/>
        </p:nvSpPr>
        <p:spPr>
          <a:xfrm>
            <a:off x="955484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8" name="CuadroTexto 107">
            <a:extLst>
              <a:ext uri="{FF2B5EF4-FFF2-40B4-BE49-F238E27FC236}">
                <a16:creationId xmlns:a16="http://schemas.microsoft.com/office/drawing/2014/main" id="{F3341E7E-7BF6-E186-2DF5-BC896A4E901F}"/>
              </a:ext>
            </a:extLst>
          </p:cNvPr>
          <p:cNvSpPr txBox="1"/>
          <p:nvPr/>
        </p:nvSpPr>
        <p:spPr>
          <a:xfrm>
            <a:off x="966914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Edge Function</a:t>
            </a:r>
          </a:p>
        </p:txBody>
      </p:sp>
      <p:sp>
        <p:nvSpPr>
          <p:cNvPr id="109" name="Rectángulo: esquinas redondeadas 108">
            <a:extLst>
              <a:ext uri="{FF2B5EF4-FFF2-40B4-BE49-F238E27FC236}">
                <a16:creationId xmlns:a16="http://schemas.microsoft.com/office/drawing/2014/main" id="{B66950A5-B8E4-235D-BDFD-1F387BDCBB50}"/>
              </a:ext>
            </a:extLst>
          </p:cNvPr>
          <p:cNvSpPr/>
          <p:nvPr/>
        </p:nvSpPr>
        <p:spPr>
          <a:xfrm>
            <a:off x="9478645" y="8547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0" name="Elipse 109">
            <a:extLst>
              <a:ext uri="{FF2B5EF4-FFF2-40B4-BE49-F238E27FC236}">
                <a16:creationId xmlns:a16="http://schemas.microsoft.com/office/drawing/2014/main" id="{0216E993-2BC3-7CC9-2921-F38A57CBFF79}"/>
              </a:ext>
            </a:extLst>
          </p:cNvPr>
          <p:cNvSpPr/>
          <p:nvPr/>
        </p:nvSpPr>
        <p:spPr>
          <a:xfrm>
            <a:off x="9554845" y="8642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1" name="CuadroTexto 110">
            <a:extLst>
              <a:ext uri="{FF2B5EF4-FFF2-40B4-BE49-F238E27FC236}">
                <a16:creationId xmlns:a16="http://schemas.microsoft.com/office/drawing/2014/main" id="{702531FB-0664-8CB1-9CD2-137C7FEDB4F2}"/>
              </a:ext>
            </a:extLst>
          </p:cNvPr>
          <p:cNvSpPr txBox="1"/>
          <p:nvPr/>
        </p:nvSpPr>
        <p:spPr>
          <a:xfrm>
            <a:off x="9669145" y="8547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PDF Services</a:t>
            </a:r>
          </a:p>
        </p:txBody>
      </p:sp>
      <p:sp>
        <p:nvSpPr>
          <p:cNvPr id="112" name="Rectángulo: esquinas redondeadas 111">
            <a:extLst>
              <a:ext uri="{FF2B5EF4-FFF2-40B4-BE49-F238E27FC236}">
                <a16:creationId xmlns:a16="http://schemas.microsoft.com/office/drawing/2014/main" id="{78A368C1-7C6E-C026-E9EA-8E2CF1426B2A}"/>
              </a:ext>
            </a:extLst>
          </p:cNvPr>
          <p:cNvSpPr/>
          <p:nvPr/>
        </p:nvSpPr>
        <p:spPr>
          <a:xfrm>
            <a:off x="1109345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3" name="CuadroTexto 112">
            <a:extLst>
              <a:ext uri="{FF2B5EF4-FFF2-40B4-BE49-F238E27FC236}">
                <a16:creationId xmlns:a16="http://schemas.microsoft.com/office/drawing/2014/main" id="{9FC9C047-B7A1-C58E-9FD0-A09F270809FE}"/>
              </a:ext>
            </a:extLst>
          </p:cNvPr>
          <p:cNvSpPr txBox="1"/>
          <p:nvPr/>
        </p:nvSpPr>
        <p:spPr>
          <a:xfrm>
            <a:off x="1113155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Envío y aviso</a:t>
            </a:r>
          </a:p>
          <a:p>
            <a:pPr algn="ctr"/>
            <a:r>
              <a:rPr lang="es-MX" sz="1450" b="1">
                <a:solidFill>
                  <a:srgbClr val="182949"/>
                </a:solidFill>
                <a:latin typeface="Haas Grot Disp 75 Bold"/>
              </a:rPr>
              <a:t>a KP</a:t>
            </a:r>
            <a:endParaRPr lang="es-PE" sz="1450" b="1">
              <a:solidFill>
                <a:srgbClr val="182949"/>
              </a:solidFill>
              <a:latin typeface="Haas Grot Disp 75 Bold"/>
            </a:endParaRPr>
          </a:p>
        </p:txBody>
      </p:sp>
      <p:sp>
        <p:nvSpPr>
          <p:cNvPr id="114" name="Rectángulo: esquinas redondeadas 113">
            <a:extLst>
              <a:ext uri="{FF2B5EF4-FFF2-40B4-BE49-F238E27FC236}">
                <a16:creationId xmlns:a16="http://schemas.microsoft.com/office/drawing/2014/main" id="{AB900728-B96C-4765-1F04-3A8B76B43ECD}"/>
              </a:ext>
            </a:extLst>
          </p:cNvPr>
          <p:cNvSpPr/>
          <p:nvPr/>
        </p:nvSpPr>
        <p:spPr>
          <a:xfrm>
            <a:off x="11146155" y="8216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5" name="Elipse 114">
            <a:extLst>
              <a:ext uri="{FF2B5EF4-FFF2-40B4-BE49-F238E27FC236}">
                <a16:creationId xmlns:a16="http://schemas.microsoft.com/office/drawing/2014/main" id="{46413C85-A086-D85E-ACD1-3515E48922CC}"/>
              </a:ext>
            </a:extLst>
          </p:cNvPr>
          <p:cNvSpPr/>
          <p:nvPr/>
        </p:nvSpPr>
        <p:spPr>
          <a:xfrm>
            <a:off x="1122235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6" name="CuadroTexto 115">
            <a:extLst>
              <a:ext uri="{FF2B5EF4-FFF2-40B4-BE49-F238E27FC236}">
                <a16:creationId xmlns:a16="http://schemas.microsoft.com/office/drawing/2014/main" id="{F56B11D5-9F5D-8FC2-AC9D-0F44C28800C6}"/>
              </a:ext>
            </a:extLst>
          </p:cNvPr>
          <p:cNvSpPr txBox="1"/>
          <p:nvPr/>
        </p:nvSpPr>
        <p:spPr>
          <a:xfrm>
            <a:off x="11336655" y="8216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Edge Function</a:t>
            </a:r>
          </a:p>
        </p:txBody>
      </p:sp>
      <p:sp>
        <p:nvSpPr>
          <p:cNvPr id="117" name="Rectángulo: esquinas redondeadas 116">
            <a:extLst>
              <a:ext uri="{FF2B5EF4-FFF2-40B4-BE49-F238E27FC236}">
                <a16:creationId xmlns:a16="http://schemas.microsoft.com/office/drawing/2014/main" id="{53995988-762D-1E76-AC48-6042F1DF0478}"/>
              </a:ext>
            </a:extLst>
          </p:cNvPr>
          <p:cNvSpPr/>
          <p:nvPr/>
        </p:nvSpPr>
        <p:spPr>
          <a:xfrm>
            <a:off x="11393805" y="8547100"/>
            <a:ext cx="8890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8" name="Elipse 117">
            <a:extLst>
              <a:ext uri="{FF2B5EF4-FFF2-40B4-BE49-F238E27FC236}">
                <a16:creationId xmlns:a16="http://schemas.microsoft.com/office/drawing/2014/main" id="{E22F6B07-7AEA-7492-E5F6-9F360706BD45}"/>
              </a:ext>
            </a:extLst>
          </p:cNvPr>
          <p:cNvSpPr/>
          <p:nvPr/>
        </p:nvSpPr>
        <p:spPr>
          <a:xfrm>
            <a:off x="11470005" y="8642350"/>
            <a:ext cx="88900" cy="88900"/>
          </a:xfrm>
          <a:prstGeom prst="ellipse">
            <a:avLst/>
          </a:prstGeom>
          <a:solidFill>
            <a:srgbClr val="C47B1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9" name="CuadroTexto 118">
            <a:extLst>
              <a:ext uri="{FF2B5EF4-FFF2-40B4-BE49-F238E27FC236}">
                <a16:creationId xmlns:a16="http://schemas.microsoft.com/office/drawing/2014/main" id="{C32EB0F6-6AF7-DA38-8BA5-5800EDDDE1DE}"/>
              </a:ext>
            </a:extLst>
          </p:cNvPr>
          <p:cNvSpPr txBox="1"/>
          <p:nvPr/>
        </p:nvSpPr>
        <p:spPr>
          <a:xfrm>
            <a:off x="11584305" y="8547100"/>
            <a:ext cx="6604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Correo</a:t>
            </a:r>
          </a:p>
        </p:txBody>
      </p:sp>
      <p:sp>
        <p:nvSpPr>
          <p:cNvPr id="120" name="Rectángulo: esquinas redondeadas 119">
            <a:extLst>
              <a:ext uri="{FF2B5EF4-FFF2-40B4-BE49-F238E27FC236}">
                <a16:creationId xmlns:a16="http://schemas.microsoft.com/office/drawing/2014/main" id="{0E8CCA33-170F-F7BD-8D7F-40247458F260}"/>
              </a:ext>
            </a:extLst>
          </p:cNvPr>
          <p:cNvSpPr/>
          <p:nvPr/>
        </p:nvSpPr>
        <p:spPr>
          <a:xfrm>
            <a:off x="1109345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1" name="CuadroTexto 120">
            <a:extLst>
              <a:ext uri="{FF2B5EF4-FFF2-40B4-BE49-F238E27FC236}">
                <a16:creationId xmlns:a16="http://schemas.microsoft.com/office/drawing/2014/main" id="{8A2B0B62-97BA-9C56-4C3B-F39FCAAF80B0}"/>
              </a:ext>
            </a:extLst>
          </p:cNvPr>
          <p:cNvSpPr txBox="1"/>
          <p:nvPr/>
        </p:nvSpPr>
        <p:spPr>
          <a:xfrm>
            <a:off x="1113155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Revisión de</a:t>
            </a:r>
          </a:p>
          <a:p>
            <a:pPr algn="ctr"/>
            <a:r>
              <a:rPr lang="es-PE" sz="1450" b="1">
                <a:solidFill>
                  <a:srgbClr val="182949"/>
                </a:solidFill>
                <a:latin typeface="Haas Grot Disp 75 Bold"/>
              </a:rPr>
              <a:t>protocolos</a:t>
            </a:r>
          </a:p>
        </p:txBody>
      </p:sp>
      <p:sp>
        <p:nvSpPr>
          <p:cNvPr id="122" name="Rectángulo: esquinas redondeadas 121">
            <a:extLst>
              <a:ext uri="{FF2B5EF4-FFF2-40B4-BE49-F238E27FC236}">
                <a16:creationId xmlns:a16="http://schemas.microsoft.com/office/drawing/2014/main" id="{6DC7D959-C865-F439-B94B-DB708B7E0C57}"/>
              </a:ext>
            </a:extLst>
          </p:cNvPr>
          <p:cNvSpPr/>
          <p:nvPr/>
        </p:nvSpPr>
        <p:spPr>
          <a:xfrm>
            <a:off x="11216005" y="9994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3" name="Elipse 122">
            <a:extLst>
              <a:ext uri="{FF2B5EF4-FFF2-40B4-BE49-F238E27FC236}">
                <a16:creationId xmlns:a16="http://schemas.microsoft.com/office/drawing/2014/main" id="{F46A45AB-CC04-5B70-059D-32B9A0470DC5}"/>
              </a:ext>
            </a:extLst>
          </p:cNvPr>
          <p:cNvSpPr/>
          <p:nvPr/>
        </p:nvSpPr>
        <p:spPr>
          <a:xfrm>
            <a:off x="11292205" y="10090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4" name="CuadroTexto 123">
            <a:extLst>
              <a:ext uri="{FF2B5EF4-FFF2-40B4-BE49-F238E27FC236}">
                <a16:creationId xmlns:a16="http://schemas.microsoft.com/office/drawing/2014/main" id="{F9BB8945-3384-0DF5-E677-8F9B4473B487}"/>
              </a:ext>
            </a:extLst>
          </p:cNvPr>
          <p:cNvSpPr txBox="1"/>
          <p:nvPr/>
        </p:nvSpPr>
        <p:spPr>
          <a:xfrm>
            <a:off x="11406505" y="9994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Portal web</a:t>
            </a:r>
          </a:p>
        </p:txBody>
      </p:sp>
      <p:sp>
        <p:nvSpPr>
          <p:cNvPr id="125" name="Rectángulo: esquinas redondeadas 124">
            <a:extLst>
              <a:ext uri="{FF2B5EF4-FFF2-40B4-BE49-F238E27FC236}">
                <a16:creationId xmlns:a16="http://schemas.microsoft.com/office/drawing/2014/main" id="{350C951A-1B1D-9D53-BEB9-F4DBEDE76338}"/>
              </a:ext>
            </a:extLst>
          </p:cNvPr>
          <p:cNvSpPr/>
          <p:nvPr/>
        </p:nvSpPr>
        <p:spPr>
          <a:xfrm>
            <a:off x="11216005" y="103251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6" name="Elipse 125">
            <a:extLst>
              <a:ext uri="{FF2B5EF4-FFF2-40B4-BE49-F238E27FC236}">
                <a16:creationId xmlns:a16="http://schemas.microsoft.com/office/drawing/2014/main" id="{70132A9A-6DA3-A145-A70C-65EB8BE430B3}"/>
              </a:ext>
            </a:extLst>
          </p:cNvPr>
          <p:cNvSpPr/>
          <p:nvPr/>
        </p:nvSpPr>
        <p:spPr>
          <a:xfrm>
            <a:off x="11292205" y="104203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7" name="CuadroTexto 126">
            <a:extLst>
              <a:ext uri="{FF2B5EF4-FFF2-40B4-BE49-F238E27FC236}">
                <a16:creationId xmlns:a16="http://schemas.microsoft.com/office/drawing/2014/main" id="{782EE135-34B5-08A5-A0E3-0837D6E50CE1}"/>
              </a:ext>
            </a:extLst>
          </p:cNvPr>
          <p:cNvSpPr txBox="1"/>
          <p:nvPr/>
        </p:nvSpPr>
        <p:spPr>
          <a:xfrm>
            <a:off x="11406505" y="103251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Sin cuenta</a:t>
            </a:r>
          </a:p>
        </p:txBody>
      </p:sp>
      <p:sp>
        <p:nvSpPr>
          <p:cNvPr id="128" name="Rombo 127">
            <a:extLst>
              <a:ext uri="{FF2B5EF4-FFF2-40B4-BE49-F238E27FC236}">
                <a16:creationId xmlns:a16="http://schemas.microsoft.com/office/drawing/2014/main" id="{EE1348A9-48D4-8C00-6ECB-1302C8522754}"/>
              </a:ext>
            </a:extLst>
          </p:cNvPr>
          <p:cNvSpPr/>
          <p:nvPr/>
        </p:nvSpPr>
        <p:spPr>
          <a:xfrm>
            <a:off x="12794615" y="9525000"/>
            <a:ext cx="1422399" cy="1016000"/>
          </a:xfrm>
          <a:prstGeom prst="diamond">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9" name="CuadroTexto 128">
            <a:extLst>
              <a:ext uri="{FF2B5EF4-FFF2-40B4-BE49-F238E27FC236}">
                <a16:creationId xmlns:a16="http://schemas.microsoft.com/office/drawing/2014/main" id="{A24F4086-DAB4-7B02-62DF-EB78B90FE254}"/>
              </a:ext>
            </a:extLst>
          </p:cNvPr>
          <p:cNvSpPr txBox="1"/>
          <p:nvPr/>
        </p:nvSpPr>
        <p:spPr>
          <a:xfrm>
            <a:off x="12743815" y="9880600"/>
            <a:ext cx="1524000" cy="369332"/>
          </a:xfrm>
          <a:prstGeom prst="rect">
            <a:avLst/>
          </a:prstGeom>
          <a:noFill/>
        </p:spPr>
        <p:txBody>
          <a:bodyPr vert="horz" wrap="square" lIns="0" tIns="0" rIns="0" bIns="0" rtlCol="0" anchor="ctr">
            <a:noAutofit/>
          </a:bodyPr>
          <a:lstStyle/>
          <a:p>
            <a:pPr algn="ctr"/>
            <a:r>
              <a:rPr lang="es-PE" sz="1300" b="1">
                <a:solidFill>
                  <a:srgbClr val="FFFFFF"/>
                </a:solidFill>
                <a:latin typeface="Haas Grot Disp 75 Bold"/>
              </a:rPr>
              <a:t>¿Conforme?</a:t>
            </a:r>
          </a:p>
        </p:txBody>
      </p:sp>
      <p:sp>
        <p:nvSpPr>
          <p:cNvPr id="130" name="Rectángulo: esquinas redondeadas 129">
            <a:extLst>
              <a:ext uri="{FF2B5EF4-FFF2-40B4-BE49-F238E27FC236}">
                <a16:creationId xmlns:a16="http://schemas.microsoft.com/office/drawing/2014/main" id="{889DB5A3-06E8-935F-6C1B-4258B2C58C22}"/>
              </a:ext>
            </a:extLst>
          </p:cNvPr>
          <p:cNvSpPr/>
          <p:nvPr/>
        </p:nvSpPr>
        <p:spPr>
          <a:xfrm>
            <a:off x="12760960" y="5753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1" name="CuadroTexto 130">
            <a:extLst>
              <a:ext uri="{FF2B5EF4-FFF2-40B4-BE49-F238E27FC236}">
                <a16:creationId xmlns:a16="http://schemas.microsoft.com/office/drawing/2014/main" id="{F290CFC0-5BF5-54E8-5B42-40BBE23CF75B}"/>
              </a:ext>
            </a:extLst>
          </p:cNvPr>
          <p:cNvSpPr txBox="1"/>
          <p:nvPr/>
        </p:nvSpPr>
        <p:spPr>
          <a:xfrm>
            <a:off x="1279906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Corrección de</a:t>
            </a:r>
          </a:p>
          <a:p>
            <a:pPr algn="ctr"/>
            <a:r>
              <a:rPr lang="es-PE" sz="1450" b="1">
                <a:solidFill>
                  <a:srgbClr val="182949"/>
                </a:solidFill>
                <a:latin typeface="Haas Grot Disp 75 Bold"/>
              </a:rPr>
              <a:t>observaciones</a:t>
            </a:r>
          </a:p>
        </p:txBody>
      </p:sp>
      <p:sp>
        <p:nvSpPr>
          <p:cNvPr id="132" name="Rectángulo: esquinas redondeadas 131">
            <a:extLst>
              <a:ext uri="{FF2B5EF4-FFF2-40B4-BE49-F238E27FC236}">
                <a16:creationId xmlns:a16="http://schemas.microsoft.com/office/drawing/2014/main" id="{FA3C7BD1-7D99-D6BA-C935-58F588DF4B61}"/>
              </a:ext>
            </a:extLst>
          </p:cNvPr>
          <p:cNvSpPr/>
          <p:nvPr/>
        </p:nvSpPr>
        <p:spPr>
          <a:xfrm>
            <a:off x="13016864"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3" name="Elipse 132">
            <a:extLst>
              <a:ext uri="{FF2B5EF4-FFF2-40B4-BE49-F238E27FC236}">
                <a16:creationId xmlns:a16="http://schemas.microsoft.com/office/drawing/2014/main" id="{975A6D69-CFD7-8AD5-FF03-7E27EC6974D6}"/>
              </a:ext>
            </a:extLst>
          </p:cNvPr>
          <p:cNvSpPr/>
          <p:nvPr/>
        </p:nvSpPr>
        <p:spPr>
          <a:xfrm>
            <a:off x="13093064"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4" name="CuadroTexto 133">
            <a:extLst>
              <a:ext uri="{FF2B5EF4-FFF2-40B4-BE49-F238E27FC236}">
                <a16:creationId xmlns:a16="http://schemas.microsoft.com/office/drawing/2014/main" id="{53F3BF28-82E8-25EC-AC34-FF1E4170E45A}"/>
              </a:ext>
            </a:extLst>
          </p:cNvPr>
          <p:cNvSpPr txBox="1"/>
          <p:nvPr/>
        </p:nvSpPr>
        <p:spPr>
          <a:xfrm>
            <a:off x="13207364"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35" name="Rectángulo: esquinas redondeadas 134">
            <a:extLst>
              <a:ext uri="{FF2B5EF4-FFF2-40B4-BE49-F238E27FC236}">
                <a16:creationId xmlns:a16="http://schemas.microsoft.com/office/drawing/2014/main" id="{A1B54601-64F2-967D-3532-3F39EE261C42}"/>
              </a:ext>
            </a:extLst>
          </p:cNvPr>
          <p:cNvSpPr/>
          <p:nvPr/>
        </p:nvSpPr>
        <p:spPr>
          <a:xfrm>
            <a:off x="14428470" y="9309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6" name="CuadroTexto 135">
            <a:extLst>
              <a:ext uri="{FF2B5EF4-FFF2-40B4-BE49-F238E27FC236}">
                <a16:creationId xmlns:a16="http://schemas.microsoft.com/office/drawing/2014/main" id="{589877DA-89C7-1315-C1F1-00D5C6C64005}"/>
              </a:ext>
            </a:extLst>
          </p:cNvPr>
          <p:cNvSpPr txBox="1"/>
          <p:nvPr/>
        </p:nvSpPr>
        <p:spPr>
          <a:xfrm>
            <a:off x="14466570"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Firma</a:t>
            </a:r>
          </a:p>
          <a:p>
            <a:pPr algn="ctr"/>
            <a:r>
              <a:rPr lang="es-PE" sz="1450" b="1">
                <a:solidFill>
                  <a:srgbClr val="182949"/>
                </a:solidFill>
                <a:latin typeface="Haas Grot Disp 75 Bold"/>
              </a:rPr>
              <a:t>“Aceptado por”</a:t>
            </a:r>
          </a:p>
        </p:txBody>
      </p:sp>
      <p:sp>
        <p:nvSpPr>
          <p:cNvPr id="137" name="Rectángulo: esquinas redondeadas 136">
            <a:extLst>
              <a:ext uri="{FF2B5EF4-FFF2-40B4-BE49-F238E27FC236}">
                <a16:creationId xmlns:a16="http://schemas.microsoft.com/office/drawing/2014/main" id="{02F98E79-E5BA-FDE9-724F-B79E72D74793}"/>
              </a:ext>
            </a:extLst>
          </p:cNvPr>
          <p:cNvSpPr/>
          <p:nvPr/>
        </p:nvSpPr>
        <p:spPr>
          <a:xfrm>
            <a:off x="14481175" y="99949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8" name="Elipse 137">
            <a:extLst>
              <a:ext uri="{FF2B5EF4-FFF2-40B4-BE49-F238E27FC236}">
                <a16:creationId xmlns:a16="http://schemas.microsoft.com/office/drawing/2014/main" id="{80A37615-7333-4615-4622-CC37D6641018}"/>
              </a:ext>
            </a:extLst>
          </p:cNvPr>
          <p:cNvSpPr/>
          <p:nvPr/>
        </p:nvSpPr>
        <p:spPr>
          <a:xfrm>
            <a:off x="14557375" y="100901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9" name="CuadroTexto 138">
            <a:extLst>
              <a:ext uri="{FF2B5EF4-FFF2-40B4-BE49-F238E27FC236}">
                <a16:creationId xmlns:a16="http://schemas.microsoft.com/office/drawing/2014/main" id="{0122BD2A-E0A7-B36C-C72A-8C11D35C2262}"/>
              </a:ext>
            </a:extLst>
          </p:cNvPr>
          <p:cNvSpPr txBox="1"/>
          <p:nvPr/>
        </p:nvSpPr>
        <p:spPr>
          <a:xfrm>
            <a:off x="14671675" y="99949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Acrobat Sign</a:t>
            </a:r>
          </a:p>
        </p:txBody>
      </p:sp>
      <p:sp>
        <p:nvSpPr>
          <p:cNvPr id="140" name="Rectángulo: esquinas redondeadas 139">
            <a:extLst>
              <a:ext uri="{FF2B5EF4-FFF2-40B4-BE49-F238E27FC236}">
                <a16:creationId xmlns:a16="http://schemas.microsoft.com/office/drawing/2014/main" id="{A7D172CB-7EB0-83F8-4E92-546A7B558BD8}"/>
              </a:ext>
            </a:extLst>
          </p:cNvPr>
          <p:cNvSpPr/>
          <p:nvPr/>
        </p:nvSpPr>
        <p:spPr>
          <a:xfrm>
            <a:off x="14481175" y="10325100"/>
            <a:ext cx="13843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1" name="Elipse 140">
            <a:extLst>
              <a:ext uri="{FF2B5EF4-FFF2-40B4-BE49-F238E27FC236}">
                <a16:creationId xmlns:a16="http://schemas.microsoft.com/office/drawing/2014/main" id="{3FAD7898-6D56-1730-6F9B-A8870FA68BC2}"/>
              </a:ext>
            </a:extLst>
          </p:cNvPr>
          <p:cNvSpPr/>
          <p:nvPr/>
        </p:nvSpPr>
        <p:spPr>
          <a:xfrm>
            <a:off x="14557375" y="10420350"/>
            <a:ext cx="88900" cy="889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2" name="CuadroTexto 141">
            <a:extLst>
              <a:ext uri="{FF2B5EF4-FFF2-40B4-BE49-F238E27FC236}">
                <a16:creationId xmlns:a16="http://schemas.microsoft.com/office/drawing/2014/main" id="{0570951B-7E99-D4C0-BDC6-C4AD4094380E}"/>
              </a:ext>
            </a:extLst>
          </p:cNvPr>
          <p:cNvSpPr txBox="1"/>
          <p:nvPr/>
        </p:nvSpPr>
        <p:spPr>
          <a:xfrm>
            <a:off x="14671675" y="10325100"/>
            <a:ext cx="11557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1 sobre/paquete</a:t>
            </a:r>
          </a:p>
        </p:txBody>
      </p:sp>
      <p:sp>
        <p:nvSpPr>
          <p:cNvPr id="143" name="Rectángulo: esquinas redondeadas 142">
            <a:extLst>
              <a:ext uri="{FF2B5EF4-FFF2-40B4-BE49-F238E27FC236}">
                <a16:creationId xmlns:a16="http://schemas.microsoft.com/office/drawing/2014/main" id="{FE77249A-2344-1977-0B6E-B5CA248C55AF}"/>
              </a:ext>
            </a:extLst>
          </p:cNvPr>
          <p:cNvSpPr/>
          <p:nvPr/>
        </p:nvSpPr>
        <p:spPr>
          <a:xfrm>
            <a:off x="14428470" y="7531100"/>
            <a:ext cx="1489710"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4" name="CuadroTexto 143">
            <a:extLst>
              <a:ext uri="{FF2B5EF4-FFF2-40B4-BE49-F238E27FC236}">
                <a16:creationId xmlns:a16="http://schemas.microsoft.com/office/drawing/2014/main" id="{5D8EB247-332E-51C6-CEEF-463B547CE6AF}"/>
              </a:ext>
            </a:extLst>
          </p:cNvPr>
          <p:cNvSpPr txBox="1"/>
          <p:nvPr/>
        </p:nvSpPr>
        <p:spPr>
          <a:xfrm>
            <a:off x="14466570" y="7645400"/>
            <a:ext cx="1413510" cy="369332"/>
          </a:xfrm>
          <a:prstGeom prst="rect">
            <a:avLst/>
          </a:prstGeom>
          <a:noFill/>
        </p:spPr>
        <p:txBody>
          <a:bodyPr vert="horz" wrap="square" lIns="0" tIns="0" rIns="0" bIns="0" rtlCol="0" anchor="t">
            <a:noAutofit/>
          </a:bodyPr>
          <a:lstStyle/>
          <a:p>
            <a:pPr algn="ctr"/>
            <a:r>
              <a:rPr lang="es-MX" sz="1450" b="1">
                <a:solidFill>
                  <a:srgbClr val="182949"/>
                </a:solidFill>
                <a:latin typeface="Haas Grot Disp 75 Bold"/>
              </a:rPr>
              <a:t>Registro de firma</a:t>
            </a:r>
          </a:p>
          <a:p>
            <a:pPr algn="ctr"/>
            <a:r>
              <a:rPr lang="es-MX" sz="1450" b="1">
                <a:solidFill>
                  <a:srgbClr val="182949"/>
                </a:solidFill>
                <a:latin typeface="Haas Grot Disp 75 Bold"/>
              </a:rPr>
              <a:t>y PDF final</a:t>
            </a:r>
            <a:endParaRPr lang="es-PE" sz="1450" b="1">
              <a:solidFill>
                <a:srgbClr val="182949"/>
              </a:solidFill>
              <a:latin typeface="Haas Grot Disp 75 Bold"/>
            </a:endParaRPr>
          </a:p>
        </p:txBody>
      </p:sp>
      <p:sp>
        <p:nvSpPr>
          <p:cNvPr id="145" name="Rectángulo: esquinas redondeadas 144">
            <a:extLst>
              <a:ext uri="{FF2B5EF4-FFF2-40B4-BE49-F238E27FC236}">
                <a16:creationId xmlns:a16="http://schemas.microsoft.com/office/drawing/2014/main" id="{52F177BD-891D-6166-0804-86BFD80682E3}"/>
              </a:ext>
            </a:extLst>
          </p:cNvPr>
          <p:cNvSpPr/>
          <p:nvPr/>
        </p:nvSpPr>
        <p:spPr>
          <a:xfrm>
            <a:off x="14684375" y="8216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6" name="Elipse 145">
            <a:extLst>
              <a:ext uri="{FF2B5EF4-FFF2-40B4-BE49-F238E27FC236}">
                <a16:creationId xmlns:a16="http://schemas.microsoft.com/office/drawing/2014/main" id="{9C62A626-AFBF-A8BF-1598-EFBBC2B660E9}"/>
              </a:ext>
            </a:extLst>
          </p:cNvPr>
          <p:cNvSpPr/>
          <p:nvPr/>
        </p:nvSpPr>
        <p:spPr>
          <a:xfrm>
            <a:off x="14760575" y="8312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7" name="CuadroTexto 146">
            <a:extLst>
              <a:ext uri="{FF2B5EF4-FFF2-40B4-BE49-F238E27FC236}">
                <a16:creationId xmlns:a16="http://schemas.microsoft.com/office/drawing/2014/main" id="{35BA7816-D304-D456-591E-98A33AA3D756}"/>
              </a:ext>
            </a:extLst>
          </p:cNvPr>
          <p:cNvSpPr txBox="1"/>
          <p:nvPr/>
        </p:nvSpPr>
        <p:spPr>
          <a:xfrm>
            <a:off x="14874875" y="8216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Webhook</a:t>
            </a:r>
          </a:p>
        </p:txBody>
      </p:sp>
      <p:sp>
        <p:nvSpPr>
          <p:cNvPr id="148" name="Rectángulo: esquinas redondeadas 147">
            <a:extLst>
              <a:ext uri="{FF2B5EF4-FFF2-40B4-BE49-F238E27FC236}">
                <a16:creationId xmlns:a16="http://schemas.microsoft.com/office/drawing/2014/main" id="{08994170-1FF8-AE72-14C0-2426E47E06B1}"/>
              </a:ext>
            </a:extLst>
          </p:cNvPr>
          <p:cNvSpPr/>
          <p:nvPr/>
        </p:nvSpPr>
        <p:spPr>
          <a:xfrm>
            <a:off x="16095980"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9" name="CuadroTexto 148">
            <a:extLst>
              <a:ext uri="{FF2B5EF4-FFF2-40B4-BE49-F238E27FC236}">
                <a16:creationId xmlns:a16="http://schemas.microsoft.com/office/drawing/2014/main" id="{EA7B6056-59D6-3AA8-E027-1E1D4AA8D357}"/>
              </a:ext>
            </a:extLst>
          </p:cNvPr>
          <p:cNvSpPr txBox="1"/>
          <p:nvPr/>
        </p:nvSpPr>
        <p:spPr>
          <a:xfrm>
            <a:off x="16134080"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Almacenamiento</a:t>
            </a:r>
          </a:p>
          <a:p>
            <a:pPr algn="ctr"/>
            <a:r>
              <a:rPr lang="es-PE" sz="1450" b="1">
                <a:solidFill>
                  <a:srgbClr val="182949"/>
                </a:solidFill>
                <a:latin typeface="Haas Grot Disp 75 Bold"/>
              </a:rPr>
              <a:t>y versiones</a:t>
            </a:r>
          </a:p>
        </p:txBody>
      </p:sp>
      <p:sp>
        <p:nvSpPr>
          <p:cNvPr id="150" name="Rectángulo: esquinas redondeadas 149">
            <a:extLst>
              <a:ext uri="{FF2B5EF4-FFF2-40B4-BE49-F238E27FC236}">
                <a16:creationId xmlns:a16="http://schemas.microsoft.com/office/drawing/2014/main" id="{8B7F77C0-297B-39B1-EE47-A55FE9C6F1E6}"/>
              </a:ext>
            </a:extLst>
          </p:cNvPr>
          <p:cNvSpPr/>
          <p:nvPr/>
        </p:nvSpPr>
        <p:spPr>
          <a:xfrm>
            <a:off x="16307436" y="6438900"/>
            <a:ext cx="10668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1" name="Elipse 150">
            <a:extLst>
              <a:ext uri="{FF2B5EF4-FFF2-40B4-BE49-F238E27FC236}">
                <a16:creationId xmlns:a16="http://schemas.microsoft.com/office/drawing/2014/main" id="{74874369-7B8D-296B-0BAC-7E93220B141F}"/>
              </a:ext>
            </a:extLst>
          </p:cNvPr>
          <p:cNvSpPr/>
          <p:nvPr/>
        </p:nvSpPr>
        <p:spPr>
          <a:xfrm>
            <a:off x="16383636" y="6534150"/>
            <a:ext cx="88900" cy="88900"/>
          </a:xfrm>
          <a:prstGeom prst="ellipse">
            <a:avLst/>
          </a:prstGeom>
          <a:solidFill>
            <a:srgbClr val="2E9B6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2" name="CuadroTexto 151">
            <a:extLst>
              <a:ext uri="{FF2B5EF4-FFF2-40B4-BE49-F238E27FC236}">
                <a16:creationId xmlns:a16="http://schemas.microsoft.com/office/drawing/2014/main" id="{4BFEAF46-C93E-B3D0-EF01-228FC010546F}"/>
              </a:ext>
            </a:extLst>
          </p:cNvPr>
          <p:cNvSpPr txBox="1"/>
          <p:nvPr/>
        </p:nvSpPr>
        <p:spPr>
          <a:xfrm>
            <a:off x="16497936" y="6438900"/>
            <a:ext cx="8382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Supabase</a:t>
            </a:r>
          </a:p>
        </p:txBody>
      </p:sp>
      <p:sp>
        <p:nvSpPr>
          <p:cNvPr id="153" name="Rectángulo: esquinas redondeadas 152">
            <a:extLst>
              <a:ext uri="{FF2B5EF4-FFF2-40B4-BE49-F238E27FC236}">
                <a16:creationId xmlns:a16="http://schemas.microsoft.com/office/drawing/2014/main" id="{1FB2970C-3110-E6A8-4CA0-8B031BB9A37F}"/>
              </a:ext>
            </a:extLst>
          </p:cNvPr>
          <p:cNvSpPr/>
          <p:nvPr/>
        </p:nvSpPr>
        <p:spPr>
          <a:xfrm>
            <a:off x="17763489" y="5753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4" name="CuadroTexto 153">
            <a:extLst>
              <a:ext uri="{FF2B5EF4-FFF2-40B4-BE49-F238E27FC236}">
                <a16:creationId xmlns:a16="http://schemas.microsoft.com/office/drawing/2014/main" id="{C63F0FDA-8900-FBA9-4361-054F77C199B0}"/>
              </a:ext>
            </a:extLst>
          </p:cNvPr>
          <p:cNvSpPr txBox="1"/>
          <p:nvPr/>
        </p:nvSpPr>
        <p:spPr>
          <a:xfrm>
            <a:off x="17801589" y="5867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Solicitud de</a:t>
            </a:r>
          </a:p>
          <a:p>
            <a:pPr algn="ctr"/>
            <a:r>
              <a:rPr lang="es-PE" sz="1450" b="1">
                <a:solidFill>
                  <a:srgbClr val="182949"/>
                </a:solidFill>
                <a:latin typeface="Haas Grot Disp 75 Bold"/>
              </a:rPr>
              <a:t>modificación</a:t>
            </a:r>
          </a:p>
        </p:txBody>
      </p:sp>
      <p:sp>
        <p:nvSpPr>
          <p:cNvPr id="155" name="Rectángulo: esquinas redondeadas 154">
            <a:extLst>
              <a:ext uri="{FF2B5EF4-FFF2-40B4-BE49-F238E27FC236}">
                <a16:creationId xmlns:a16="http://schemas.microsoft.com/office/drawing/2014/main" id="{D0D3B25B-0549-E3A1-0A93-D1255FC0023C}"/>
              </a:ext>
            </a:extLst>
          </p:cNvPr>
          <p:cNvSpPr/>
          <p:nvPr/>
        </p:nvSpPr>
        <p:spPr>
          <a:xfrm>
            <a:off x="18019395" y="64389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6" name="Elipse 155">
            <a:extLst>
              <a:ext uri="{FF2B5EF4-FFF2-40B4-BE49-F238E27FC236}">
                <a16:creationId xmlns:a16="http://schemas.microsoft.com/office/drawing/2014/main" id="{536098AC-5F42-97E9-796A-B2F82C8C85BF}"/>
              </a:ext>
            </a:extLst>
          </p:cNvPr>
          <p:cNvSpPr/>
          <p:nvPr/>
        </p:nvSpPr>
        <p:spPr>
          <a:xfrm>
            <a:off x="18095595" y="6534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7" name="CuadroTexto 156">
            <a:extLst>
              <a:ext uri="{FF2B5EF4-FFF2-40B4-BE49-F238E27FC236}">
                <a16:creationId xmlns:a16="http://schemas.microsoft.com/office/drawing/2014/main" id="{15D8AF87-6B85-B9DE-ECDC-0B4DAE15A6D7}"/>
              </a:ext>
            </a:extLst>
          </p:cNvPr>
          <p:cNvSpPr txBox="1"/>
          <p:nvPr/>
        </p:nvSpPr>
        <p:spPr>
          <a:xfrm>
            <a:off x="18209895" y="64389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
        <p:nvSpPr>
          <p:cNvPr id="158" name="Rectángulo: esquinas redondeadas 157">
            <a:extLst>
              <a:ext uri="{FF2B5EF4-FFF2-40B4-BE49-F238E27FC236}">
                <a16:creationId xmlns:a16="http://schemas.microsoft.com/office/drawing/2014/main" id="{3B332F63-38F9-9695-1DE4-474D0FB9F221}"/>
              </a:ext>
            </a:extLst>
          </p:cNvPr>
          <p:cNvSpPr/>
          <p:nvPr/>
        </p:nvSpPr>
        <p:spPr>
          <a:xfrm>
            <a:off x="18063845" y="6769100"/>
            <a:ext cx="8890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9" name="Elipse 158">
            <a:extLst>
              <a:ext uri="{FF2B5EF4-FFF2-40B4-BE49-F238E27FC236}">
                <a16:creationId xmlns:a16="http://schemas.microsoft.com/office/drawing/2014/main" id="{6088F44A-57D5-9903-AB70-739971491812}"/>
              </a:ext>
            </a:extLst>
          </p:cNvPr>
          <p:cNvSpPr/>
          <p:nvPr/>
        </p:nvSpPr>
        <p:spPr>
          <a:xfrm>
            <a:off x="18140045" y="6864350"/>
            <a:ext cx="88900" cy="88900"/>
          </a:xfrm>
          <a:prstGeom prst="ellipse">
            <a:avLst/>
          </a:prstGeom>
          <a:solidFill>
            <a:srgbClr val="C47B1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0" name="CuadroTexto 159">
            <a:extLst>
              <a:ext uri="{FF2B5EF4-FFF2-40B4-BE49-F238E27FC236}">
                <a16:creationId xmlns:a16="http://schemas.microsoft.com/office/drawing/2014/main" id="{9D8CA1C8-E3AD-0070-2B41-48B2FF0C2197}"/>
              </a:ext>
            </a:extLst>
          </p:cNvPr>
          <p:cNvSpPr txBox="1"/>
          <p:nvPr/>
        </p:nvSpPr>
        <p:spPr>
          <a:xfrm>
            <a:off x="18254345" y="6769100"/>
            <a:ext cx="6604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Correo</a:t>
            </a:r>
          </a:p>
        </p:txBody>
      </p:sp>
      <p:sp>
        <p:nvSpPr>
          <p:cNvPr id="161" name="Rectángulo: esquinas redondeadas 160">
            <a:extLst>
              <a:ext uri="{FF2B5EF4-FFF2-40B4-BE49-F238E27FC236}">
                <a16:creationId xmlns:a16="http://schemas.microsoft.com/office/drawing/2014/main" id="{CFDC0E95-D97E-960B-5F97-5751EAAD4D67}"/>
              </a:ext>
            </a:extLst>
          </p:cNvPr>
          <p:cNvSpPr/>
          <p:nvPr/>
        </p:nvSpPr>
        <p:spPr>
          <a:xfrm>
            <a:off x="17763489" y="9309100"/>
            <a:ext cx="1489711" cy="1447800"/>
          </a:xfrm>
          <a:prstGeom prst="roundRect">
            <a:avLst>
              <a:gd name="adj" fmla="val 8000"/>
            </a:avLst>
          </a:prstGeom>
          <a:solidFill>
            <a:srgbClr val="FFFFFF"/>
          </a:solidFill>
          <a:ln w="12700">
            <a:solidFill>
              <a:srgbClr val="C9D0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2" name="CuadroTexto 161">
            <a:extLst>
              <a:ext uri="{FF2B5EF4-FFF2-40B4-BE49-F238E27FC236}">
                <a16:creationId xmlns:a16="http://schemas.microsoft.com/office/drawing/2014/main" id="{06FB323B-F926-1FA7-D93B-129860A5B27A}"/>
              </a:ext>
            </a:extLst>
          </p:cNvPr>
          <p:cNvSpPr txBox="1"/>
          <p:nvPr/>
        </p:nvSpPr>
        <p:spPr>
          <a:xfrm>
            <a:off x="17801589" y="9423400"/>
            <a:ext cx="1413510" cy="369332"/>
          </a:xfrm>
          <a:prstGeom prst="rect">
            <a:avLst/>
          </a:prstGeom>
          <a:noFill/>
        </p:spPr>
        <p:txBody>
          <a:bodyPr vert="horz" wrap="square" lIns="0" tIns="0" rIns="0" bIns="0" rtlCol="0" anchor="t">
            <a:noAutofit/>
          </a:bodyPr>
          <a:lstStyle/>
          <a:p>
            <a:pPr algn="ctr"/>
            <a:r>
              <a:rPr lang="es-PE" sz="1450" b="1">
                <a:solidFill>
                  <a:srgbClr val="182949"/>
                </a:solidFill>
                <a:latin typeface="Haas Grot Disp 75 Bold"/>
              </a:rPr>
              <a:t>Aprueba cambio</a:t>
            </a:r>
          </a:p>
          <a:p>
            <a:pPr algn="ctr"/>
            <a:r>
              <a:rPr lang="es-PE" sz="1450" b="1">
                <a:solidFill>
                  <a:srgbClr val="182949"/>
                </a:solidFill>
                <a:latin typeface="Haas Grot Disp 75 Bold"/>
              </a:rPr>
              <a:t>KP + Jefatura</a:t>
            </a:r>
          </a:p>
        </p:txBody>
      </p:sp>
      <p:sp>
        <p:nvSpPr>
          <p:cNvPr id="163" name="Rectángulo: esquinas redondeadas 162">
            <a:extLst>
              <a:ext uri="{FF2B5EF4-FFF2-40B4-BE49-F238E27FC236}">
                <a16:creationId xmlns:a16="http://schemas.microsoft.com/office/drawing/2014/main" id="{13AE46D8-D010-49E5-A9B8-37CD38C04E3B}"/>
              </a:ext>
            </a:extLst>
          </p:cNvPr>
          <p:cNvSpPr/>
          <p:nvPr/>
        </p:nvSpPr>
        <p:spPr>
          <a:xfrm>
            <a:off x="17886045" y="9994900"/>
            <a:ext cx="12446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4" name="Elipse 163">
            <a:extLst>
              <a:ext uri="{FF2B5EF4-FFF2-40B4-BE49-F238E27FC236}">
                <a16:creationId xmlns:a16="http://schemas.microsoft.com/office/drawing/2014/main" id="{BBDB0A38-FF0E-65DD-0BDD-400D74D8820B}"/>
              </a:ext>
            </a:extLst>
          </p:cNvPr>
          <p:cNvSpPr/>
          <p:nvPr/>
        </p:nvSpPr>
        <p:spPr>
          <a:xfrm>
            <a:off x="17962245" y="100901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5" name="CuadroTexto 164">
            <a:extLst>
              <a:ext uri="{FF2B5EF4-FFF2-40B4-BE49-F238E27FC236}">
                <a16:creationId xmlns:a16="http://schemas.microsoft.com/office/drawing/2014/main" id="{D020C849-C2C3-E75D-BAA9-B71070369C68}"/>
              </a:ext>
            </a:extLst>
          </p:cNvPr>
          <p:cNvSpPr txBox="1"/>
          <p:nvPr/>
        </p:nvSpPr>
        <p:spPr>
          <a:xfrm>
            <a:off x="18076545" y="9994900"/>
            <a:ext cx="10160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Portal web</a:t>
            </a:r>
          </a:p>
        </p:txBody>
      </p:sp>
      <p:sp>
        <p:nvSpPr>
          <p:cNvPr id="166" name="Rectángulo: esquinas redondeadas 165">
            <a:extLst>
              <a:ext uri="{FF2B5EF4-FFF2-40B4-BE49-F238E27FC236}">
                <a16:creationId xmlns:a16="http://schemas.microsoft.com/office/drawing/2014/main" id="{23097036-2536-0589-6334-874401201D58}"/>
              </a:ext>
            </a:extLst>
          </p:cNvPr>
          <p:cNvSpPr/>
          <p:nvPr/>
        </p:nvSpPr>
        <p:spPr>
          <a:xfrm>
            <a:off x="18019395" y="10325100"/>
            <a:ext cx="977900" cy="279400"/>
          </a:xfrm>
          <a:prstGeom prst="roundRect">
            <a:avLst>
              <a:gd name="adj" fmla="val 8000"/>
            </a:avLst>
          </a:prstGeom>
          <a:solidFill>
            <a:srgbClr val="E6EAF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7" name="Elipse 166">
            <a:extLst>
              <a:ext uri="{FF2B5EF4-FFF2-40B4-BE49-F238E27FC236}">
                <a16:creationId xmlns:a16="http://schemas.microsoft.com/office/drawing/2014/main" id="{4162DAF2-7B3D-6A5B-AF88-518205701469}"/>
              </a:ext>
            </a:extLst>
          </p:cNvPr>
          <p:cNvSpPr/>
          <p:nvPr/>
        </p:nvSpPr>
        <p:spPr>
          <a:xfrm>
            <a:off x="18095595" y="10420350"/>
            <a:ext cx="88900" cy="889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8" name="CuadroTexto 167">
            <a:extLst>
              <a:ext uri="{FF2B5EF4-FFF2-40B4-BE49-F238E27FC236}">
                <a16:creationId xmlns:a16="http://schemas.microsoft.com/office/drawing/2014/main" id="{26109D4A-8A65-B549-E480-B5A08937A0C3}"/>
              </a:ext>
            </a:extLst>
          </p:cNvPr>
          <p:cNvSpPr txBox="1"/>
          <p:nvPr/>
        </p:nvSpPr>
        <p:spPr>
          <a:xfrm>
            <a:off x="18209895" y="10325100"/>
            <a:ext cx="749300" cy="369332"/>
          </a:xfrm>
          <a:prstGeom prst="rect">
            <a:avLst/>
          </a:prstGeom>
          <a:noFill/>
        </p:spPr>
        <p:txBody>
          <a:bodyPr vert="horz" wrap="square" lIns="0" tIns="0" rIns="0" bIns="0" rtlCol="0" anchor="ctr">
            <a:noAutofit/>
          </a:bodyPr>
          <a:lstStyle/>
          <a:p>
            <a:pPr algn="ctr"/>
            <a:r>
              <a:rPr lang="es-PE" sz="1200">
                <a:solidFill>
                  <a:srgbClr val="182949"/>
                </a:solidFill>
                <a:latin typeface="Haas Grot Disp 65 Medium"/>
              </a:rPr>
              <a:t>App web</a:t>
            </a:r>
          </a:p>
        </p:txBody>
      </p:sp>
    </p:spTree>
    <p:extLst>
      <p:ext uri="{BB962C8B-B14F-4D97-AF65-F5344CB8AC3E}">
        <p14:creationId xmlns:p14="http://schemas.microsoft.com/office/powerpoint/2010/main" val="1374710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Fondo">
            <a:extLst>
              <a:ext uri="{FF2B5EF4-FFF2-40B4-BE49-F238E27FC236}">
                <a16:creationId xmlns:a16="http://schemas.microsoft.com/office/drawing/2014/main" id="{5A5BDF7D-00DC-55AE-3347-EBA797A42F4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7" name="object 7"/>
          <p:cNvSpPr txBox="1"/>
          <p:nvPr/>
        </p:nvSpPr>
        <p:spPr>
          <a:xfrm>
            <a:off x="963117" y="6714658"/>
            <a:ext cx="13970000" cy="2937343"/>
          </a:xfrm>
          <a:prstGeom prst="rect">
            <a:avLst/>
          </a:prstGeom>
        </p:spPr>
        <p:txBody>
          <a:bodyPr vert="horz" wrap="square" lIns="0" tIns="13335" rIns="0" bIns="0" rtlCol="0">
            <a:spAutoFit/>
          </a:bodyPr>
          <a:lstStyle/>
          <a:p>
            <a:pPr marL="12700">
              <a:lnSpc>
                <a:spcPct val="100000"/>
              </a:lnSpc>
              <a:spcBef>
                <a:spcPts val="105"/>
              </a:spcBef>
            </a:pPr>
            <a:r>
              <a:rPr lang="es-PE" sz="9500">
                <a:solidFill>
                  <a:srgbClr val="FFFFFF"/>
                </a:solidFill>
                <a:latin typeface="Haas Grot Disp 65 Medium"/>
                <a:cs typeface="Haas Grot Disp 65 Medium"/>
              </a:rPr>
              <a:t>Comparativa y costos</a:t>
            </a:r>
            <a:endParaRPr sz="9500">
              <a:latin typeface="Haas Grot Disp 65 Medium"/>
              <a:cs typeface="Haas Grot Disp 65 Medium"/>
            </a:endParaRPr>
          </a:p>
        </p:txBody>
      </p:sp>
      <p:sp>
        <p:nvSpPr>
          <p:cNvPr id="8" name="object 8"/>
          <p:cNvSpPr/>
          <p:nvPr/>
        </p:nvSpPr>
        <p:spPr>
          <a:xfrm>
            <a:off x="975820" y="8497847"/>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9" name="object 9"/>
          <p:cNvSpPr txBox="1"/>
          <p:nvPr/>
        </p:nvSpPr>
        <p:spPr>
          <a:xfrm>
            <a:off x="963124" y="8888655"/>
            <a:ext cx="11430000" cy="1274708"/>
          </a:xfrm>
          <a:prstGeom prst="rect">
            <a:avLst/>
          </a:prstGeom>
        </p:spPr>
        <p:txBody>
          <a:bodyPr vert="horz" wrap="square" lIns="0" tIns="12700" rIns="0" bIns="0" rtlCol="0">
            <a:spAutoFit/>
          </a:bodyPr>
          <a:lstStyle/>
          <a:p>
            <a:pPr marL="12700">
              <a:lnSpc>
                <a:spcPct val="100000"/>
              </a:lnSpc>
              <a:spcBef>
                <a:spcPts val="100"/>
              </a:spcBef>
            </a:pPr>
            <a:r>
              <a:rPr lang="es-MX" sz="4100">
                <a:solidFill>
                  <a:srgbClr val="FFFFFF"/>
                </a:solidFill>
                <a:latin typeface="Haas Grot Disp 55 Roman"/>
                <a:cs typeface="Haas Grot Disp 55 Roman"/>
              </a:rPr>
              <a:t>Sistemas, licencias, precios y seguridad</a:t>
            </a:r>
            <a:endParaRPr sz="4100">
              <a:latin typeface="Haas Grot Disp 55 Roman"/>
              <a:cs typeface="Haas Grot Disp 55 Roman"/>
            </a:endParaRPr>
          </a:p>
        </p:txBody>
      </p:sp>
      <p:pic>
        <p:nvPicPr>
          <p:cNvPr id="10" name="Logo">
            <a:extLst>
              <a:ext uri="{FF2B5EF4-FFF2-40B4-BE49-F238E27FC236}">
                <a16:creationId xmlns:a16="http://schemas.microsoft.com/office/drawing/2014/main" id="{AF38F505-C873-EBA9-B7FF-3539276EE94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4254474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Qué herramienta resuelve cada necesidad en cada opción</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Sistemas por componente</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graphicFrame>
        <p:nvGraphicFramePr>
          <p:cNvPr id="2" name="Tabla 1">
            <a:extLst>
              <a:ext uri="{FF2B5EF4-FFF2-40B4-BE49-F238E27FC236}">
                <a16:creationId xmlns:a16="http://schemas.microsoft.com/office/drawing/2014/main" id="{419C36CD-23B1-D0FD-27A4-D0478207C3DD}"/>
              </a:ext>
            </a:extLst>
          </p:cNvPr>
          <p:cNvGraphicFramePr>
            <a:graphicFrameLocks noGrp="1"/>
          </p:cNvGraphicFramePr>
          <p:nvPr>
            <p:extLst>
              <p:ext uri="{D42A27DB-BD31-4B8C-83A1-F6EECF244321}">
                <p14:modId xmlns:p14="http://schemas.microsoft.com/office/powerpoint/2010/main" val="3949494511"/>
              </p:ext>
            </p:extLst>
          </p:nvPr>
        </p:nvGraphicFramePr>
        <p:xfrm>
          <a:off x="939799" y="3759200"/>
          <a:ext cx="18237200" cy="4572000"/>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834781007"/>
                    </a:ext>
                  </a:extLst>
                </a:gridCol>
                <a:gridCol w="7023100">
                  <a:extLst>
                    <a:ext uri="{9D8B030D-6E8A-4147-A177-3AD203B41FA5}">
                      <a16:colId xmlns:a16="http://schemas.microsoft.com/office/drawing/2014/main" val="2041805031"/>
                    </a:ext>
                  </a:extLst>
                </a:gridCol>
                <a:gridCol w="7023100">
                  <a:extLst>
                    <a:ext uri="{9D8B030D-6E8A-4147-A177-3AD203B41FA5}">
                      <a16:colId xmlns:a16="http://schemas.microsoft.com/office/drawing/2014/main" val="2855298051"/>
                    </a:ext>
                  </a:extLst>
                </a:gridCol>
              </a:tblGrid>
              <a:tr h="381000">
                <a:tc>
                  <a:txBody>
                    <a:bodyPr/>
                    <a:lstStyle/>
                    <a:p>
                      <a:r>
                        <a:rPr lang="es-PE" sz="1900" b="1">
                          <a:solidFill>
                            <a:srgbClr val="FFFFFF"/>
                          </a:solidFill>
                          <a:latin typeface="Haas Grot Disp 75 Bold"/>
                        </a:rPr>
                        <a:t>Componente</a:t>
                      </a: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Opción 1 · Microsoft</a:t>
                      </a:r>
                    </a:p>
                  </a:txBody>
                  <a:tcPr marL="127000" marR="127000" marT="76200" marB="76200" anchor="ctr">
                    <a:lnB w="9525">
                      <a:solidFill>
                        <a:srgbClr val="C9D0DA"/>
                      </a:solidFill>
                    </a:lnB>
                    <a:solidFill>
                      <a:srgbClr val="182949"/>
                    </a:solidFill>
                  </a:tcPr>
                </a:tc>
                <a:tc>
                  <a:txBody>
                    <a:bodyPr/>
                    <a:lstStyle/>
                    <a:p>
                      <a:r>
                        <a:rPr lang="es-MX" sz="1900" b="1">
                          <a:solidFill>
                            <a:srgbClr val="FFFFFF"/>
                          </a:solidFill>
                          <a:latin typeface="Haas Grot Disp 75 Bold"/>
                        </a:rPr>
                        <a:t>Opción 2 · Fuera de Microsoft</a:t>
                      </a:r>
                      <a:endParaRPr lang="es-PE" sz="1900" b="1">
                        <a:solidFill>
                          <a:srgbClr val="FFFFFF"/>
                        </a:solidFill>
                        <a:latin typeface="Haas Grot Disp 75 Bold"/>
                      </a:endParaRPr>
                    </a:p>
                  </a:txBody>
                  <a:tcPr marL="127000" marR="127000" marT="76200" marB="76200" anchor="ctr">
                    <a:lnB w="9525">
                      <a:solidFill>
                        <a:srgbClr val="C9D0DA"/>
                      </a:solidFill>
                    </a:lnB>
                    <a:solidFill>
                      <a:srgbClr val="182949"/>
                    </a:solidFill>
                  </a:tcPr>
                </a:tc>
                <a:extLst>
                  <a:ext uri="{0D108BD9-81ED-4DB2-BD59-A6C34878D82A}">
                    <a16:rowId xmlns:a16="http://schemas.microsoft.com/office/drawing/2014/main" val="287241509"/>
                  </a:ext>
                </a:extLst>
              </a:tr>
              <a:tr h="381000">
                <a:tc>
                  <a:txBody>
                    <a:bodyPr/>
                    <a:lstStyle/>
                    <a:p>
                      <a:r>
                        <a:rPr lang="es-PE" sz="1900" b="1">
                          <a:solidFill>
                            <a:srgbClr val="182949"/>
                          </a:solidFill>
                          <a:latin typeface="Haas Grot Disp 75 Bold"/>
                        </a:rPr>
                        <a:t>Formulario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Power Apps (app de lienzo)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MX" sz="1900">
                          <a:solidFill>
                            <a:srgbClr val="182949"/>
                          </a:solidFill>
                          <a:latin typeface="Haas Grot Disp 55 Roman" panose="020D0504030502050203"/>
                        </a:rPr>
                        <a:t>App web con motor único (ya construido)</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258391537"/>
                  </a:ext>
                </a:extLst>
              </a:tr>
              <a:tr h="381000">
                <a:tc>
                  <a:txBody>
                    <a:bodyPr/>
                    <a:lstStyle/>
                    <a:p>
                      <a:r>
                        <a:rPr lang="es-PE" sz="1900" b="1">
                          <a:solidFill>
                            <a:srgbClr val="182949"/>
                          </a:solidFill>
                          <a:latin typeface="Haas Grot Disp 75 Bold"/>
                        </a:rPr>
                        <a:t>Base de datos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Listas de SharePoint</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Supabase (PostgreSQL)</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22714584"/>
                  </a:ext>
                </a:extLst>
              </a:tr>
              <a:tr h="381000">
                <a:tc>
                  <a:txBody>
                    <a:bodyPr/>
                    <a:lstStyle/>
                    <a:p>
                      <a:r>
                        <a:rPr lang="es-PE" sz="1900" b="1">
                          <a:solidFill>
                            <a:srgbClr val="182949"/>
                          </a:solidFill>
                          <a:latin typeface="Haas Grot Disp 75 Bold"/>
                        </a:rPr>
                        <a:t>Archivos y PDF</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Bibliotecas de SharePoint / OneDrive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Supabase Storage</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4162105591"/>
                  </a:ext>
                </a:extLst>
              </a:tr>
              <a:tr h="381000">
                <a:tc>
                  <a:txBody>
                    <a:bodyPr/>
                    <a:lstStyle/>
                    <a:p>
                      <a:r>
                        <a:rPr lang="es-PE" sz="1900" b="1">
                          <a:solidFill>
                            <a:srgbClr val="182949"/>
                          </a:solidFill>
                          <a:latin typeface="Haas Grot Disp 75 Bold"/>
                        </a:rPr>
                        <a:t>Versionado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Historial de SharePoint + lista de versiones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Tabla de versiones + bloqueo en la base</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558114315"/>
                  </a:ext>
                </a:extLst>
              </a:tr>
              <a:tr h="381000">
                <a:tc>
                  <a:txBody>
                    <a:bodyPr/>
                    <a:lstStyle/>
                    <a:p>
                      <a:r>
                        <a:rPr lang="es-PE" sz="1900" b="1">
                          <a:solidFill>
                            <a:srgbClr val="182949"/>
                          </a:solidFill>
                          <a:latin typeface="Haas Grot Disp 75 Bold"/>
                        </a:rPr>
                        <a:t>Automatización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Power Automate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Supabase Edge Functions</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521121557"/>
                  </a:ext>
                </a:extLst>
              </a:tr>
              <a:tr h="381000">
                <a:tc>
                  <a:txBody>
                    <a:bodyPr/>
                    <a:lstStyle/>
                    <a:p>
                      <a:r>
                        <a:rPr lang="es-MX" sz="1900" b="1">
                          <a:solidFill>
                            <a:srgbClr val="182949"/>
                          </a:solidFill>
                          <a:latin typeface="Haas Grot Disp 75 Bold"/>
                        </a:rPr>
                        <a:t>PDF y unión de adjuntos</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Adobe PDF Services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Adobe PDF Services</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3980328922"/>
                  </a:ext>
                </a:extLst>
              </a:tr>
              <a:tr h="381000">
                <a:tc>
                  <a:txBody>
                    <a:bodyPr/>
                    <a:lstStyle/>
                    <a:p>
                      <a:r>
                        <a:rPr lang="es-MX" sz="1900" b="1">
                          <a:solidFill>
                            <a:srgbClr val="182949"/>
                          </a:solidFill>
                          <a:latin typeface="Haas Grot Disp 75 Bold"/>
                        </a:rPr>
                        <a:t>Revisión y firma de KP</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pt-BR" sz="1900">
                          <a:solidFill>
                            <a:srgbClr val="182949"/>
                          </a:solidFill>
                          <a:latin typeface="Haas Grot Disp 55 Roman" panose="020D0504030502050203"/>
                        </a:rPr>
                        <a:t>Acrobat Sign: 1 sobre por protocolo</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Portal web por enlace + 1 sobre por paquete</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2394980163"/>
                  </a:ext>
                </a:extLst>
              </a:tr>
              <a:tr h="381000">
                <a:tc>
                  <a:txBody>
                    <a:bodyPr/>
                    <a:lstStyle/>
                    <a:p>
                      <a:r>
                        <a:rPr lang="es-PE" sz="1900" b="1">
                          <a:solidFill>
                            <a:srgbClr val="182949"/>
                          </a:solidFill>
                          <a:latin typeface="Haas Grot Disp 75 Bold"/>
                        </a:rPr>
                        <a:t>Notificaciones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Outlook (incluido)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nn-NO" sz="1900">
                          <a:solidFill>
                            <a:srgbClr val="182949"/>
                          </a:solidFill>
                          <a:latin typeface="Haas Grot Disp 55 Roman" panose="020D0504030502050203"/>
                        </a:rPr>
                        <a:t>Resend (gratis) o Microsoft Graph</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22695136"/>
                  </a:ext>
                </a:extLst>
              </a:tr>
              <a:tr h="381000">
                <a:tc>
                  <a:txBody>
                    <a:bodyPr/>
                    <a:lstStyle/>
                    <a:p>
                      <a:r>
                        <a:rPr lang="es-PE" sz="1900" b="1">
                          <a:solidFill>
                            <a:srgbClr val="182949"/>
                          </a:solidFill>
                          <a:latin typeface="Haas Grot Disp 75 Bold"/>
                        </a:rPr>
                        <a:t>Inicio de sesión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Cuentas Microsoft de Stracon</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Enlace al correo (SSO con Entra ID opcional)</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066465205"/>
                  </a:ext>
                </a:extLst>
              </a:tr>
              <a:tr h="381000">
                <a:tc>
                  <a:txBody>
                    <a:bodyPr/>
                    <a:lstStyle/>
                    <a:p>
                      <a:r>
                        <a:rPr lang="es-MX" sz="1900" b="1">
                          <a:solidFill>
                            <a:srgbClr val="182949"/>
                          </a:solidFill>
                          <a:latin typeface="Haas Grot Disp 75 Bold"/>
                        </a:rPr>
                        <a:t>Código y control de cambios</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Soluciones de Power Platform</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GitLab (proyecto ya creado)</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770485994"/>
                  </a:ext>
                </a:extLst>
              </a:tr>
              <a:tr h="381000">
                <a:tc>
                  <a:txBody>
                    <a:bodyPr/>
                    <a:lstStyle/>
                    <a:p>
                      <a:r>
                        <a:rPr lang="es-PE" sz="1900" b="1">
                          <a:solidFill>
                            <a:srgbClr val="182949"/>
                          </a:solidFill>
                          <a:latin typeface="Haas Grot Disp 75 Bold"/>
                        </a:rPr>
                        <a:t>Gobierno de TI</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Todo dentro del tenant</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MX" sz="1900">
                          <a:solidFill>
                            <a:srgbClr val="182949"/>
                          </a:solidFill>
                          <a:latin typeface="Haas Grot Disp 55 Roman" panose="020D0504030502050203"/>
                        </a:rPr>
                        <a:t>Datos fuera del tenant: requiere visto bueno de TI</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2142659491"/>
                  </a:ext>
                </a:extLst>
              </a:tr>
            </a:tbl>
          </a:graphicData>
        </a:graphic>
      </p:graphicFrame>
    </p:spTree>
    <p:extLst>
      <p:ext uri="{BB962C8B-B14F-4D97-AF65-F5344CB8AC3E}">
        <p14:creationId xmlns:p14="http://schemas.microsoft.com/office/powerpoint/2010/main" val="522636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USD sin impuestos, consultados el 2 de octubre de 2026 · Microsoft con pago anual</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Licencias y precios de lista</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graphicFrame>
        <p:nvGraphicFramePr>
          <p:cNvPr id="2" name="Tabla 1">
            <a:extLst>
              <a:ext uri="{FF2B5EF4-FFF2-40B4-BE49-F238E27FC236}">
                <a16:creationId xmlns:a16="http://schemas.microsoft.com/office/drawing/2014/main" id="{0EFD1674-7DF8-0840-FC6F-61B7392735F6}"/>
              </a:ext>
            </a:extLst>
          </p:cNvPr>
          <p:cNvGraphicFramePr>
            <a:graphicFrameLocks noGrp="1"/>
          </p:cNvGraphicFramePr>
          <p:nvPr>
            <p:extLst>
              <p:ext uri="{D42A27DB-BD31-4B8C-83A1-F6EECF244321}">
                <p14:modId xmlns:p14="http://schemas.microsoft.com/office/powerpoint/2010/main" val="2739703284"/>
              </p:ext>
            </p:extLst>
          </p:nvPr>
        </p:nvGraphicFramePr>
        <p:xfrm>
          <a:off x="939799" y="3810000"/>
          <a:ext cx="18237200" cy="3048000"/>
        </p:xfrm>
        <a:graphic>
          <a:graphicData uri="http://schemas.openxmlformats.org/drawingml/2006/table">
            <a:tbl>
              <a:tblPr firstRow="1" bandRow="1">
                <a:tableStyleId>{2D5ABB26-0587-4C30-8999-92F81FD0307C}</a:tableStyleId>
              </a:tblPr>
              <a:tblGrid>
                <a:gridCol w="4191000">
                  <a:extLst>
                    <a:ext uri="{9D8B030D-6E8A-4147-A177-3AD203B41FA5}">
                      <a16:colId xmlns:a16="http://schemas.microsoft.com/office/drawing/2014/main" val="3034363763"/>
                    </a:ext>
                  </a:extLst>
                </a:gridCol>
                <a:gridCol w="4826000">
                  <a:extLst>
                    <a:ext uri="{9D8B030D-6E8A-4147-A177-3AD203B41FA5}">
                      <a16:colId xmlns:a16="http://schemas.microsoft.com/office/drawing/2014/main" val="1173763539"/>
                    </a:ext>
                  </a:extLst>
                </a:gridCol>
                <a:gridCol w="4191000">
                  <a:extLst>
                    <a:ext uri="{9D8B030D-6E8A-4147-A177-3AD203B41FA5}">
                      <a16:colId xmlns:a16="http://schemas.microsoft.com/office/drawing/2014/main" val="3907602941"/>
                    </a:ext>
                  </a:extLst>
                </a:gridCol>
                <a:gridCol w="5029200">
                  <a:extLst>
                    <a:ext uri="{9D8B030D-6E8A-4147-A177-3AD203B41FA5}">
                      <a16:colId xmlns:a16="http://schemas.microsoft.com/office/drawing/2014/main" val="3129872990"/>
                    </a:ext>
                  </a:extLst>
                </a:gridCol>
              </a:tblGrid>
              <a:tr h="381000">
                <a:tc>
                  <a:txBody>
                    <a:bodyPr/>
                    <a:lstStyle/>
                    <a:p>
                      <a:r>
                        <a:rPr lang="es-PE" sz="1900" b="1">
                          <a:solidFill>
                            <a:srgbClr val="FFFFFF"/>
                          </a:solidFill>
                          <a:latin typeface="Haas Grot Disp 75 Bold"/>
                        </a:rPr>
                        <a:t>Servicio</a:t>
                      </a: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Opción 1 · Microsoft</a:t>
                      </a:r>
                    </a:p>
                  </a:txBody>
                  <a:tcPr marL="127000" marR="127000" marT="76200" marB="76200" anchor="ctr">
                    <a:lnB w="9525">
                      <a:solidFill>
                        <a:srgbClr val="C9D0DA"/>
                      </a:solidFill>
                    </a:lnB>
                    <a:solidFill>
                      <a:srgbClr val="182949"/>
                    </a:solidFill>
                  </a:tcPr>
                </a:tc>
                <a:tc>
                  <a:txBody>
                    <a:bodyPr/>
                    <a:lstStyle/>
                    <a:p>
                      <a:r>
                        <a:rPr lang="es-MX" sz="1900" b="1">
                          <a:solidFill>
                            <a:srgbClr val="FFFFFF"/>
                          </a:solidFill>
                          <a:latin typeface="Haas Grot Disp 75 Bold"/>
                        </a:rPr>
                        <a:t>Opción 2 · Fuera de Microsoft</a:t>
                      </a:r>
                      <a:endParaRPr lang="es-PE" sz="1900" b="1">
                        <a:solidFill>
                          <a:srgbClr val="FFFFFF"/>
                        </a:solidFill>
                        <a:latin typeface="Haas Grot Disp 75 Bold"/>
                      </a:endParaRPr>
                    </a:p>
                  </a:txBody>
                  <a:tcPr marL="127000" marR="127000" marT="76200" marB="76200" anchor="ctr">
                    <a:lnB w="9525">
                      <a:solidFill>
                        <a:srgbClr val="C9D0DA"/>
                      </a:solidFill>
                    </a:lnB>
                    <a:solidFill>
                      <a:srgbClr val="182949"/>
                    </a:solidFill>
                  </a:tcPr>
                </a:tc>
                <a:tc>
                  <a:txBody>
                    <a:bodyPr/>
                    <a:lstStyle/>
                    <a:p>
                      <a:r>
                        <a:rPr lang="es-PE" sz="1900" b="1">
                          <a:solidFill>
                            <a:srgbClr val="FFFFFF"/>
                          </a:solidFill>
                          <a:latin typeface="Haas Grot Disp 75 Bold"/>
                        </a:rPr>
                        <a:t>Precio de lista</a:t>
                      </a:r>
                    </a:p>
                  </a:txBody>
                  <a:tcPr marL="127000" marR="127000" marT="76200" marB="76200" anchor="ctr">
                    <a:lnB w="9525">
                      <a:solidFill>
                        <a:srgbClr val="C9D0DA"/>
                      </a:solidFill>
                    </a:lnB>
                    <a:solidFill>
                      <a:srgbClr val="182949"/>
                    </a:solidFill>
                  </a:tcPr>
                </a:tc>
                <a:extLst>
                  <a:ext uri="{0D108BD9-81ED-4DB2-BD59-A6C34878D82A}">
                    <a16:rowId xmlns:a16="http://schemas.microsoft.com/office/drawing/2014/main" val="4087913292"/>
                  </a:ext>
                </a:extLst>
              </a:tr>
              <a:tr h="381000">
                <a:tc>
                  <a:txBody>
                    <a:bodyPr/>
                    <a:lstStyle/>
                    <a:p>
                      <a:r>
                        <a:rPr lang="es-PE" sz="1900" b="1">
                          <a:solidFill>
                            <a:srgbClr val="182949"/>
                          </a:solidFill>
                          <a:latin typeface="Haas Grot Disp 75 Bold"/>
                        </a:rPr>
                        <a:t>Power Apps (conectores estándar)</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Incluido en Microsoft 365</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US$ 0</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3361709938"/>
                  </a:ext>
                </a:extLst>
              </a:tr>
              <a:tr h="381000">
                <a:tc>
                  <a:txBody>
                    <a:bodyPr/>
                    <a:lstStyle/>
                    <a:p>
                      <a:r>
                        <a:rPr lang="es-PE" sz="1900" b="1">
                          <a:solidFill>
                            <a:srgbClr val="182949"/>
                          </a:solidFill>
                          <a:latin typeface="Haas Grot Disp 75 Bold"/>
                        </a:rPr>
                        <a:t>Power Automate Premium o Process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1 licencia para el flujo que llama a Adobe</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US$ 15 /usuario/mes · US$ 150 /flujo/mes</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2891660281"/>
                  </a:ext>
                </a:extLst>
              </a:tr>
              <a:tr h="381000">
                <a:tc>
                  <a:txBody>
                    <a:bodyPr/>
                    <a:lstStyle/>
                    <a:p>
                      <a:r>
                        <a:rPr lang="es-PE" sz="1900" b="1">
                          <a:solidFill>
                            <a:srgbClr val="182949"/>
                          </a:solidFill>
                          <a:latin typeface="Haas Grot Disp 75 Bold"/>
                        </a:rPr>
                        <a:t>Power Apps Premium</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Solo si aplica multiplexación o Dataverse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US$ 20 /usuario/mes</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2810892964"/>
                  </a:ext>
                </a:extLst>
              </a:tr>
              <a:tr h="381000">
                <a:tc>
                  <a:txBody>
                    <a:bodyPr/>
                    <a:lstStyle/>
                    <a:p>
                      <a:r>
                        <a:rPr lang="es-PE" sz="1900" b="1">
                          <a:solidFill>
                            <a:srgbClr val="182949"/>
                          </a:solidFill>
                          <a:latin typeface="Haas Grot Disp 75 Bold"/>
                        </a:rPr>
                        <a:t>Supabase Pro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Para producción</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US$ 25 /mes (plan gratis para piloto)</a:t>
                      </a: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429919403"/>
                  </a:ext>
                </a:extLst>
              </a:tr>
              <a:tr h="381000">
                <a:tc>
                  <a:txBody>
                    <a:bodyPr/>
                    <a:lstStyle/>
                    <a:p>
                      <a:r>
                        <a:rPr lang="es-PE" sz="1900" b="1">
                          <a:solidFill>
                            <a:srgbClr val="182949"/>
                          </a:solidFill>
                          <a:latin typeface="Haas Grot Disp 75 Bold"/>
                        </a:rPr>
                        <a:t>Netlify · Resend · GitLab</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No aplica</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Planes gratis</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US$ 0</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1850102378"/>
                  </a:ext>
                </a:extLst>
              </a:tr>
              <a:tr h="381000">
                <a:tc>
                  <a:txBody>
                    <a:bodyPr/>
                    <a:lstStyle/>
                    <a:p>
                      <a:r>
                        <a:rPr lang="es-PE" sz="1900" b="1">
                          <a:solidFill>
                            <a:srgbClr val="182949"/>
                          </a:solidFill>
                          <a:latin typeface="Haas Grot Disp 75 Bold"/>
                        </a:rPr>
                        <a:t>Adobe PDF Services</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Requerido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PE" sz="1900">
                          <a:solidFill>
                            <a:srgbClr val="182949"/>
                          </a:solidFill>
                          <a:latin typeface="Haas Grot Disp 55 Roman" panose="020D0504030502050203"/>
                        </a:rPr>
                        <a:t>Requerido</a:t>
                      </a:r>
                    </a:p>
                  </a:txBody>
                  <a:tcPr marL="127000" marR="127000" marT="76200" marB="76200" anchor="ctr">
                    <a:lnT w="9525">
                      <a:solidFill>
                        <a:srgbClr val="C9D0DA"/>
                      </a:solidFill>
                    </a:lnT>
                    <a:lnB w="9525">
                      <a:solidFill>
                        <a:srgbClr val="C9D0DA"/>
                      </a:solidFill>
                    </a:lnB>
                    <a:solidFill>
                      <a:srgbClr val="F3F5F8"/>
                    </a:solidFill>
                  </a:tcPr>
                </a:tc>
                <a:tc>
                  <a:txBody>
                    <a:bodyPr/>
                    <a:lstStyle/>
                    <a:p>
                      <a:r>
                        <a:rPr lang="es-MX" sz="1900">
                          <a:solidFill>
                            <a:srgbClr val="182949"/>
                          </a:solidFill>
                          <a:latin typeface="Haas Grot Disp 55 Roman" panose="020D0504030502050203"/>
                        </a:rPr>
                        <a:t>500 gratis/mes; luego US$ 0.05 por transacción</a:t>
                      </a:r>
                      <a:endParaRPr lang="es-PE" sz="1900">
                        <a:solidFill>
                          <a:srgbClr val="182949"/>
                        </a:solidFill>
                        <a:latin typeface="Haas Grot Disp 55 Roman" panose="020D0504030502050203"/>
                      </a:endParaRPr>
                    </a:p>
                  </a:txBody>
                  <a:tcPr marL="127000" marR="127000" marT="76200" marB="76200" anchor="ctr">
                    <a:lnT w="9525">
                      <a:solidFill>
                        <a:srgbClr val="C9D0DA"/>
                      </a:solidFill>
                    </a:lnT>
                    <a:lnB w="9525">
                      <a:solidFill>
                        <a:srgbClr val="C9D0DA"/>
                      </a:solidFill>
                    </a:lnB>
                    <a:solidFill>
                      <a:srgbClr val="F3F5F8"/>
                    </a:solidFill>
                  </a:tcPr>
                </a:tc>
                <a:extLst>
                  <a:ext uri="{0D108BD9-81ED-4DB2-BD59-A6C34878D82A}">
                    <a16:rowId xmlns:a16="http://schemas.microsoft.com/office/drawing/2014/main" val="115648139"/>
                  </a:ext>
                </a:extLst>
              </a:tr>
              <a:tr h="381000">
                <a:tc>
                  <a:txBody>
                    <a:bodyPr/>
                    <a:lstStyle/>
                    <a:p>
                      <a:r>
                        <a:rPr lang="it-IT" sz="1900" b="1">
                          <a:solidFill>
                            <a:srgbClr val="182949"/>
                          </a:solidFill>
                          <a:latin typeface="Haas Grot Disp 75 Bold"/>
                        </a:rPr>
                        <a:t>Adobe Acrobat Sign (con API)</a:t>
                      </a:r>
                      <a:endParaRPr lang="es-PE" sz="1900" b="1">
                        <a:solidFill>
                          <a:srgbClr val="182949"/>
                        </a:solidFill>
                        <a:latin typeface="Haas Grot Disp 75 Bold"/>
                      </a:endParaRP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1 sobre por protocolo</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1 sobre por paquete</a:t>
                      </a:r>
                    </a:p>
                  </a:txBody>
                  <a:tcPr marL="127000" marR="127000" marT="76200" marB="76200" anchor="ctr">
                    <a:lnT w="9525">
                      <a:solidFill>
                        <a:srgbClr val="C9D0DA"/>
                      </a:solidFill>
                    </a:lnT>
                    <a:lnB w="9525">
                      <a:solidFill>
                        <a:srgbClr val="C9D0DA"/>
                      </a:solidFill>
                    </a:lnB>
                    <a:solidFill>
                      <a:srgbClr val="FFFFFF"/>
                    </a:solidFill>
                  </a:tcPr>
                </a:tc>
                <a:tc>
                  <a:txBody>
                    <a:bodyPr/>
                    <a:lstStyle/>
                    <a:p>
                      <a:r>
                        <a:rPr lang="es-PE" sz="1900">
                          <a:solidFill>
                            <a:srgbClr val="182949"/>
                          </a:solidFill>
                          <a:latin typeface="Haas Grot Disp 55 Roman" panose="020D0504030502050203"/>
                        </a:rPr>
                        <a:t>Cotización: sin precio público</a:t>
                      </a:r>
                    </a:p>
                  </a:txBody>
                  <a:tcPr marL="127000" marR="127000" marT="76200" marB="76200" anchor="ctr">
                    <a:lnT w="9525">
                      <a:solidFill>
                        <a:srgbClr val="C9D0DA"/>
                      </a:solidFill>
                    </a:lnT>
                    <a:lnB w="9525">
                      <a:solidFill>
                        <a:srgbClr val="C9D0DA"/>
                      </a:solidFill>
                    </a:lnB>
                    <a:solidFill>
                      <a:srgbClr val="FFFFFF"/>
                    </a:solidFill>
                  </a:tcPr>
                </a:tc>
                <a:extLst>
                  <a:ext uri="{0D108BD9-81ED-4DB2-BD59-A6C34878D82A}">
                    <a16:rowId xmlns:a16="http://schemas.microsoft.com/office/drawing/2014/main" val="1568032901"/>
                  </a:ext>
                </a:extLst>
              </a:tr>
            </a:tbl>
          </a:graphicData>
        </a:graphic>
      </p:graphicFrame>
      <p:sp>
        <p:nvSpPr>
          <p:cNvPr id="3" name="CuadroTexto 2">
            <a:extLst>
              <a:ext uri="{FF2B5EF4-FFF2-40B4-BE49-F238E27FC236}">
                <a16:creationId xmlns:a16="http://schemas.microsoft.com/office/drawing/2014/main" id="{36579108-AAEB-32BB-075D-495EB09679D8}"/>
              </a:ext>
            </a:extLst>
          </p:cNvPr>
          <p:cNvSpPr txBox="1"/>
          <p:nvPr/>
        </p:nvSpPr>
        <p:spPr>
          <a:xfrm>
            <a:off x="939800" y="9779000"/>
            <a:ext cx="182372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65 Medium"/>
              </a:rPr>
              <a:t>Pendiente: confirmar con gerencia si “contratar Adobe” cubre PDF Services y Acrobat Sign (son productos distintos) y confirmar con el partner de Microsoft la regla de multiplexación.</a:t>
            </a:r>
            <a:endParaRPr lang="es-PE" sz="2000">
              <a:solidFill>
                <a:srgbClr val="5C697C"/>
              </a:solidFill>
              <a:latin typeface="Haas Grot Disp 65 Medium"/>
            </a:endParaRPr>
          </a:p>
        </p:txBody>
      </p:sp>
    </p:spTree>
    <p:extLst>
      <p:ext uri="{BB962C8B-B14F-4D97-AF65-F5344CB8AC3E}">
        <p14:creationId xmlns:p14="http://schemas.microsoft.com/office/powerpoint/2010/main" val="2313749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Ejemplo con 200 protocolos al mes y paquetes de 10 protocolos para KP</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Costo estimado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49A9B768-9823-ACCC-4FDB-CCBD43BD0623}"/>
              </a:ext>
            </a:extLst>
          </p:cNvPr>
          <p:cNvSpPr/>
          <p:nvPr/>
        </p:nvSpPr>
        <p:spPr>
          <a:xfrm>
            <a:off x="939800" y="3810000"/>
            <a:ext cx="8928100" cy="4191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4185B2DC-D968-44EA-CEDF-BA734E3E58F9}"/>
              </a:ext>
            </a:extLst>
          </p:cNvPr>
          <p:cNvSpPr txBox="1"/>
          <p:nvPr/>
        </p:nvSpPr>
        <p:spPr>
          <a:xfrm>
            <a:off x="1397000" y="4140200"/>
            <a:ext cx="8128000" cy="369332"/>
          </a:xfrm>
          <a:prstGeom prst="rect">
            <a:avLst/>
          </a:prstGeom>
          <a:noFill/>
        </p:spPr>
        <p:txBody>
          <a:bodyPr vert="horz" wrap="square" lIns="0" tIns="0" rIns="0" bIns="0" rtlCol="0" anchor="t">
            <a:noAutofit/>
          </a:bodyPr>
          <a:lstStyle/>
          <a:p>
            <a:pPr algn="l"/>
            <a:r>
              <a:rPr lang="es-PE" sz="2750" b="1">
                <a:solidFill>
                  <a:srgbClr val="FFFFFF"/>
                </a:solidFill>
                <a:latin typeface="Haas Grot Disp 75 Bold"/>
              </a:rPr>
              <a:t>Opción 1 · Microsoft</a:t>
            </a:r>
          </a:p>
        </p:txBody>
      </p:sp>
      <p:sp>
        <p:nvSpPr>
          <p:cNvPr id="4" name="CuadroTexto 3">
            <a:extLst>
              <a:ext uri="{FF2B5EF4-FFF2-40B4-BE49-F238E27FC236}">
                <a16:creationId xmlns:a16="http://schemas.microsoft.com/office/drawing/2014/main" id="{7C1C99EE-974A-55FF-4213-490B279408FC}"/>
              </a:ext>
            </a:extLst>
          </p:cNvPr>
          <p:cNvSpPr txBox="1"/>
          <p:nvPr/>
        </p:nvSpPr>
        <p:spPr>
          <a:xfrm>
            <a:off x="1397000" y="4699000"/>
            <a:ext cx="81280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US$ 215</a:t>
            </a:r>
            <a:r>
              <a:rPr lang="es-PE" sz="2800" b="1">
                <a:solidFill>
                  <a:srgbClr val="FFFFFF"/>
                </a:solidFill>
                <a:latin typeface="Haas Grot Disp 75 Bold"/>
              </a:rPr>
              <a:t> al mes</a:t>
            </a:r>
          </a:p>
        </p:txBody>
      </p:sp>
      <p:sp>
        <p:nvSpPr>
          <p:cNvPr id="5" name="CuadroTexto 4">
            <a:extLst>
              <a:ext uri="{FF2B5EF4-FFF2-40B4-BE49-F238E27FC236}">
                <a16:creationId xmlns:a16="http://schemas.microsoft.com/office/drawing/2014/main" id="{F42B0B77-6FCA-7BAA-8B8C-C2230103AD5E}"/>
              </a:ext>
            </a:extLst>
          </p:cNvPr>
          <p:cNvSpPr txBox="1"/>
          <p:nvPr/>
        </p:nvSpPr>
        <p:spPr>
          <a:xfrm>
            <a:off x="1397000" y="5867400"/>
            <a:ext cx="8128000" cy="369332"/>
          </a:xfrm>
          <a:prstGeom prst="rect">
            <a:avLst/>
          </a:prstGeom>
          <a:noFill/>
        </p:spPr>
        <p:txBody>
          <a:bodyPr vert="horz" wrap="square" lIns="0" tIns="0" rIns="0" bIns="0" rtlCol="0" anchor="t">
            <a:noAutofit/>
          </a:bodyPr>
          <a:lstStyle/>
          <a:p>
            <a:pPr algn="l"/>
            <a:r>
              <a:rPr lang="es-MX" sz="3000">
                <a:solidFill>
                  <a:srgbClr val="FFFFFF"/>
                </a:solidFill>
                <a:latin typeface="Haas Grot Disp 65 Medium"/>
              </a:rPr>
              <a:t>US$ 2 580 al año</a:t>
            </a:r>
            <a:endParaRPr lang="es-PE" sz="3000">
              <a:solidFill>
                <a:srgbClr val="FFFFFF"/>
              </a:solidFill>
              <a:latin typeface="Haas Grot Disp 65 Medium"/>
            </a:endParaRPr>
          </a:p>
        </p:txBody>
      </p:sp>
      <p:sp>
        <p:nvSpPr>
          <p:cNvPr id="6" name="CuadroTexto 5">
            <a:extLst>
              <a:ext uri="{FF2B5EF4-FFF2-40B4-BE49-F238E27FC236}">
                <a16:creationId xmlns:a16="http://schemas.microsoft.com/office/drawing/2014/main" id="{F6B0002F-4A91-226A-3366-78AECC941C36}"/>
              </a:ext>
            </a:extLst>
          </p:cNvPr>
          <p:cNvSpPr txBox="1"/>
          <p:nvPr/>
        </p:nvSpPr>
        <p:spPr>
          <a:xfrm>
            <a:off x="1397000" y="6502400"/>
            <a:ext cx="8128000" cy="369332"/>
          </a:xfrm>
          <a:prstGeom prst="rect">
            <a:avLst/>
          </a:prstGeom>
          <a:noFill/>
        </p:spPr>
        <p:txBody>
          <a:bodyPr vert="horz" wrap="square" lIns="0" tIns="0" rIns="0" bIns="0" rtlCol="0" anchor="t">
            <a:noAutofit/>
          </a:bodyPr>
          <a:lstStyle/>
          <a:p>
            <a:pPr algn="l"/>
            <a:r>
              <a:rPr lang="en-US" sz="2000">
                <a:solidFill>
                  <a:srgbClr val="FFFFFF"/>
                </a:solidFill>
                <a:latin typeface="Haas Grot Disp 55 Roman" panose="020D0504030502050203"/>
              </a:rPr>
              <a:t>Power Automate Premium: US$ 15</a:t>
            </a:r>
          </a:p>
          <a:p>
            <a:pPr algn="l"/>
            <a:r>
              <a:rPr lang="en-US" sz="2000">
                <a:solidFill>
                  <a:srgbClr val="FFFFFF"/>
                </a:solidFill>
                <a:latin typeface="Haas Grot Disp 55 Roman" panose="020D0504030502050203"/>
              </a:rPr>
              <a:t>Adobe PDF Services: US$ 0 (400 de 500 gratis)</a:t>
            </a:r>
          </a:p>
          <a:p>
            <a:pPr algn="l"/>
            <a:r>
              <a:rPr lang="en-US" sz="2000">
                <a:solidFill>
                  <a:srgbClr val="FFFFFF"/>
                </a:solidFill>
                <a:latin typeface="Haas Grot Disp 55 Roman" panose="020D0504030502050203"/>
              </a:rPr>
              <a:t>Acrobat Sign: 200 sobres × US$ 1 = US$ 200</a:t>
            </a:r>
            <a:endParaRPr lang="es-PE" sz="2000">
              <a:solidFill>
                <a:srgbClr val="FFFFFF"/>
              </a:solidFill>
              <a:latin typeface="Haas Grot Disp 55 Roman" panose="020D0504030502050203"/>
            </a:endParaRPr>
          </a:p>
        </p:txBody>
      </p:sp>
      <p:sp>
        <p:nvSpPr>
          <p:cNvPr id="7" name="Rectángulo 6">
            <a:extLst>
              <a:ext uri="{FF2B5EF4-FFF2-40B4-BE49-F238E27FC236}">
                <a16:creationId xmlns:a16="http://schemas.microsoft.com/office/drawing/2014/main" id="{ADB59456-6899-BBE9-8773-828A9F2B4C0C}"/>
              </a:ext>
            </a:extLst>
          </p:cNvPr>
          <p:cNvSpPr/>
          <p:nvPr/>
        </p:nvSpPr>
        <p:spPr>
          <a:xfrm>
            <a:off x="10248900" y="3810000"/>
            <a:ext cx="8928100" cy="41910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CuadroTexto 32">
            <a:extLst>
              <a:ext uri="{FF2B5EF4-FFF2-40B4-BE49-F238E27FC236}">
                <a16:creationId xmlns:a16="http://schemas.microsoft.com/office/drawing/2014/main" id="{A8326A2F-9DE5-C96B-D05A-1E24E58475B7}"/>
              </a:ext>
            </a:extLst>
          </p:cNvPr>
          <p:cNvSpPr txBox="1"/>
          <p:nvPr/>
        </p:nvSpPr>
        <p:spPr>
          <a:xfrm>
            <a:off x="10706100" y="4140200"/>
            <a:ext cx="8128000" cy="369332"/>
          </a:xfrm>
          <a:prstGeom prst="rect">
            <a:avLst/>
          </a:prstGeom>
          <a:noFill/>
        </p:spPr>
        <p:txBody>
          <a:bodyPr vert="horz" wrap="square" lIns="0" tIns="0" rIns="0" bIns="0" rtlCol="0" anchor="t">
            <a:noAutofit/>
          </a:bodyPr>
          <a:lstStyle/>
          <a:p>
            <a:pPr algn="l"/>
            <a:r>
              <a:rPr lang="es-MX" sz="2750" b="1">
                <a:solidFill>
                  <a:srgbClr val="FFFFFF"/>
                </a:solidFill>
                <a:latin typeface="Haas Grot Disp 75 Bold"/>
              </a:rPr>
              <a:t>Opción 2 · Fuera de Microsoft</a:t>
            </a:r>
            <a:endParaRPr lang="es-PE" sz="2750" b="1">
              <a:solidFill>
                <a:srgbClr val="FFFFFF"/>
              </a:solidFill>
              <a:latin typeface="Haas Grot Disp 75 Bold"/>
            </a:endParaRPr>
          </a:p>
        </p:txBody>
      </p:sp>
      <p:sp>
        <p:nvSpPr>
          <p:cNvPr id="36" name="CuadroTexto 35">
            <a:extLst>
              <a:ext uri="{FF2B5EF4-FFF2-40B4-BE49-F238E27FC236}">
                <a16:creationId xmlns:a16="http://schemas.microsoft.com/office/drawing/2014/main" id="{3807CD54-1C1F-FC93-46C6-5555BA165D55}"/>
              </a:ext>
            </a:extLst>
          </p:cNvPr>
          <p:cNvSpPr txBox="1"/>
          <p:nvPr/>
        </p:nvSpPr>
        <p:spPr>
          <a:xfrm>
            <a:off x="10706100" y="4699000"/>
            <a:ext cx="81280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US$ 45</a:t>
            </a:r>
            <a:r>
              <a:rPr lang="es-PE" sz="2800" b="1">
                <a:solidFill>
                  <a:srgbClr val="FFFFFF"/>
                </a:solidFill>
                <a:latin typeface="Haas Grot Disp 75 Bold"/>
              </a:rPr>
              <a:t> al mes</a:t>
            </a:r>
          </a:p>
        </p:txBody>
      </p:sp>
      <p:sp>
        <p:nvSpPr>
          <p:cNvPr id="37" name="CuadroTexto 36">
            <a:extLst>
              <a:ext uri="{FF2B5EF4-FFF2-40B4-BE49-F238E27FC236}">
                <a16:creationId xmlns:a16="http://schemas.microsoft.com/office/drawing/2014/main" id="{80405ADE-ACF7-A71E-B678-933532AC4F6E}"/>
              </a:ext>
            </a:extLst>
          </p:cNvPr>
          <p:cNvSpPr txBox="1"/>
          <p:nvPr/>
        </p:nvSpPr>
        <p:spPr>
          <a:xfrm>
            <a:off x="10706100" y="5867400"/>
            <a:ext cx="8128000" cy="369332"/>
          </a:xfrm>
          <a:prstGeom prst="rect">
            <a:avLst/>
          </a:prstGeom>
          <a:noFill/>
        </p:spPr>
        <p:txBody>
          <a:bodyPr vert="horz" wrap="square" lIns="0" tIns="0" rIns="0" bIns="0" rtlCol="0" anchor="t">
            <a:noAutofit/>
          </a:bodyPr>
          <a:lstStyle/>
          <a:p>
            <a:pPr algn="l"/>
            <a:r>
              <a:rPr lang="es-PE" sz="3000">
                <a:solidFill>
                  <a:srgbClr val="FFFFFF"/>
                </a:solidFill>
                <a:latin typeface="Haas Grot Disp 65 Medium"/>
              </a:rPr>
              <a:t>US$ 540 al año</a:t>
            </a:r>
          </a:p>
        </p:txBody>
      </p:sp>
      <p:sp>
        <p:nvSpPr>
          <p:cNvPr id="38" name="CuadroTexto 37">
            <a:extLst>
              <a:ext uri="{FF2B5EF4-FFF2-40B4-BE49-F238E27FC236}">
                <a16:creationId xmlns:a16="http://schemas.microsoft.com/office/drawing/2014/main" id="{29E7CE82-8E91-C810-4DD7-D081CCECA275}"/>
              </a:ext>
            </a:extLst>
          </p:cNvPr>
          <p:cNvSpPr txBox="1"/>
          <p:nvPr/>
        </p:nvSpPr>
        <p:spPr>
          <a:xfrm>
            <a:off x="10706100" y="6502400"/>
            <a:ext cx="8128000" cy="369332"/>
          </a:xfrm>
          <a:prstGeom prst="rect">
            <a:avLst/>
          </a:prstGeom>
          <a:noFill/>
        </p:spPr>
        <p:txBody>
          <a:bodyPr vert="horz" wrap="square" lIns="0" tIns="0" rIns="0" bIns="0" rtlCol="0" anchor="t">
            <a:noAutofit/>
          </a:bodyPr>
          <a:lstStyle/>
          <a:p>
            <a:pPr algn="l"/>
            <a:r>
              <a:rPr lang="en-US" sz="2000">
                <a:solidFill>
                  <a:srgbClr val="FFFFFF"/>
                </a:solidFill>
                <a:latin typeface="Haas Grot Disp 55 Roman" panose="020D0504030502050203"/>
              </a:rPr>
              <a:t>Supabase Pro: US$ 25 · Correo y hosting: US$ 0</a:t>
            </a:r>
          </a:p>
          <a:p>
            <a:pPr algn="l"/>
            <a:r>
              <a:rPr lang="en-US" sz="2000">
                <a:solidFill>
                  <a:srgbClr val="FFFFFF"/>
                </a:solidFill>
                <a:latin typeface="Haas Grot Disp 55 Roman" panose="020D0504030502050203"/>
              </a:rPr>
              <a:t>Adobe PDF Services: US$ 0 (400 de 500 gratis)</a:t>
            </a:r>
          </a:p>
          <a:p>
            <a:pPr algn="l"/>
            <a:r>
              <a:rPr lang="en-US" sz="2000">
                <a:solidFill>
                  <a:srgbClr val="FFFFFF"/>
                </a:solidFill>
                <a:latin typeface="Haas Grot Disp 55 Roman" panose="020D0504030502050203"/>
              </a:rPr>
              <a:t>Acrobat Sign: 20 sobres × US$ 1 = US$ 20</a:t>
            </a:r>
            <a:endParaRPr lang="es-PE" sz="2000">
              <a:solidFill>
                <a:srgbClr val="FFFFFF"/>
              </a:solidFill>
              <a:latin typeface="Haas Grot Disp 55 Roman" panose="020D0504030502050203"/>
            </a:endParaRPr>
          </a:p>
        </p:txBody>
      </p:sp>
      <p:sp>
        <p:nvSpPr>
          <p:cNvPr id="39" name="Rectángulo 38">
            <a:extLst>
              <a:ext uri="{FF2B5EF4-FFF2-40B4-BE49-F238E27FC236}">
                <a16:creationId xmlns:a16="http://schemas.microsoft.com/office/drawing/2014/main" id="{0404538B-8134-902A-2790-2BACFB6AFC65}"/>
              </a:ext>
            </a:extLst>
          </p:cNvPr>
          <p:cNvSpPr/>
          <p:nvPr/>
        </p:nvSpPr>
        <p:spPr>
          <a:xfrm>
            <a:off x="939800" y="8382000"/>
            <a:ext cx="8928100" cy="2159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CuadroTexto 39">
            <a:extLst>
              <a:ext uri="{FF2B5EF4-FFF2-40B4-BE49-F238E27FC236}">
                <a16:creationId xmlns:a16="http://schemas.microsoft.com/office/drawing/2014/main" id="{04D24649-E72D-9A89-CEBF-2FF75D6B1A33}"/>
              </a:ext>
            </a:extLst>
          </p:cNvPr>
          <p:cNvSpPr txBox="1"/>
          <p:nvPr/>
        </p:nvSpPr>
        <p:spPr>
          <a:xfrm>
            <a:off x="1320800" y="8636000"/>
            <a:ext cx="8255000" cy="369332"/>
          </a:xfrm>
          <a:prstGeom prst="rect">
            <a:avLst/>
          </a:prstGeom>
          <a:noFill/>
        </p:spPr>
        <p:txBody>
          <a:bodyPr vert="horz" wrap="square" lIns="0" tIns="0" rIns="0" bIns="0" rtlCol="0" anchor="t">
            <a:noAutofit/>
          </a:bodyPr>
          <a:lstStyle/>
          <a:p>
            <a:pPr algn="l"/>
            <a:r>
              <a:rPr lang="es-MX" sz="2400" b="1">
                <a:solidFill>
                  <a:srgbClr val="182949"/>
                </a:solidFill>
                <a:latin typeface="Haas Grot Disp 75 Bold"/>
              </a:rPr>
              <a:t>Supuestos</a:t>
            </a:r>
          </a:p>
          <a:p>
            <a:pPr algn="l"/>
            <a:r>
              <a:rPr lang="es-MX" sz="2000">
                <a:solidFill>
                  <a:srgbClr val="182949"/>
                </a:solidFill>
                <a:latin typeface="Haas Grot Disp 55 Roman" panose="020D0504030502050203"/>
              </a:rPr>
              <a:t>200 protocolos/mes · 15 páginas por protocolo con adjuntos · paquetes de 10 · 5 MB por protocolo · US$ 1 por sobre de Acrobat Sign (supuesto hasta tener la cotización)</a:t>
            </a:r>
            <a:endParaRPr lang="es-PE" sz="2000">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706DABE3-ECAF-B49B-6CD2-BC36DECB4EE9}"/>
              </a:ext>
            </a:extLst>
          </p:cNvPr>
          <p:cNvSpPr/>
          <p:nvPr/>
        </p:nvSpPr>
        <p:spPr>
          <a:xfrm>
            <a:off x="10248900" y="8382000"/>
            <a:ext cx="8928100" cy="2159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4185D4B9-E13E-3263-1520-2AFBB41A6D7C}"/>
              </a:ext>
            </a:extLst>
          </p:cNvPr>
          <p:cNvSpPr txBox="1"/>
          <p:nvPr/>
        </p:nvSpPr>
        <p:spPr>
          <a:xfrm>
            <a:off x="10629900" y="8636000"/>
            <a:ext cx="8255000" cy="369332"/>
          </a:xfrm>
          <a:prstGeom prst="rect">
            <a:avLst/>
          </a:prstGeom>
          <a:noFill/>
        </p:spPr>
        <p:txBody>
          <a:bodyPr vert="horz" wrap="square" lIns="0" tIns="0" rIns="0" bIns="0" rtlCol="0" anchor="t">
            <a:noAutofit/>
          </a:bodyPr>
          <a:lstStyle/>
          <a:p>
            <a:pPr algn="l"/>
            <a:r>
              <a:rPr lang="es-MX" sz="2400" b="1">
                <a:solidFill>
                  <a:srgbClr val="182949"/>
                </a:solidFill>
                <a:latin typeface="Haas Grot Disp 75 Bold"/>
              </a:rPr>
              <a:t>La diferencia viene de Acrobat Sign</a:t>
            </a:r>
          </a:p>
          <a:p>
            <a:pPr algn="l"/>
            <a:r>
              <a:rPr lang="es-MX" sz="2000">
                <a:solidFill>
                  <a:srgbClr val="182949"/>
                </a:solidFill>
                <a:latin typeface="Haas Grot Disp 55 Roman" panose="020D0504030502050203"/>
              </a:rPr>
              <a:t>200 sobres al mes en la Opción 1 frente a 20 en la Opción 2. No incluye desarrollo, mantenimiento ni un posible contrato mínimo anual de Adobe.</a:t>
            </a:r>
            <a:endParaRPr lang="es-PE" sz="2000">
              <a:solidFill>
                <a:srgbClr val="182949"/>
              </a:solidFill>
              <a:latin typeface="Haas Grot Disp 55 Roman" panose="020D0504030502050203"/>
            </a:endParaRPr>
          </a:p>
        </p:txBody>
      </p:sp>
    </p:spTree>
    <p:extLst>
      <p:ext uri="{BB962C8B-B14F-4D97-AF65-F5344CB8AC3E}">
        <p14:creationId xmlns:p14="http://schemas.microsoft.com/office/powerpoint/2010/main" val="480844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El “500” del brief corresponde a Adobe, no a Supabase</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Límites de los planes gratis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76B6D5CC-E0AF-28E5-169C-D2BA06D5AFC3}"/>
              </a:ext>
            </a:extLst>
          </p:cNvPr>
          <p:cNvSpPr/>
          <p:nvPr/>
        </p:nvSpPr>
        <p:spPr>
          <a:xfrm>
            <a:off x="939800" y="4064000"/>
            <a:ext cx="4292600" cy="4572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47D57BDE-271E-137E-C6A4-AB3A7F483DA5}"/>
              </a:ext>
            </a:extLst>
          </p:cNvPr>
          <p:cNvSpPr txBox="1"/>
          <p:nvPr/>
        </p:nvSpPr>
        <p:spPr>
          <a:xfrm>
            <a:off x="1295400" y="4445000"/>
            <a:ext cx="3581400" cy="369332"/>
          </a:xfrm>
          <a:prstGeom prst="rect">
            <a:avLst/>
          </a:prstGeom>
          <a:noFill/>
        </p:spPr>
        <p:txBody>
          <a:bodyPr vert="horz" wrap="square" lIns="0" tIns="0" rIns="0" bIns="0" rtlCol="0" anchor="t">
            <a:noAutofit/>
          </a:bodyPr>
          <a:lstStyle/>
          <a:p>
            <a:pPr algn="l"/>
            <a:r>
              <a:rPr lang="es-PE" sz="7500" b="1">
                <a:solidFill>
                  <a:srgbClr val="FFFFFF"/>
                </a:solidFill>
                <a:latin typeface="Haas Grot Disp 75 Bold"/>
              </a:rPr>
              <a:t>500</a:t>
            </a:r>
          </a:p>
        </p:txBody>
      </p:sp>
      <p:sp>
        <p:nvSpPr>
          <p:cNvPr id="4" name="CuadroTexto 3">
            <a:extLst>
              <a:ext uri="{FF2B5EF4-FFF2-40B4-BE49-F238E27FC236}">
                <a16:creationId xmlns:a16="http://schemas.microsoft.com/office/drawing/2014/main" id="{D87858EE-EE03-F953-AC37-8837714FBD17}"/>
              </a:ext>
            </a:extLst>
          </p:cNvPr>
          <p:cNvSpPr txBox="1"/>
          <p:nvPr/>
        </p:nvSpPr>
        <p:spPr>
          <a:xfrm>
            <a:off x="1295400" y="5969000"/>
            <a:ext cx="3581400" cy="369332"/>
          </a:xfrm>
          <a:prstGeom prst="rect">
            <a:avLst/>
          </a:prstGeom>
          <a:noFill/>
        </p:spPr>
        <p:txBody>
          <a:bodyPr vert="horz" wrap="square" lIns="0" tIns="0" rIns="0" bIns="0" rtlCol="0" anchor="t">
            <a:noAutofit/>
          </a:bodyPr>
          <a:lstStyle/>
          <a:p>
            <a:pPr algn="l"/>
            <a:r>
              <a:rPr lang="es-PE" sz="2500" b="1">
                <a:solidFill>
                  <a:srgbClr val="FFFFFF"/>
                </a:solidFill>
                <a:latin typeface="Haas Grot Disp 75 Bold"/>
              </a:rPr>
              <a:t>Adobe PDF Services</a:t>
            </a:r>
          </a:p>
        </p:txBody>
      </p:sp>
      <p:sp>
        <p:nvSpPr>
          <p:cNvPr id="5" name="CuadroTexto 4">
            <a:extLst>
              <a:ext uri="{FF2B5EF4-FFF2-40B4-BE49-F238E27FC236}">
                <a16:creationId xmlns:a16="http://schemas.microsoft.com/office/drawing/2014/main" id="{205C7193-2223-0041-C6B2-2B5AF7FB4FA9}"/>
              </a:ext>
            </a:extLst>
          </p:cNvPr>
          <p:cNvSpPr txBox="1"/>
          <p:nvPr/>
        </p:nvSpPr>
        <p:spPr>
          <a:xfrm>
            <a:off x="1295400" y="6604000"/>
            <a:ext cx="3581400" cy="369332"/>
          </a:xfrm>
          <a:prstGeom prst="rect">
            <a:avLst/>
          </a:prstGeom>
          <a:noFill/>
        </p:spPr>
        <p:txBody>
          <a:bodyPr vert="horz" wrap="square" lIns="0" tIns="0" rIns="0" bIns="0" rtlCol="0" anchor="t">
            <a:noAutofit/>
          </a:bodyPr>
          <a:lstStyle/>
          <a:p>
            <a:pPr algn="l"/>
            <a:r>
              <a:rPr lang="es-PE" sz="2250">
                <a:solidFill>
                  <a:srgbClr val="FFFFFF"/>
                </a:solidFill>
                <a:latin typeface="Haas Grot Disp 55 Roman" panose="020D0504030502050203"/>
              </a:rPr>
              <a:t>transacciones al mes ≈ 250 protocolos (2 por protocolo)</a:t>
            </a:r>
          </a:p>
        </p:txBody>
      </p:sp>
      <p:sp>
        <p:nvSpPr>
          <p:cNvPr id="6" name="Rectángulo 5">
            <a:extLst>
              <a:ext uri="{FF2B5EF4-FFF2-40B4-BE49-F238E27FC236}">
                <a16:creationId xmlns:a16="http://schemas.microsoft.com/office/drawing/2014/main" id="{B555FBEE-AD0C-66B1-A93C-1FC1A9099D34}"/>
              </a:ext>
            </a:extLst>
          </p:cNvPr>
          <p:cNvSpPr/>
          <p:nvPr/>
        </p:nvSpPr>
        <p:spPr>
          <a:xfrm>
            <a:off x="55880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CuadroTexto 6">
            <a:extLst>
              <a:ext uri="{FF2B5EF4-FFF2-40B4-BE49-F238E27FC236}">
                <a16:creationId xmlns:a16="http://schemas.microsoft.com/office/drawing/2014/main" id="{79CD3650-9D2D-A7CF-F092-36F79F9A5D41}"/>
              </a:ext>
            </a:extLst>
          </p:cNvPr>
          <p:cNvSpPr txBox="1"/>
          <p:nvPr/>
        </p:nvSpPr>
        <p:spPr>
          <a:xfrm>
            <a:off x="59436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500 MB</a:t>
            </a:r>
          </a:p>
        </p:txBody>
      </p:sp>
      <p:sp>
        <p:nvSpPr>
          <p:cNvPr id="33" name="CuadroTexto 32">
            <a:extLst>
              <a:ext uri="{FF2B5EF4-FFF2-40B4-BE49-F238E27FC236}">
                <a16:creationId xmlns:a16="http://schemas.microsoft.com/office/drawing/2014/main" id="{8630A28A-4D6E-46B6-AC9E-0670904E4BD3}"/>
              </a:ext>
            </a:extLst>
          </p:cNvPr>
          <p:cNvSpPr txBox="1"/>
          <p:nvPr/>
        </p:nvSpPr>
        <p:spPr>
          <a:xfrm>
            <a:off x="59436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base de datos</a:t>
            </a:r>
          </a:p>
        </p:txBody>
      </p:sp>
      <p:sp>
        <p:nvSpPr>
          <p:cNvPr id="36" name="CuadroTexto 35">
            <a:extLst>
              <a:ext uri="{FF2B5EF4-FFF2-40B4-BE49-F238E27FC236}">
                <a16:creationId xmlns:a16="http://schemas.microsoft.com/office/drawing/2014/main" id="{BBD10BBA-B5B8-51A5-8AF2-6BB7DC9B35A4}"/>
              </a:ext>
            </a:extLst>
          </p:cNvPr>
          <p:cNvSpPr txBox="1"/>
          <p:nvPr/>
        </p:nvSpPr>
        <p:spPr>
          <a:xfrm>
            <a:off x="59436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textos y respuestas de formularios: alcanza para miles de protocolos</a:t>
            </a:r>
            <a:endParaRPr lang="es-PE" sz="2250">
              <a:solidFill>
                <a:srgbClr val="182949"/>
              </a:solidFill>
              <a:latin typeface="Haas Grot Disp 55 Roman" panose="020D0504030502050203"/>
            </a:endParaRPr>
          </a:p>
        </p:txBody>
      </p:sp>
      <p:sp>
        <p:nvSpPr>
          <p:cNvPr id="37" name="Rectángulo 36">
            <a:extLst>
              <a:ext uri="{FF2B5EF4-FFF2-40B4-BE49-F238E27FC236}">
                <a16:creationId xmlns:a16="http://schemas.microsoft.com/office/drawing/2014/main" id="{9B12D432-1835-48B3-B5A1-3BE091B0B023}"/>
              </a:ext>
            </a:extLst>
          </p:cNvPr>
          <p:cNvSpPr/>
          <p:nvPr/>
        </p:nvSpPr>
        <p:spPr>
          <a:xfrm>
            <a:off x="102362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CuadroTexto 37">
            <a:extLst>
              <a:ext uri="{FF2B5EF4-FFF2-40B4-BE49-F238E27FC236}">
                <a16:creationId xmlns:a16="http://schemas.microsoft.com/office/drawing/2014/main" id="{C2D940D0-DE7F-B8CA-C081-7D85057224B6}"/>
              </a:ext>
            </a:extLst>
          </p:cNvPr>
          <p:cNvSpPr txBox="1"/>
          <p:nvPr/>
        </p:nvSpPr>
        <p:spPr>
          <a:xfrm>
            <a:off x="105918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1 GB</a:t>
            </a:r>
          </a:p>
        </p:txBody>
      </p:sp>
      <p:sp>
        <p:nvSpPr>
          <p:cNvPr id="39" name="CuadroTexto 38">
            <a:extLst>
              <a:ext uri="{FF2B5EF4-FFF2-40B4-BE49-F238E27FC236}">
                <a16:creationId xmlns:a16="http://schemas.microsoft.com/office/drawing/2014/main" id="{F90F0E5D-13EC-DCEF-C9EA-9074F9B1661C}"/>
              </a:ext>
            </a:extLst>
          </p:cNvPr>
          <p:cNvSpPr txBox="1"/>
          <p:nvPr/>
        </p:nvSpPr>
        <p:spPr>
          <a:xfrm>
            <a:off x="105918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archivos</a:t>
            </a:r>
          </a:p>
        </p:txBody>
      </p:sp>
      <p:sp>
        <p:nvSpPr>
          <p:cNvPr id="40" name="CuadroTexto 39">
            <a:extLst>
              <a:ext uri="{FF2B5EF4-FFF2-40B4-BE49-F238E27FC236}">
                <a16:creationId xmlns:a16="http://schemas.microsoft.com/office/drawing/2014/main" id="{BE7B12F7-D60C-1B3A-1CA2-0C48D4E93AAA}"/>
              </a:ext>
            </a:extLst>
          </p:cNvPr>
          <p:cNvSpPr txBox="1"/>
          <p:nvPr/>
        </p:nvSpPr>
        <p:spPr>
          <a:xfrm>
            <a:off x="105918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PDF, planos y fotos: es lo primero que se llena</a:t>
            </a:r>
            <a:endParaRPr lang="es-PE" sz="2250">
              <a:solidFill>
                <a:srgbClr val="182949"/>
              </a:solidFill>
              <a:latin typeface="Haas Grot Disp 55 Roman" panose="020D0504030502050203"/>
            </a:endParaRPr>
          </a:p>
        </p:txBody>
      </p:sp>
      <p:sp>
        <p:nvSpPr>
          <p:cNvPr id="41" name="Rectángulo 40">
            <a:extLst>
              <a:ext uri="{FF2B5EF4-FFF2-40B4-BE49-F238E27FC236}">
                <a16:creationId xmlns:a16="http://schemas.microsoft.com/office/drawing/2014/main" id="{E7D4C7CB-763F-104E-D473-A38789D5F694}"/>
              </a:ext>
            </a:extLst>
          </p:cNvPr>
          <p:cNvSpPr/>
          <p:nvPr/>
        </p:nvSpPr>
        <p:spPr>
          <a:xfrm>
            <a:off x="14884400" y="4064000"/>
            <a:ext cx="4292600" cy="4572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11E9DBD7-24BA-044E-BE92-3429B69A77F4}"/>
              </a:ext>
            </a:extLst>
          </p:cNvPr>
          <p:cNvSpPr txBox="1"/>
          <p:nvPr/>
        </p:nvSpPr>
        <p:spPr>
          <a:xfrm>
            <a:off x="15240000" y="4445000"/>
            <a:ext cx="3581400" cy="369332"/>
          </a:xfrm>
          <a:prstGeom prst="rect">
            <a:avLst/>
          </a:prstGeom>
          <a:noFill/>
        </p:spPr>
        <p:txBody>
          <a:bodyPr vert="horz" wrap="square" lIns="0" tIns="0" rIns="0" bIns="0" rtlCol="0" anchor="t">
            <a:noAutofit/>
          </a:bodyPr>
          <a:lstStyle/>
          <a:p>
            <a:pPr algn="l"/>
            <a:r>
              <a:rPr lang="es-PE" sz="7500" b="1">
                <a:solidFill>
                  <a:srgbClr val="F72833"/>
                </a:solidFill>
                <a:latin typeface="Haas Grot Disp 75 Bold"/>
              </a:rPr>
              <a:t>7 días</a:t>
            </a:r>
          </a:p>
        </p:txBody>
      </p:sp>
      <p:sp>
        <p:nvSpPr>
          <p:cNvPr id="43" name="CuadroTexto 42">
            <a:extLst>
              <a:ext uri="{FF2B5EF4-FFF2-40B4-BE49-F238E27FC236}">
                <a16:creationId xmlns:a16="http://schemas.microsoft.com/office/drawing/2014/main" id="{D4BB3D14-41AF-8A3E-319A-27D3546CFBAB}"/>
              </a:ext>
            </a:extLst>
          </p:cNvPr>
          <p:cNvSpPr txBox="1"/>
          <p:nvPr/>
        </p:nvSpPr>
        <p:spPr>
          <a:xfrm>
            <a:off x="15240000" y="5969000"/>
            <a:ext cx="3581400" cy="369332"/>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 · plan gratis</a:t>
            </a:r>
          </a:p>
        </p:txBody>
      </p:sp>
      <p:sp>
        <p:nvSpPr>
          <p:cNvPr id="44" name="CuadroTexto 43">
            <a:extLst>
              <a:ext uri="{FF2B5EF4-FFF2-40B4-BE49-F238E27FC236}">
                <a16:creationId xmlns:a16="http://schemas.microsoft.com/office/drawing/2014/main" id="{9CD601BA-CCA4-54EB-2644-D78A7CEA506D}"/>
              </a:ext>
            </a:extLst>
          </p:cNvPr>
          <p:cNvSpPr txBox="1"/>
          <p:nvPr/>
        </p:nvSpPr>
        <p:spPr>
          <a:xfrm>
            <a:off x="15240000" y="6604000"/>
            <a:ext cx="3581400" cy="369332"/>
          </a:xfrm>
          <a:prstGeom prst="rect">
            <a:avLst/>
          </a:prstGeom>
          <a:noFill/>
        </p:spPr>
        <p:txBody>
          <a:bodyPr vert="horz" wrap="square" lIns="0" tIns="0" rIns="0" bIns="0" rtlCol="0" anchor="t">
            <a:noAutofit/>
          </a:bodyPr>
          <a:lstStyle/>
          <a:p>
            <a:pPr algn="l"/>
            <a:r>
              <a:rPr lang="es-MX" sz="2250">
                <a:solidFill>
                  <a:srgbClr val="182949"/>
                </a:solidFill>
                <a:latin typeface="Haas Grot Disp 55 Roman" panose="020D0504030502050203"/>
              </a:rPr>
              <a:t>sin uso y el proyecto se pausa; sin copias de seguridad automáticas</a:t>
            </a:r>
            <a:endParaRPr lang="es-PE" sz="2250">
              <a:solidFill>
                <a:srgbClr val="182949"/>
              </a:solidFill>
              <a:latin typeface="Haas Grot Disp 55 Roman" panose="020D0504030502050203"/>
            </a:endParaRPr>
          </a:p>
        </p:txBody>
      </p:sp>
      <p:sp>
        <p:nvSpPr>
          <p:cNvPr id="45" name="CuadroTexto 44">
            <a:extLst>
              <a:ext uri="{FF2B5EF4-FFF2-40B4-BE49-F238E27FC236}">
                <a16:creationId xmlns:a16="http://schemas.microsoft.com/office/drawing/2014/main" id="{DA29F93B-6E0A-DD33-4FAA-17DBA7470E75}"/>
              </a:ext>
            </a:extLst>
          </p:cNvPr>
          <p:cNvSpPr txBox="1"/>
          <p:nvPr/>
        </p:nvSpPr>
        <p:spPr>
          <a:xfrm>
            <a:off x="939800" y="9144000"/>
            <a:ext cx="18237200" cy="369332"/>
          </a:xfrm>
          <a:prstGeom prst="rect">
            <a:avLst/>
          </a:prstGeom>
          <a:noFill/>
        </p:spPr>
        <p:txBody>
          <a:bodyPr vert="horz" wrap="square" lIns="0" tIns="0" rIns="0" bIns="0" rtlCol="0" anchor="t">
            <a:noAutofit/>
          </a:bodyPr>
          <a:lstStyle/>
          <a:p>
            <a:pPr algn="l"/>
            <a:r>
              <a:rPr lang="es-MX" sz="2375">
                <a:solidFill>
                  <a:srgbClr val="182949"/>
                </a:solidFill>
                <a:latin typeface="Haas Grot Disp 65 Medium"/>
              </a:rPr>
              <a:t>Para producción conviene Supabase Pro (US$ 25/mes): 100 GB de archivos, copias de seguridad de 7 días y el proyecto nunca se pausa.</a:t>
            </a:r>
            <a:endParaRPr lang="es-PE" sz="2375">
              <a:solidFill>
                <a:srgbClr val="182949"/>
              </a:solidFill>
              <a:latin typeface="Haas Grot Disp 65 Medium"/>
            </a:endParaRPr>
          </a:p>
        </p:txBody>
      </p:sp>
    </p:spTree>
    <p:extLst>
      <p:ext uri="{BB962C8B-B14F-4D97-AF65-F5344CB8AC3E}">
        <p14:creationId xmlns:p14="http://schemas.microsoft.com/office/powerpoint/2010/main" val="1891668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El código de la página es visible, como en cualquier sitio web; los datos no están en la página</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MX">
                <a:solidFill>
                  <a:srgbClr val="FFFFFF"/>
                </a:solidFill>
              </a:rPr>
              <a:t>Seguridad de la Opción 2</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B617897E-5F6C-C13D-695E-4D669D2668EB}"/>
              </a:ext>
            </a:extLst>
          </p:cNvPr>
          <p:cNvSpPr/>
          <p:nvPr/>
        </p:nvSpPr>
        <p:spPr>
          <a:xfrm>
            <a:off x="9398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687A8992-8B3D-5774-47CE-89F877BC5AF1}"/>
              </a:ext>
            </a:extLst>
          </p:cNvPr>
          <p:cNvSpPr txBox="1"/>
          <p:nvPr/>
        </p:nvSpPr>
        <p:spPr>
          <a:xfrm>
            <a:off x="12446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Inicio de sesión cerrado</a:t>
            </a:r>
          </a:p>
        </p:txBody>
      </p:sp>
      <p:sp>
        <p:nvSpPr>
          <p:cNvPr id="4" name="CuadroTexto 3">
            <a:extLst>
              <a:ext uri="{FF2B5EF4-FFF2-40B4-BE49-F238E27FC236}">
                <a16:creationId xmlns:a16="http://schemas.microsoft.com/office/drawing/2014/main" id="{5F6338E3-758F-D8CD-E505-2FB125B5BAF1}"/>
              </a:ext>
            </a:extLst>
          </p:cNvPr>
          <p:cNvSpPr txBox="1"/>
          <p:nvPr/>
        </p:nvSpPr>
        <p:spPr>
          <a:xfrm>
            <a:off x="12446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Solo correos de Stracon dados de alta; nadie puede crearse una cuenta</a:t>
            </a:r>
            <a:endParaRPr lang="es-PE" sz="2000">
              <a:solidFill>
                <a:srgbClr val="5C697C"/>
              </a:solidFill>
              <a:latin typeface="Haas Grot Disp 55 Roman" panose="020D0504030502050203"/>
            </a:endParaRPr>
          </a:p>
        </p:txBody>
      </p:sp>
      <p:sp>
        <p:nvSpPr>
          <p:cNvPr id="5" name="Rectángulo 4">
            <a:extLst>
              <a:ext uri="{FF2B5EF4-FFF2-40B4-BE49-F238E27FC236}">
                <a16:creationId xmlns:a16="http://schemas.microsoft.com/office/drawing/2014/main" id="{15FD5F17-D0AD-324A-6867-F5088F675E2C}"/>
              </a:ext>
            </a:extLst>
          </p:cNvPr>
          <p:cNvSpPr/>
          <p:nvPr/>
        </p:nvSpPr>
        <p:spPr>
          <a:xfrm>
            <a:off x="55880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46326D80-877E-49A7-1ABD-DA798F84D5CE}"/>
              </a:ext>
            </a:extLst>
          </p:cNvPr>
          <p:cNvSpPr txBox="1"/>
          <p:nvPr/>
        </p:nvSpPr>
        <p:spPr>
          <a:xfrm>
            <a:off x="5892800" y="4064000"/>
            <a:ext cx="3683000" cy="381000"/>
          </a:xfrm>
          <a:prstGeom prst="rect">
            <a:avLst/>
          </a:prstGeom>
          <a:noFill/>
        </p:spPr>
        <p:txBody>
          <a:bodyPr vert="horz" wrap="square" lIns="0" tIns="0" rIns="0" bIns="0" rtlCol="0" anchor="t">
            <a:noAutofit/>
          </a:bodyPr>
          <a:lstStyle/>
          <a:p>
            <a:pPr algn="l"/>
            <a:r>
              <a:rPr lang="es-MX" sz="2375" b="1">
                <a:solidFill>
                  <a:srgbClr val="182949"/>
                </a:solidFill>
                <a:latin typeface="Haas Grot Disp 75 Bold"/>
              </a:rPr>
              <a:t>Reglas en la base de datos</a:t>
            </a:r>
            <a:endParaRPr lang="es-PE" sz="2375" b="1">
              <a:solidFill>
                <a:srgbClr val="182949"/>
              </a:solidFill>
              <a:latin typeface="Haas Grot Disp 75 Bold"/>
            </a:endParaRPr>
          </a:p>
        </p:txBody>
      </p:sp>
      <p:sp>
        <p:nvSpPr>
          <p:cNvPr id="7" name="CuadroTexto 6">
            <a:extLst>
              <a:ext uri="{FF2B5EF4-FFF2-40B4-BE49-F238E27FC236}">
                <a16:creationId xmlns:a16="http://schemas.microsoft.com/office/drawing/2014/main" id="{4AA6BD9B-BAF1-1633-35BD-8BBB659F17AF}"/>
              </a:ext>
            </a:extLst>
          </p:cNvPr>
          <p:cNvSpPr txBox="1"/>
          <p:nvPr/>
        </p:nvSpPr>
        <p:spPr>
          <a:xfrm>
            <a:off x="58928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Si no es un usuario interno activo, la base no entrega datos</a:t>
            </a:r>
            <a:endParaRPr lang="es-PE" sz="2000">
              <a:solidFill>
                <a:srgbClr val="5C697C"/>
              </a:solidFill>
              <a:latin typeface="Haas Grot Disp 55 Roman" panose="020D0504030502050203"/>
            </a:endParaRPr>
          </a:p>
        </p:txBody>
      </p:sp>
      <p:sp>
        <p:nvSpPr>
          <p:cNvPr id="33" name="Rectángulo 32">
            <a:extLst>
              <a:ext uri="{FF2B5EF4-FFF2-40B4-BE49-F238E27FC236}">
                <a16:creationId xmlns:a16="http://schemas.microsoft.com/office/drawing/2014/main" id="{14B46F68-0164-3C4C-5C6E-CC4E46AD2C63}"/>
              </a:ext>
            </a:extLst>
          </p:cNvPr>
          <p:cNvSpPr/>
          <p:nvPr/>
        </p:nvSpPr>
        <p:spPr>
          <a:xfrm>
            <a:off x="102362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CuadroTexto 35">
            <a:extLst>
              <a:ext uri="{FF2B5EF4-FFF2-40B4-BE49-F238E27FC236}">
                <a16:creationId xmlns:a16="http://schemas.microsoft.com/office/drawing/2014/main" id="{67E18A7A-368E-1B3A-E83C-F8D254FD523F}"/>
              </a:ext>
            </a:extLst>
          </p:cNvPr>
          <p:cNvSpPr txBox="1"/>
          <p:nvPr/>
        </p:nvSpPr>
        <p:spPr>
          <a:xfrm>
            <a:off x="105410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Claves en el servidor</a:t>
            </a:r>
          </a:p>
        </p:txBody>
      </p:sp>
      <p:sp>
        <p:nvSpPr>
          <p:cNvPr id="37" name="CuadroTexto 36">
            <a:extLst>
              <a:ext uri="{FF2B5EF4-FFF2-40B4-BE49-F238E27FC236}">
                <a16:creationId xmlns:a16="http://schemas.microsoft.com/office/drawing/2014/main" id="{2F9F5BE6-B65A-8F77-31A2-1B2BD8AC67AE}"/>
              </a:ext>
            </a:extLst>
          </p:cNvPr>
          <p:cNvSpPr txBox="1"/>
          <p:nvPr/>
        </p:nvSpPr>
        <p:spPr>
          <a:xfrm>
            <a:off x="105410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Las claves de Adobe nunca aparecen en el código visible</a:t>
            </a:r>
            <a:endParaRPr lang="es-PE" sz="2000">
              <a:solidFill>
                <a:srgbClr val="5C697C"/>
              </a:solidFill>
              <a:latin typeface="Haas Grot Disp 55 Roman" panose="020D0504030502050203"/>
            </a:endParaRPr>
          </a:p>
        </p:txBody>
      </p:sp>
      <p:sp>
        <p:nvSpPr>
          <p:cNvPr id="38" name="Rectángulo 37">
            <a:extLst>
              <a:ext uri="{FF2B5EF4-FFF2-40B4-BE49-F238E27FC236}">
                <a16:creationId xmlns:a16="http://schemas.microsoft.com/office/drawing/2014/main" id="{A9FBD174-2B24-E245-95EA-EDB1BE5FF04C}"/>
              </a:ext>
            </a:extLst>
          </p:cNvPr>
          <p:cNvSpPr/>
          <p:nvPr/>
        </p:nvSpPr>
        <p:spPr>
          <a:xfrm>
            <a:off x="14884400" y="38100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CuadroTexto 38">
            <a:extLst>
              <a:ext uri="{FF2B5EF4-FFF2-40B4-BE49-F238E27FC236}">
                <a16:creationId xmlns:a16="http://schemas.microsoft.com/office/drawing/2014/main" id="{AF8F42CA-3483-37DC-D1E7-AF98729A23D7}"/>
              </a:ext>
            </a:extLst>
          </p:cNvPr>
          <p:cNvSpPr txBox="1"/>
          <p:nvPr/>
        </p:nvSpPr>
        <p:spPr>
          <a:xfrm>
            <a:off x="15189200" y="40640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Enlace personal para KP</a:t>
            </a:r>
          </a:p>
        </p:txBody>
      </p:sp>
      <p:sp>
        <p:nvSpPr>
          <p:cNvPr id="40" name="CuadroTexto 39">
            <a:extLst>
              <a:ext uri="{FF2B5EF4-FFF2-40B4-BE49-F238E27FC236}">
                <a16:creationId xmlns:a16="http://schemas.microsoft.com/office/drawing/2014/main" id="{0084508D-C016-4D91-633D-746D3E4B358A}"/>
              </a:ext>
            </a:extLst>
          </p:cNvPr>
          <p:cNvSpPr txBox="1"/>
          <p:nvPr/>
        </p:nvSpPr>
        <p:spPr>
          <a:xfrm>
            <a:off x="15189200" y="45720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Código aleatorio, vence a los 15 días y muestra solo su paquete</a:t>
            </a:r>
            <a:endParaRPr lang="es-PE" sz="2000">
              <a:solidFill>
                <a:srgbClr val="5C697C"/>
              </a:solidFill>
              <a:latin typeface="Haas Grot Disp 55 Roman" panose="020D0504030502050203"/>
            </a:endParaRPr>
          </a:p>
        </p:txBody>
      </p:sp>
      <p:sp>
        <p:nvSpPr>
          <p:cNvPr id="41" name="Rectángulo 40">
            <a:extLst>
              <a:ext uri="{FF2B5EF4-FFF2-40B4-BE49-F238E27FC236}">
                <a16:creationId xmlns:a16="http://schemas.microsoft.com/office/drawing/2014/main" id="{21232EF8-0FB2-B23D-66D4-EAC836965461}"/>
              </a:ext>
            </a:extLst>
          </p:cNvPr>
          <p:cNvSpPr/>
          <p:nvPr/>
        </p:nvSpPr>
        <p:spPr>
          <a:xfrm>
            <a:off x="9398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80C077D8-A315-FA63-E638-906E39A3F9F9}"/>
              </a:ext>
            </a:extLst>
          </p:cNvPr>
          <p:cNvSpPr txBox="1"/>
          <p:nvPr/>
        </p:nvSpPr>
        <p:spPr>
          <a:xfrm>
            <a:off x="12446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Archivos privados</a:t>
            </a:r>
          </a:p>
        </p:txBody>
      </p:sp>
      <p:sp>
        <p:nvSpPr>
          <p:cNvPr id="43" name="CuadroTexto 42">
            <a:extLst>
              <a:ext uri="{FF2B5EF4-FFF2-40B4-BE49-F238E27FC236}">
                <a16:creationId xmlns:a16="http://schemas.microsoft.com/office/drawing/2014/main" id="{F65D0CE4-94D4-7A7E-ACFB-DBB15FFF60F9}"/>
              </a:ext>
            </a:extLst>
          </p:cNvPr>
          <p:cNvSpPr txBox="1"/>
          <p:nvPr/>
        </p:nvSpPr>
        <p:spPr>
          <a:xfrm>
            <a:off x="12446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PDF y planos se abren con enlaces temporales de 1 hora</a:t>
            </a:r>
            <a:endParaRPr lang="es-PE" sz="2000">
              <a:solidFill>
                <a:srgbClr val="5C697C"/>
              </a:solidFill>
              <a:latin typeface="Haas Grot Disp 55 Roman" panose="020D0504030502050203"/>
            </a:endParaRPr>
          </a:p>
        </p:txBody>
      </p:sp>
      <p:sp>
        <p:nvSpPr>
          <p:cNvPr id="44" name="Rectángulo 43">
            <a:extLst>
              <a:ext uri="{FF2B5EF4-FFF2-40B4-BE49-F238E27FC236}">
                <a16:creationId xmlns:a16="http://schemas.microsoft.com/office/drawing/2014/main" id="{A69DAE07-1D92-95F8-8784-7F1D1C9514C4}"/>
              </a:ext>
            </a:extLst>
          </p:cNvPr>
          <p:cNvSpPr/>
          <p:nvPr/>
        </p:nvSpPr>
        <p:spPr>
          <a:xfrm>
            <a:off x="55880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CuadroTexto 44">
            <a:extLst>
              <a:ext uri="{FF2B5EF4-FFF2-40B4-BE49-F238E27FC236}">
                <a16:creationId xmlns:a16="http://schemas.microsoft.com/office/drawing/2014/main" id="{F50D251F-8044-68E2-4033-8130706653B4}"/>
              </a:ext>
            </a:extLst>
          </p:cNvPr>
          <p:cNvSpPr txBox="1"/>
          <p:nvPr/>
        </p:nvSpPr>
        <p:spPr>
          <a:xfrm>
            <a:off x="58928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Aprobados bloqueados</a:t>
            </a:r>
          </a:p>
        </p:txBody>
      </p:sp>
      <p:sp>
        <p:nvSpPr>
          <p:cNvPr id="46" name="CuadroTexto 45">
            <a:extLst>
              <a:ext uri="{FF2B5EF4-FFF2-40B4-BE49-F238E27FC236}">
                <a16:creationId xmlns:a16="http://schemas.microsoft.com/office/drawing/2014/main" id="{76B97390-A81B-55D6-4366-1F6A9DB812F1}"/>
              </a:ext>
            </a:extLst>
          </p:cNvPr>
          <p:cNvSpPr txBox="1"/>
          <p:nvPr/>
        </p:nvSpPr>
        <p:spPr>
          <a:xfrm>
            <a:off x="5892800" y="6756400"/>
            <a:ext cx="3683000" cy="369332"/>
          </a:xfrm>
          <a:prstGeom prst="rect">
            <a:avLst/>
          </a:prstGeom>
          <a:noFill/>
        </p:spPr>
        <p:txBody>
          <a:bodyPr vert="horz" wrap="square" lIns="0" tIns="0" rIns="0" bIns="0" rtlCol="0" anchor="t">
            <a:noAutofit/>
          </a:bodyPr>
          <a:lstStyle/>
          <a:p>
            <a:pPr algn="l"/>
            <a:r>
              <a:rPr lang="es-PE" sz="2000">
                <a:solidFill>
                  <a:srgbClr val="5C697C"/>
                </a:solidFill>
                <a:latin typeface="Haas Grot Disp 55 Roman" panose="020D0504030502050203"/>
              </a:rPr>
              <a:t>La base impide editarlos; un cambio requiere KP + Jefatura</a:t>
            </a:r>
          </a:p>
        </p:txBody>
      </p:sp>
      <p:sp>
        <p:nvSpPr>
          <p:cNvPr id="47" name="Rectángulo 46">
            <a:extLst>
              <a:ext uri="{FF2B5EF4-FFF2-40B4-BE49-F238E27FC236}">
                <a16:creationId xmlns:a16="http://schemas.microsoft.com/office/drawing/2014/main" id="{4214C9EB-D2A7-76A0-3AE1-FA08EE752D51}"/>
              </a:ext>
            </a:extLst>
          </p:cNvPr>
          <p:cNvSpPr/>
          <p:nvPr/>
        </p:nvSpPr>
        <p:spPr>
          <a:xfrm>
            <a:off x="102362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CuadroTexto 47">
            <a:extLst>
              <a:ext uri="{FF2B5EF4-FFF2-40B4-BE49-F238E27FC236}">
                <a16:creationId xmlns:a16="http://schemas.microsoft.com/office/drawing/2014/main" id="{54541CD6-AD4A-A91B-CF8D-062243DDACAC}"/>
              </a:ext>
            </a:extLst>
          </p:cNvPr>
          <p:cNvSpPr txBox="1"/>
          <p:nvPr/>
        </p:nvSpPr>
        <p:spPr>
          <a:xfrm>
            <a:off x="105410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Historial completo</a:t>
            </a:r>
          </a:p>
        </p:txBody>
      </p:sp>
      <p:sp>
        <p:nvSpPr>
          <p:cNvPr id="49" name="CuadroTexto 48">
            <a:extLst>
              <a:ext uri="{FF2B5EF4-FFF2-40B4-BE49-F238E27FC236}">
                <a16:creationId xmlns:a16="http://schemas.microsoft.com/office/drawing/2014/main" id="{C9A5E0BC-25A9-B85D-6E2F-F597C06A95E6}"/>
              </a:ext>
            </a:extLst>
          </p:cNvPr>
          <p:cNvSpPr txBox="1"/>
          <p:nvPr/>
        </p:nvSpPr>
        <p:spPr>
          <a:xfrm>
            <a:off x="105410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Cada firma, rechazo y cambio queda con usuario y fecha</a:t>
            </a:r>
            <a:endParaRPr lang="es-PE" sz="2000">
              <a:solidFill>
                <a:srgbClr val="5C697C"/>
              </a:solidFill>
              <a:latin typeface="Haas Grot Disp 55 Roman" panose="020D0504030502050203"/>
            </a:endParaRPr>
          </a:p>
        </p:txBody>
      </p:sp>
      <p:sp>
        <p:nvSpPr>
          <p:cNvPr id="50" name="Rectángulo 49">
            <a:extLst>
              <a:ext uri="{FF2B5EF4-FFF2-40B4-BE49-F238E27FC236}">
                <a16:creationId xmlns:a16="http://schemas.microsoft.com/office/drawing/2014/main" id="{FB64F932-1535-2F01-62C0-69DE4A23737B}"/>
              </a:ext>
            </a:extLst>
          </p:cNvPr>
          <p:cNvSpPr/>
          <p:nvPr/>
        </p:nvSpPr>
        <p:spPr>
          <a:xfrm>
            <a:off x="14884400" y="5994400"/>
            <a:ext cx="4292600" cy="19304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1" name="CuadroTexto 50">
            <a:extLst>
              <a:ext uri="{FF2B5EF4-FFF2-40B4-BE49-F238E27FC236}">
                <a16:creationId xmlns:a16="http://schemas.microsoft.com/office/drawing/2014/main" id="{040FA77C-5558-7C45-AF0A-4A4E5EB8CA65}"/>
              </a:ext>
            </a:extLst>
          </p:cNvPr>
          <p:cNvSpPr txBox="1"/>
          <p:nvPr/>
        </p:nvSpPr>
        <p:spPr>
          <a:xfrm>
            <a:off x="15189200" y="6248400"/>
            <a:ext cx="3683000" cy="381000"/>
          </a:xfrm>
          <a:prstGeom prst="rect">
            <a:avLst/>
          </a:prstGeom>
          <a:noFill/>
        </p:spPr>
        <p:txBody>
          <a:bodyPr vert="horz" wrap="square" lIns="0" tIns="0" rIns="0" bIns="0" rtlCol="0" anchor="t">
            <a:noAutofit/>
          </a:bodyPr>
          <a:lstStyle/>
          <a:p>
            <a:pPr algn="l"/>
            <a:r>
              <a:rPr lang="es-PE" sz="2375" b="1">
                <a:solidFill>
                  <a:srgbClr val="182949"/>
                </a:solidFill>
                <a:latin typeface="Haas Grot Disp 75 Bold"/>
              </a:rPr>
              <a:t>Conexión cifrada</a:t>
            </a:r>
          </a:p>
        </p:txBody>
      </p:sp>
      <p:sp>
        <p:nvSpPr>
          <p:cNvPr id="52" name="CuadroTexto 51">
            <a:extLst>
              <a:ext uri="{FF2B5EF4-FFF2-40B4-BE49-F238E27FC236}">
                <a16:creationId xmlns:a16="http://schemas.microsoft.com/office/drawing/2014/main" id="{B16321BD-352E-5618-0DDF-84D3953B86BA}"/>
              </a:ext>
            </a:extLst>
          </p:cNvPr>
          <p:cNvSpPr txBox="1"/>
          <p:nvPr/>
        </p:nvSpPr>
        <p:spPr>
          <a:xfrm>
            <a:off x="15189200" y="6756400"/>
            <a:ext cx="3683000" cy="369332"/>
          </a:xfrm>
          <a:prstGeom prst="rect">
            <a:avLst/>
          </a:prstGeom>
          <a:noFill/>
        </p:spPr>
        <p:txBody>
          <a:bodyPr vert="horz" wrap="square" lIns="0" tIns="0" rIns="0" bIns="0" rtlCol="0" anchor="t">
            <a:noAutofit/>
          </a:bodyPr>
          <a:lstStyle/>
          <a:p>
            <a:pPr algn="l"/>
            <a:r>
              <a:rPr lang="es-MX" sz="2000">
                <a:solidFill>
                  <a:srgbClr val="5C697C"/>
                </a:solidFill>
                <a:latin typeface="Haas Grot Disp 55 Roman" panose="020D0504030502050203"/>
              </a:rPr>
              <a:t>Toda la información viaja por HTTPS</a:t>
            </a:r>
            <a:endParaRPr lang="es-PE" sz="2000">
              <a:solidFill>
                <a:srgbClr val="5C697C"/>
              </a:solidFill>
              <a:latin typeface="Haas Grot Disp 55 Roman" panose="020D0504030502050203"/>
            </a:endParaRPr>
          </a:p>
        </p:txBody>
      </p:sp>
      <p:sp>
        <p:nvSpPr>
          <p:cNvPr id="53" name="Rectángulo 52">
            <a:extLst>
              <a:ext uri="{FF2B5EF4-FFF2-40B4-BE49-F238E27FC236}">
                <a16:creationId xmlns:a16="http://schemas.microsoft.com/office/drawing/2014/main" id="{B86D5F52-6BB6-5631-6CDA-04684263C723}"/>
              </a:ext>
            </a:extLst>
          </p:cNvPr>
          <p:cNvSpPr/>
          <p:nvPr/>
        </p:nvSpPr>
        <p:spPr>
          <a:xfrm>
            <a:off x="939800" y="8255000"/>
            <a:ext cx="8928100" cy="24130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CuadroTexto 53">
            <a:extLst>
              <a:ext uri="{FF2B5EF4-FFF2-40B4-BE49-F238E27FC236}">
                <a16:creationId xmlns:a16="http://schemas.microsoft.com/office/drawing/2014/main" id="{6306668F-7E0B-5772-342C-1608C9C99864}"/>
              </a:ext>
            </a:extLst>
          </p:cNvPr>
          <p:cNvSpPr txBox="1"/>
          <p:nvPr/>
        </p:nvSpPr>
        <p:spPr>
          <a:xfrm>
            <a:off x="1320800" y="8509000"/>
            <a:ext cx="8255000" cy="369332"/>
          </a:xfrm>
          <a:prstGeom prst="rect">
            <a:avLst/>
          </a:prstGeom>
          <a:noFill/>
        </p:spPr>
        <p:txBody>
          <a:bodyPr vert="horz" wrap="square" lIns="0" tIns="0" rIns="0" bIns="0" rtlCol="0" anchor="t">
            <a:noAutofit/>
          </a:bodyPr>
          <a:lstStyle/>
          <a:p>
            <a:pPr algn="l"/>
            <a:r>
              <a:rPr lang="es-MX" sz="2500" b="1">
                <a:solidFill>
                  <a:srgbClr val="FFFFFF"/>
                </a:solidFill>
                <a:latin typeface="Haas Grot Disp 75 Bold"/>
              </a:rPr>
              <a:t>Opción 1 · Microsoft</a:t>
            </a:r>
          </a:p>
          <a:p>
            <a:pPr algn="l"/>
            <a:r>
              <a:rPr lang="es-MX" sz="2000">
                <a:solidFill>
                  <a:srgbClr val="FFFFFF"/>
                </a:solidFill>
                <a:latin typeface="Haas Grot Disp 55 Roman" panose="020D0504030502050203"/>
              </a:rPr>
              <a:t>La administra TI de Stracon dentro de su propio tenant: cuentas corporativas, doble factor y políticas DLP. Los datos nunca salen de Microsoft 365.</a:t>
            </a:r>
            <a:endParaRPr lang="es-PE" sz="2000">
              <a:solidFill>
                <a:srgbClr val="FFFFFF"/>
              </a:solidFill>
              <a:latin typeface="Haas Grot Disp 55 Roman" panose="020D0504030502050203"/>
            </a:endParaRPr>
          </a:p>
        </p:txBody>
      </p:sp>
      <p:sp>
        <p:nvSpPr>
          <p:cNvPr id="55" name="Rectángulo 54">
            <a:extLst>
              <a:ext uri="{FF2B5EF4-FFF2-40B4-BE49-F238E27FC236}">
                <a16:creationId xmlns:a16="http://schemas.microsoft.com/office/drawing/2014/main" id="{B8DE962F-5B47-1390-A949-2B2763C43507}"/>
              </a:ext>
            </a:extLst>
          </p:cNvPr>
          <p:cNvSpPr/>
          <p:nvPr/>
        </p:nvSpPr>
        <p:spPr>
          <a:xfrm>
            <a:off x="10248900" y="8255000"/>
            <a:ext cx="8928100" cy="24130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6" name="CuadroTexto 55">
            <a:extLst>
              <a:ext uri="{FF2B5EF4-FFF2-40B4-BE49-F238E27FC236}">
                <a16:creationId xmlns:a16="http://schemas.microsoft.com/office/drawing/2014/main" id="{CF47554F-70A5-6BA0-3961-E06DB00163E9}"/>
              </a:ext>
            </a:extLst>
          </p:cNvPr>
          <p:cNvSpPr txBox="1"/>
          <p:nvPr/>
        </p:nvSpPr>
        <p:spPr>
          <a:xfrm>
            <a:off x="10629900" y="8509000"/>
            <a:ext cx="8255000" cy="369332"/>
          </a:xfrm>
          <a:prstGeom prst="rect">
            <a:avLst/>
          </a:prstGeom>
          <a:noFill/>
        </p:spPr>
        <p:txBody>
          <a:bodyPr vert="horz" wrap="square" lIns="0" tIns="0" rIns="0" bIns="0" rtlCol="0" anchor="t">
            <a:noAutofit/>
          </a:bodyPr>
          <a:lstStyle/>
          <a:p>
            <a:pPr algn="l"/>
            <a:r>
              <a:rPr lang="es-MX" sz="2500" b="1">
                <a:solidFill>
                  <a:srgbClr val="FFFFFF"/>
                </a:solidFill>
                <a:latin typeface="Haas Grot Disp 75 Bold"/>
              </a:rPr>
              <a:t>Opción 2 · Fuera de Microsoft</a:t>
            </a:r>
          </a:p>
          <a:p>
            <a:pPr algn="l"/>
            <a:r>
              <a:rPr lang="es-MX" sz="2000">
                <a:solidFill>
                  <a:srgbClr val="FFFFFF"/>
                </a:solidFill>
                <a:latin typeface="Haas Grot Disp 55 Roman" panose="020D0504030502050203"/>
              </a:rPr>
              <a:t>Buena, pero los datos salen del tenant: requiere visto bueno de TI. Supabase tiene certificación SOC 2 y aloja datos en São Paulo. Se refuerza con SSO de Entra ID y el plan Pro.</a:t>
            </a:r>
            <a:endParaRPr lang="es-PE" sz="2000">
              <a:solidFill>
                <a:srgbClr val="FFFFFF"/>
              </a:solidFill>
              <a:latin typeface="Haas Grot Disp 55 Roman" panose="020D0504030502050203"/>
            </a:endParaRPr>
          </a:p>
        </p:txBody>
      </p:sp>
    </p:spTree>
    <p:extLst>
      <p:ext uri="{BB962C8B-B14F-4D97-AF65-F5344CB8AC3E}">
        <p14:creationId xmlns:p14="http://schemas.microsoft.com/office/powerpoint/2010/main" val="117227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Resumen para decidir</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Ventajas y desventajas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54FB8920-E149-C8AF-200B-86FA6A316644}"/>
              </a:ext>
            </a:extLst>
          </p:cNvPr>
          <p:cNvSpPr/>
          <p:nvPr/>
        </p:nvSpPr>
        <p:spPr>
          <a:xfrm>
            <a:off x="939800" y="3810000"/>
            <a:ext cx="8928100" cy="812800"/>
          </a:xfrm>
          <a:prstGeom prst="rect">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A785E270-3415-546E-65F8-959B8F145BC9}"/>
              </a:ext>
            </a:extLst>
          </p:cNvPr>
          <p:cNvSpPr txBox="1"/>
          <p:nvPr/>
        </p:nvSpPr>
        <p:spPr>
          <a:xfrm>
            <a:off x="1295400" y="3810000"/>
            <a:ext cx="8255000" cy="369332"/>
          </a:xfrm>
          <a:prstGeom prst="rect">
            <a:avLst/>
          </a:prstGeom>
          <a:noFill/>
        </p:spPr>
        <p:txBody>
          <a:bodyPr vert="horz" wrap="square" lIns="0" tIns="0" rIns="0" bIns="0" rtlCol="0" anchor="ctr">
            <a:noAutofit/>
          </a:bodyPr>
          <a:lstStyle/>
          <a:p>
            <a:pPr algn="l"/>
            <a:r>
              <a:rPr lang="es-PE" sz="3000" b="1">
                <a:solidFill>
                  <a:srgbClr val="FFFFFF"/>
                </a:solidFill>
                <a:latin typeface="Haas Grot Disp 75 Bold"/>
              </a:rPr>
              <a:t>Opción 1 · Microsoft</a:t>
            </a:r>
          </a:p>
        </p:txBody>
      </p:sp>
      <p:sp>
        <p:nvSpPr>
          <p:cNvPr id="4" name="Rectángulo 3">
            <a:extLst>
              <a:ext uri="{FF2B5EF4-FFF2-40B4-BE49-F238E27FC236}">
                <a16:creationId xmlns:a16="http://schemas.microsoft.com/office/drawing/2014/main" id="{07B3F341-5E28-89F0-542C-408523B316E2}"/>
              </a:ext>
            </a:extLst>
          </p:cNvPr>
          <p:cNvSpPr/>
          <p:nvPr/>
        </p:nvSpPr>
        <p:spPr>
          <a:xfrm>
            <a:off x="939800" y="4622800"/>
            <a:ext cx="8928100" cy="60452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CuadroTexto 4">
            <a:extLst>
              <a:ext uri="{FF2B5EF4-FFF2-40B4-BE49-F238E27FC236}">
                <a16:creationId xmlns:a16="http://schemas.microsoft.com/office/drawing/2014/main" id="{A85AB405-29B2-D611-0821-408DD729BBB8}"/>
              </a:ext>
            </a:extLst>
          </p:cNvPr>
          <p:cNvSpPr txBox="1"/>
          <p:nvPr/>
        </p:nvSpPr>
        <p:spPr>
          <a:xfrm>
            <a:off x="1295400" y="4902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A favor</a:t>
            </a:r>
          </a:p>
        </p:txBody>
      </p:sp>
      <p:sp>
        <p:nvSpPr>
          <p:cNvPr id="6" name="CuadroTexto 5">
            <a:extLst>
              <a:ext uri="{FF2B5EF4-FFF2-40B4-BE49-F238E27FC236}">
                <a16:creationId xmlns:a16="http://schemas.microsoft.com/office/drawing/2014/main" id="{01B35F5D-44A4-D2FE-D967-5DA60BEA5688}"/>
              </a:ext>
            </a:extLst>
          </p:cNvPr>
          <p:cNvSpPr txBox="1"/>
          <p:nvPr/>
        </p:nvSpPr>
        <p:spPr>
          <a:xfrm>
            <a:off x="1295400" y="5359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Todo dentro del tenant y de las políticas de TI</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Inicio de sesión con la cuenta de Stracon</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Almacenamiento y correo ya pagados</a:t>
            </a:r>
            <a:endParaRPr lang="es-PE" sz="2125">
              <a:solidFill>
                <a:srgbClr val="182949"/>
              </a:solidFill>
              <a:latin typeface="Haas Grot Disp 55 Roman" panose="020D0504030502050203"/>
            </a:endParaRPr>
          </a:p>
        </p:txBody>
      </p:sp>
      <p:sp>
        <p:nvSpPr>
          <p:cNvPr id="7" name="CuadroTexto 6">
            <a:extLst>
              <a:ext uri="{FF2B5EF4-FFF2-40B4-BE49-F238E27FC236}">
                <a16:creationId xmlns:a16="http://schemas.microsoft.com/office/drawing/2014/main" id="{68E9D2DE-EF00-3CF7-A906-85CE12D02BC2}"/>
              </a:ext>
            </a:extLst>
          </p:cNvPr>
          <p:cNvSpPr txBox="1"/>
          <p:nvPr/>
        </p:nvSpPr>
        <p:spPr>
          <a:xfrm>
            <a:off x="1295400" y="7823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En contra</a:t>
            </a:r>
          </a:p>
        </p:txBody>
      </p:sp>
      <p:sp>
        <p:nvSpPr>
          <p:cNvPr id="33" name="CuadroTexto 32">
            <a:extLst>
              <a:ext uri="{FF2B5EF4-FFF2-40B4-BE49-F238E27FC236}">
                <a16:creationId xmlns:a16="http://schemas.microsoft.com/office/drawing/2014/main" id="{BEADE633-DFA1-B245-6A48-D20E389B669D}"/>
              </a:ext>
            </a:extLst>
          </p:cNvPr>
          <p:cNvSpPr txBox="1"/>
          <p:nvPr/>
        </p:nvSpPr>
        <p:spPr>
          <a:xfrm>
            <a:off x="1295400" y="8280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El flujo con Adobe necesita licencia Premium o Process</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KP recibe un sobre por protocolo; no ve el paquete completo</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Cada formato nuevo suele requerir trabajo en pantallas</a:t>
            </a:r>
            <a:endParaRPr lang="es-PE" sz="2125">
              <a:solidFill>
                <a:srgbClr val="182949"/>
              </a:solidFill>
              <a:latin typeface="Haas Grot Disp 55 Roman" panose="020D0504030502050203"/>
            </a:endParaRPr>
          </a:p>
        </p:txBody>
      </p:sp>
      <p:sp>
        <p:nvSpPr>
          <p:cNvPr id="36" name="Rectángulo 35">
            <a:extLst>
              <a:ext uri="{FF2B5EF4-FFF2-40B4-BE49-F238E27FC236}">
                <a16:creationId xmlns:a16="http://schemas.microsoft.com/office/drawing/2014/main" id="{08873CF9-6FF2-91CF-A80C-BE32B015A808}"/>
              </a:ext>
            </a:extLst>
          </p:cNvPr>
          <p:cNvSpPr/>
          <p:nvPr/>
        </p:nvSpPr>
        <p:spPr>
          <a:xfrm>
            <a:off x="10248900" y="3810000"/>
            <a:ext cx="8928100" cy="812800"/>
          </a:xfrm>
          <a:prstGeom prst="rect">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CuadroTexto 36">
            <a:extLst>
              <a:ext uri="{FF2B5EF4-FFF2-40B4-BE49-F238E27FC236}">
                <a16:creationId xmlns:a16="http://schemas.microsoft.com/office/drawing/2014/main" id="{721E5C99-15FD-030B-1697-B0FF0B4123FF}"/>
              </a:ext>
            </a:extLst>
          </p:cNvPr>
          <p:cNvSpPr txBox="1"/>
          <p:nvPr/>
        </p:nvSpPr>
        <p:spPr>
          <a:xfrm>
            <a:off x="10604500" y="3810000"/>
            <a:ext cx="8255000" cy="369332"/>
          </a:xfrm>
          <a:prstGeom prst="rect">
            <a:avLst/>
          </a:prstGeom>
          <a:noFill/>
        </p:spPr>
        <p:txBody>
          <a:bodyPr vert="horz" wrap="square" lIns="0" tIns="0" rIns="0" bIns="0" rtlCol="0" anchor="ctr">
            <a:noAutofit/>
          </a:bodyPr>
          <a:lstStyle/>
          <a:p>
            <a:pPr algn="l"/>
            <a:r>
              <a:rPr lang="es-MX" sz="3000" b="1">
                <a:solidFill>
                  <a:srgbClr val="FFFFFF"/>
                </a:solidFill>
                <a:latin typeface="Haas Grot Disp 75 Bold"/>
              </a:rPr>
              <a:t>Opción 2 · Fuera de Microsoft</a:t>
            </a:r>
            <a:endParaRPr lang="es-PE" sz="3000" b="1">
              <a:solidFill>
                <a:srgbClr val="FFFFFF"/>
              </a:solidFill>
              <a:latin typeface="Haas Grot Disp 75 Bold"/>
            </a:endParaRPr>
          </a:p>
        </p:txBody>
      </p:sp>
      <p:sp>
        <p:nvSpPr>
          <p:cNvPr id="38" name="Rectángulo 37">
            <a:extLst>
              <a:ext uri="{FF2B5EF4-FFF2-40B4-BE49-F238E27FC236}">
                <a16:creationId xmlns:a16="http://schemas.microsoft.com/office/drawing/2014/main" id="{D1DBD497-87DF-2E6A-9B2B-3390720A5404}"/>
              </a:ext>
            </a:extLst>
          </p:cNvPr>
          <p:cNvSpPr/>
          <p:nvPr/>
        </p:nvSpPr>
        <p:spPr>
          <a:xfrm>
            <a:off x="10248900" y="4622800"/>
            <a:ext cx="8928100" cy="60452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CuadroTexto 38">
            <a:extLst>
              <a:ext uri="{FF2B5EF4-FFF2-40B4-BE49-F238E27FC236}">
                <a16:creationId xmlns:a16="http://schemas.microsoft.com/office/drawing/2014/main" id="{B8B729EA-77BC-0188-7B20-374E5285B1CC}"/>
              </a:ext>
            </a:extLst>
          </p:cNvPr>
          <p:cNvSpPr txBox="1"/>
          <p:nvPr/>
        </p:nvSpPr>
        <p:spPr>
          <a:xfrm>
            <a:off x="10604500" y="4902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A favor</a:t>
            </a:r>
          </a:p>
        </p:txBody>
      </p:sp>
      <p:sp>
        <p:nvSpPr>
          <p:cNvPr id="40" name="CuadroTexto 39">
            <a:extLst>
              <a:ext uri="{FF2B5EF4-FFF2-40B4-BE49-F238E27FC236}">
                <a16:creationId xmlns:a16="http://schemas.microsoft.com/office/drawing/2014/main" id="{F1371A1B-B233-C79A-FDE2-0610F6C944F0}"/>
              </a:ext>
            </a:extLst>
          </p:cNvPr>
          <p:cNvSpPr txBox="1"/>
          <p:nvPr/>
        </p:nvSpPr>
        <p:spPr>
          <a:xfrm>
            <a:off x="10604500" y="5359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Solo se pagan Adobe y Supabase Pro</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KP revisa el paquete completo y firma una sola vez</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MVP ya construido; un formato nuevo es un archivo de configuración</a:t>
            </a:r>
            <a:endParaRPr lang="es-PE" sz="2125">
              <a:solidFill>
                <a:srgbClr val="182949"/>
              </a:solidFill>
              <a:latin typeface="Haas Grot Disp 55 Roman" panose="020D0504030502050203"/>
            </a:endParaRPr>
          </a:p>
        </p:txBody>
      </p:sp>
      <p:sp>
        <p:nvSpPr>
          <p:cNvPr id="41" name="CuadroTexto 40">
            <a:extLst>
              <a:ext uri="{FF2B5EF4-FFF2-40B4-BE49-F238E27FC236}">
                <a16:creationId xmlns:a16="http://schemas.microsoft.com/office/drawing/2014/main" id="{CF06C176-7AF5-406B-7F2B-BC486171EB80}"/>
              </a:ext>
            </a:extLst>
          </p:cNvPr>
          <p:cNvSpPr txBox="1"/>
          <p:nvPr/>
        </p:nvSpPr>
        <p:spPr>
          <a:xfrm>
            <a:off x="10604500" y="7823200"/>
            <a:ext cx="8255000" cy="381000"/>
          </a:xfrm>
          <a:prstGeom prst="rect">
            <a:avLst/>
          </a:prstGeom>
          <a:noFill/>
        </p:spPr>
        <p:txBody>
          <a:bodyPr vert="horz" wrap="square" lIns="0" tIns="0" rIns="0" bIns="0" rtlCol="0" anchor="t">
            <a:noAutofit/>
          </a:bodyPr>
          <a:lstStyle/>
          <a:p>
            <a:pPr algn="l"/>
            <a:r>
              <a:rPr lang="es-PE" sz="2250" b="1">
                <a:solidFill>
                  <a:srgbClr val="5C697C"/>
                </a:solidFill>
                <a:latin typeface="Haas Grot Disp 75 Bold"/>
              </a:rPr>
              <a:t>En contra</a:t>
            </a:r>
          </a:p>
        </p:txBody>
      </p:sp>
      <p:sp>
        <p:nvSpPr>
          <p:cNvPr id="42" name="CuadroTexto 41">
            <a:extLst>
              <a:ext uri="{FF2B5EF4-FFF2-40B4-BE49-F238E27FC236}">
                <a16:creationId xmlns:a16="http://schemas.microsoft.com/office/drawing/2014/main" id="{2DAE0F85-BA86-9908-F7BA-8E3266A5A560}"/>
              </a:ext>
            </a:extLst>
          </p:cNvPr>
          <p:cNvSpPr txBox="1"/>
          <p:nvPr/>
        </p:nvSpPr>
        <p:spPr>
          <a:xfrm>
            <a:off x="10604500" y="82804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Los datos quedan fuera del tenant: requiere visto bueno de TI</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Necesita a alguien que mantenga código JavaScript y SQL</a:t>
            </a:r>
          </a:p>
          <a:p>
            <a:pPr marL="279400" indent="-279400" algn="l">
              <a:spcAft>
                <a:spcPts val="800"/>
              </a:spcAft>
              <a:buClr>
                <a:srgbClr val="F72833"/>
              </a:buClr>
              <a:buFont typeface="+mj-lt"/>
              <a:buChar char="•"/>
            </a:pPr>
            <a:r>
              <a:rPr lang="es-MX" sz="2125">
                <a:solidFill>
                  <a:srgbClr val="182949"/>
                </a:solidFill>
                <a:latin typeface="Haas Grot Disp 55 Roman" panose="020D0504030502050203"/>
              </a:rPr>
              <a:t>Para producción conviene el plan Pro de Supabase</a:t>
            </a:r>
            <a:endParaRPr lang="es-PE" sz="2125">
              <a:solidFill>
                <a:srgbClr val="182949"/>
              </a:solidFill>
              <a:latin typeface="Haas Grot Disp 55 Roman" panose="020D0504030502050203"/>
            </a:endParaRPr>
          </a:p>
        </p:txBody>
      </p:sp>
    </p:spTree>
    <p:extLst>
      <p:ext uri="{BB962C8B-B14F-4D97-AF65-F5344CB8AC3E}">
        <p14:creationId xmlns:p14="http://schemas.microsoft.com/office/powerpoint/2010/main" val="3872843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PE" sz="2950">
                <a:solidFill>
                  <a:srgbClr val="FFFFFF"/>
                </a:solidFill>
                <a:latin typeface="Haas Grot Disp 55 Roman"/>
                <a:cs typeface="Haas Grot Disp 55 Roman"/>
              </a:rPr>
              <a:t>Lo que falta definir para avanzar</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Decisiones y próximos pasos</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sp>
        <p:nvSpPr>
          <p:cNvPr id="2" name="Rectángulo 1">
            <a:extLst>
              <a:ext uri="{FF2B5EF4-FFF2-40B4-BE49-F238E27FC236}">
                <a16:creationId xmlns:a16="http://schemas.microsoft.com/office/drawing/2014/main" id="{D3E7FBD7-8FF6-E53D-52F4-F5E27DB7E359}"/>
              </a:ext>
            </a:extLst>
          </p:cNvPr>
          <p:cNvSpPr/>
          <p:nvPr/>
        </p:nvSpPr>
        <p:spPr>
          <a:xfrm>
            <a:off x="939800" y="3810000"/>
            <a:ext cx="8928100" cy="6858000"/>
          </a:xfrm>
          <a:prstGeom prst="rect">
            <a:avLst/>
          </a:prstGeom>
          <a:solidFill>
            <a:srgbClr val="F3F5F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CuadroTexto 2">
            <a:extLst>
              <a:ext uri="{FF2B5EF4-FFF2-40B4-BE49-F238E27FC236}">
                <a16:creationId xmlns:a16="http://schemas.microsoft.com/office/drawing/2014/main" id="{86F2C1E2-B9C3-401D-B35D-D17B9C9EEFD0}"/>
              </a:ext>
            </a:extLst>
          </p:cNvPr>
          <p:cNvSpPr txBox="1"/>
          <p:nvPr/>
        </p:nvSpPr>
        <p:spPr>
          <a:xfrm>
            <a:off x="1320800" y="4114800"/>
            <a:ext cx="8255000" cy="369332"/>
          </a:xfrm>
          <a:prstGeom prst="rect">
            <a:avLst/>
          </a:prstGeom>
          <a:noFill/>
        </p:spPr>
        <p:txBody>
          <a:bodyPr vert="horz" wrap="square" lIns="0" tIns="0" rIns="0" bIns="0" rtlCol="0" anchor="t">
            <a:noAutofit/>
          </a:bodyPr>
          <a:lstStyle/>
          <a:p>
            <a:pPr algn="l"/>
            <a:r>
              <a:rPr lang="es-PE" sz="3000" b="1">
                <a:solidFill>
                  <a:srgbClr val="182949"/>
                </a:solidFill>
                <a:latin typeface="Haas Grot Disp 75 Bold"/>
              </a:rPr>
              <a:t>Decisiones pendientes</a:t>
            </a:r>
          </a:p>
        </p:txBody>
      </p:sp>
      <p:sp>
        <p:nvSpPr>
          <p:cNvPr id="4" name="CuadroTexto 3">
            <a:extLst>
              <a:ext uri="{FF2B5EF4-FFF2-40B4-BE49-F238E27FC236}">
                <a16:creationId xmlns:a16="http://schemas.microsoft.com/office/drawing/2014/main" id="{2B5EFAED-7C01-1310-1409-4F8B7E87C33F}"/>
              </a:ext>
            </a:extLst>
          </p:cNvPr>
          <p:cNvSpPr txBox="1"/>
          <p:nvPr/>
        </p:nvSpPr>
        <p:spPr>
          <a:xfrm>
            <a:off x="1320800" y="4826000"/>
            <a:ext cx="8255000" cy="369332"/>
          </a:xfrm>
          <a:prstGeom prst="rect">
            <a:avLst/>
          </a:prstGeom>
          <a:noFill/>
        </p:spPr>
        <p:txBody>
          <a:bodyPr vert="horz" wrap="square" lIns="0" tIns="0" rIns="0" bIns="0" rtlCol="0" anchor="t">
            <a:noAutofit/>
          </a:bodyPr>
          <a:lstStyle/>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Elegir la opción de arquitectura</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Confirmar si “contratar Adobe” incluye PDF Services y Acrobat Sign</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Pedir a Adobe la cotización de Acrobat Sign con API</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Opción 1: confirmar licenciamiento con el partner de Microsoft</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Opción 2: obtener el visto bueno de TI para datos fuera del tenant</a:t>
            </a:r>
          </a:p>
          <a:p>
            <a:pPr marL="279400" indent="-279400" algn="l">
              <a:spcAft>
                <a:spcPts val="800"/>
              </a:spcAft>
              <a:buClr>
                <a:srgbClr val="F72833"/>
              </a:buClr>
              <a:buFont typeface="+mj-lt"/>
              <a:buChar char="•"/>
            </a:pPr>
            <a:r>
              <a:rPr lang="es-MX" sz="2250">
                <a:solidFill>
                  <a:srgbClr val="182949"/>
                </a:solidFill>
                <a:latin typeface="Haas Grot Disp 55 Roman" panose="020D0504030502050203"/>
              </a:rPr>
              <a:t>Definir quién firma cada rol por tipo de protocolo y contrato</a:t>
            </a:r>
            <a:endParaRPr lang="es-PE" sz="2250">
              <a:solidFill>
                <a:srgbClr val="182949"/>
              </a:solidFill>
              <a:latin typeface="Haas Grot Disp 55 Roman" panose="020D0504030502050203"/>
            </a:endParaRPr>
          </a:p>
        </p:txBody>
      </p:sp>
      <p:sp>
        <p:nvSpPr>
          <p:cNvPr id="5" name="CuadroTexto 4">
            <a:extLst>
              <a:ext uri="{FF2B5EF4-FFF2-40B4-BE49-F238E27FC236}">
                <a16:creationId xmlns:a16="http://schemas.microsoft.com/office/drawing/2014/main" id="{8732B413-D7CC-4509-997F-F774E5ECDB12}"/>
              </a:ext>
            </a:extLst>
          </p:cNvPr>
          <p:cNvSpPr txBox="1"/>
          <p:nvPr/>
        </p:nvSpPr>
        <p:spPr>
          <a:xfrm>
            <a:off x="10629900" y="4114800"/>
            <a:ext cx="8255000" cy="369332"/>
          </a:xfrm>
          <a:prstGeom prst="rect">
            <a:avLst/>
          </a:prstGeom>
          <a:noFill/>
        </p:spPr>
        <p:txBody>
          <a:bodyPr vert="horz" wrap="square" lIns="0" tIns="0" rIns="0" bIns="0" rtlCol="0" anchor="t">
            <a:noAutofit/>
          </a:bodyPr>
          <a:lstStyle/>
          <a:p>
            <a:pPr algn="l"/>
            <a:r>
              <a:rPr lang="es-PE" sz="3000" b="1">
                <a:solidFill>
                  <a:srgbClr val="182949"/>
                </a:solidFill>
                <a:latin typeface="Haas Grot Disp 75 Bold"/>
              </a:rPr>
              <a:t>Próximos pasos</a:t>
            </a:r>
          </a:p>
        </p:txBody>
      </p:sp>
      <p:sp>
        <p:nvSpPr>
          <p:cNvPr id="6" name="Elipse 5">
            <a:extLst>
              <a:ext uri="{FF2B5EF4-FFF2-40B4-BE49-F238E27FC236}">
                <a16:creationId xmlns:a16="http://schemas.microsoft.com/office/drawing/2014/main" id="{7939A8BD-1C63-FEFA-EAB5-DEA1BA4DDF09}"/>
              </a:ext>
            </a:extLst>
          </p:cNvPr>
          <p:cNvSpPr/>
          <p:nvPr/>
        </p:nvSpPr>
        <p:spPr>
          <a:xfrm>
            <a:off x="10629900" y="4902200"/>
            <a:ext cx="660400" cy="660400"/>
          </a:xfrm>
          <a:prstGeom prst="ellipse">
            <a:avLst/>
          </a:prstGeom>
          <a:solidFill>
            <a:srgbClr val="F7283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1</a:t>
            </a:r>
          </a:p>
        </p:txBody>
      </p:sp>
      <p:sp>
        <p:nvSpPr>
          <p:cNvPr id="7" name="CuadroTexto 6">
            <a:extLst>
              <a:ext uri="{FF2B5EF4-FFF2-40B4-BE49-F238E27FC236}">
                <a16:creationId xmlns:a16="http://schemas.microsoft.com/office/drawing/2014/main" id="{1661D796-9DE0-3AEF-DC91-B0021CD7EAC5}"/>
              </a:ext>
            </a:extLst>
          </p:cNvPr>
          <p:cNvSpPr txBox="1"/>
          <p:nvPr/>
        </p:nvSpPr>
        <p:spPr>
          <a:xfrm>
            <a:off x="11544300" y="49022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Crear el entorno de la opción elegida</a:t>
            </a:r>
            <a:endParaRPr lang="es-PE" sz="2500">
              <a:solidFill>
                <a:srgbClr val="182949"/>
              </a:solidFill>
              <a:latin typeface="Haas Grot Disp 65 Medium"/>
            </a:endParaRPr>
          </a:p>
        </p:txBody>
      </p:sp>
      <p:sp>
        <p:nvSpPr>
          <p:cNvPr id="33" name="Elipse 32">
            <a:extLst>
              <a:ext uri="{FF2B5EF4-FFF2-40B4-BE49-F238E27FC236}">
                <a16:creationId xmlns:a16="http://schemas.microsoft.com/office/drawing/2014/main" id="{C6483A88-CD9E-A8F3-1954-1B91CFD6E621}"/>
              </a:ext>
            </a:extLst>
          </p:cNvPr>
          <p:cNvSpPr/>
          <p:nvPr/>
        </p:nvSpPr>
        <p:spPr>
          <a:xfrm>
            <a:off x="10629900" y="60198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2</a:t>
            </a:r>
          </a:p>
        </p:txBody>
      </p:sp>
      <p:sp>
        <p:nvSpPr>
          <p:cNvPr id="36" name="CuadroTexto 35">
            <a:extLst>
              <a:ext uri="{FF2B5EF4-FFF2-40B4-BE49-F238E27FC236}">
                <a16:creationId xmlns:a16="http://schemas.microsoft.com/office/drawing/2014/main" id="{E710F2FB-8F7A-7A6B-33C3-1774C2C6CF23}"/>
              </a:ext>
            </a:extLst>
          </p:cNvPr>
          <p:cNvSpPr txBox="1"/>
          <p:nvPr/>
        </p:nvSpPr>
        <p:spPr>
          <a:xfrm>
            <a:off x="11544300" y="60198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Conectar Adobe con las credenciales contratadas</a:t>
            </a:r>
            <a:endParaRPr lang="es-PE" sz="2500">
              <a:solidFill>
                <a:srgbClr val="182949"/>
              </a:solidFill>
              <a:latin typeface="Haas Grot Disp 65 Medium"/>
            </a:endParaRPr>
          </a:p>
        </p:txBody>
      </p:sp>
      <p:sp>
        <p:nvSpPr>
          <p:cNvPr id="37" name="Elipse 36">
            <a:extLst>
              <a:ext uri="{FF2B5EF4-FFF2-40B4-BE49-F238E27FC236}">
                <a16:creationId xmlns:a16="http://schemas.microsoft.com/office/drawing/2014/main" id="{4828BF6B-E6AE-CA40-E64F-E77665AEA900}"/>
              </a:ext>
            </a:extLst>
          </p:cNvPr>
          <p:cNvSpPr/>
          <p:nvPr/>
        </p:nvSpPr>
        <p:spPr>
          <a:xfrm>
            <a:off x="10629900" y="71374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3</a:t>
            </a:r>
          </a:p>
        </p:txBody>
      </p:sp>
      <p:sp>
        <p:nvSpPr>
          <p:cNvPr id="38" name="CuadroTexto 37">
            <a:extLst>
              <a:ext uri="{FF2B5EF4-FFF2-40B4-BE49-F238E27FC236}">
                <a16:creationId xmlns:a16="http://schemas.microsoft.com/office/drawing/2014/main" id="{6E7F76AA-F061-9DC6-01F9-2AC26B74097A}"/>
              </a:ext>
            </a:extLst>
          </p:cNvPr>
          <p:cNvSpPr txBox="1"/>
          <p:nvPr/>
        </p:nvSpPr>
        <p:spPr>
          <a:xfrm>
            <a:off x="11544300" y="71374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Piloto con los 8 protocolos y con Knight Piésold</a:t>
            </a:r>
            <a:endParaRPr lang="es-PE" sz="2500">
              <a:solidFill>
                <a:srgbClr val="182949"/>
              </a:solidFill>
              <a:latin typeface="Haas Grot Disp 65 Medium"/>
            </a:endParaRPr>
          </a:p>
        </p:txBody>
      </p:sp>
      <p:sp>
        <p:nvSpPr>
          <p:cNvPr id="39" name="Elipse 38">
            <a:extLst>
              <a:ext uri="{FF2B5EF4-FFF2-40B4-BE49-F238E27FC236}">
                <a16:creationId xmlns:a16="http://schemas.microsoft.com/office/drawing/2014/main" id="{5E9401E6-7328-201A-BDF4-B9C1CFEECEAB}"/>
              </a:ext>
            </a:extLst>
          </p:cNvPr>
          <p:cNvSpPr/>
          <p:nvPr/>
        </p:nvSpPr>
        <p:spPr>
          <a:xfrm>
            <a:off x="10629900" y="82550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4</a:t>
            </a:r>
          </a:p>
        </p:txBody>
      </p:sp>
      <p:sp>
        <p:nvSpPr>
          <p:cNvPr id="40" name="CuadroTexto 39">
            <a:extLst>
              <a:ext uri="{FF2B5EF4-FFF2-40B4-BE49-F238E27FC236}">
                <a16:creationId xmlns:a16="http://schemas.microsoft.com/office/drawing/2014/main" id="{66A6B8FB-8C4C-E825-1947-2C2BFD382D37}"/>
              </a:ext>
            </a:extLst>
          </p:cNvPr>
          <p:cNvSpPr txBox="1"/>
          <p:nvPr/>
        </p:nvSpPr>
        <p:spPr>
          <a:xfrm>
            <a:off x="11544300" y="8255000"/>
            <a:ext cx="7620000" cy="369332"/>
          </a:xfrm>
          <a:prstGeom prst="rect">
            <a:avLst/>
          </a:prstGeom>
          <a:noFill/>
        </p:spPr>
        <p:txBody>
          <a:bodyPr vert="horz" wrap="square" lIns="0" tIns="0" rIns="0" bIns="0" rtlCol="0" anchor="ctr">
            <a:noAutofit/>
          </a:bodyPr>
          <a:lstStyle/>
          <a:p>
            <a:pPr algn="l"/>
            <a:r>
              <a:rPr lang="es-MX" sz="2500">
                <a:solidFill>
                  <a:srgbClr val="182949"/>
                </a:solidFill>
                <a:latin typeface="Haas Grot Disp 65 Medium"/>
              </a:rPr>
              <a:t>Ajustes según el piloto y paso a producción</a:t>
            </a:r>
            <a:endParaRPr lang="es-PE" sz="2500">
              <a:solidFill>
                <a:srgbClr val="182949"/>
              </a:solidFill>
              <a:latin typeface="Haas Grot Disp 65 Medium"/>
            </a:endParaRPr>
          </a:p>
        </p:txBody>
      </p:sp>
      <p:sp>
        <p:nvSpPr>
          <p:cNvPr id="41" name="Elipse 40">
            <a:extLst>
              <a:ext uri="{FF2B5EF4-FFF2-40B4-BE49-F238E27FC236}">
                <a16:creationId xmlns:a16="http://schemas.microsoft.com/office/drawing/2014/main" id="{33582DF0-022D-E211-063C-D82529666455}"/>
              </a:ext>
            </a:extLst>
          </p:cNvPr>
          <p:cNvSpPr/>
          <p:nvPr/>
        </p:nvSpPr>
        <p:spPr>
          <a:xfrm>
            <a:off x="10629900" y="9372600"/>
            <a:ext cx="660400" cy="660400"/>
          </a:xfrm>
          <a:prstGeom prst="ellipse">
            <a:avLst/>
          </a:prstGeom>
          <a:solidFill>
            <a:srgbClr val="18294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2400" b="1">
                <a:solidFill>
                  <a:srgbClr val="FFFFFF"/>
                </a:solidFill>
                <a:latin typeface="Haas Grot Disp 75 Bold"/>
              </a:rPr>
              <a:t>5</a:t>
            </a:r>
          </a:p>
        </p:txBody>
      </p:sp>
      <p:sp>
        <p:nvSpPr>
          <p:cNvPr id="42" name="CuadroTexto 41">
            <a:extLst>
              <a:ext uri="{FF2B5EF4-FFF2-40B4-BE49-F238E27FC236}">
                <a16:creationId xmlns:a16="http://schemas.microsoft.com/office/drawing/2014/main" id="{2ED518C3-D889-EE09-1709-52DCE28A4A94}"/>
              </a:ext>
            </a:extLst>
          </p:cNvPr>
          <p:cNvSpPr txBox="1"/>
          <p:nvPr/>
        </p:nvSpPr>
        <p:spPr>
          <a:xfrm>
            <a:off x="11544300" y="9372600"/>
            <a:ext cx="7620000" cy="369332"/>
          </a:xfrm>
          <a:prstGeom prst="rect">
            <a:avLst/>
          </a:prstGeom>
          <a:noFill/>
        </p:spPr>
        <p:txBody>
          <a:bodyPr vert="horz" wrap="square" lIns="0" tIns="0" rIns="0" bIns="0" rtlCol="0" anchor="ctr">
            <a:noAutofit/>
          </a:bodyPr>
          <a:lstStyle/>
          <a:p>
            <a:pPr algn="l"/>
            <a:r>
              <a:rPr lang="es-PE" sz="2500">
                <a:solidFill>
                  <a:srgbClr val="182949"/>
                </a:solidFill>
                <a:latin typeface="Haas Grot Disp 65 Medium"/>
              </a:rPr>
              <a:t>Agregar los 20 formatos restantes</a:t>
            </a:r>
          </a:p>
        </p:txBody>
      </p:sp>
    </p:spTree>
    <p:extLst>
      <p:ext uri="{BB962C8B-B14F-4D97-AF65-F5344CB8AC3E}">
        <p14:creationId xmlns:p14="http://schemas.microsoft.com/office/powerpoint/2010/main" val="1789321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barra">
            <a:extLst>
              <a:ext uri="{FF2B5EF4-FFF2-40B4-BE49-F238E27FC236}">
                <a16:creationId xmlns:a16="http://schemas.microsoft.com/office/drawing/2014/main" id="{53AE8154-5025-CA13-1F75-77EBA923A4F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20104100" cy="3456861"/>
          </a:xfrm>
          <a:prstGeom prst="rect">
            <a:avLst/>
          </a:prstGeom>
        </p:spPr>
      </p:pic>
      <p:sp>
        <p:nvSpPr>
          <p:cNvPr id="8" name="object 8"/>
          <p:cNvSpPr txBox="1"/>
          <p:nvPr/>
        </p:nvSpPr>
        <p:spPr>
          <a:xfrm>
            <a:off x="923834" y="2093434"/>
            <a:ext cx="14605000" cy="468077"/>
          </a:xfrm>
          <a:prstGeom prst="rect">
            <a:avLst/>
          </a:prstGeom>
        </p:spPr>
        <p:txBody>
          <a:bodyPr vert="horz" wrap="square" lIns="0" tIns="13970" rIns="0" bIns="0" rtlCol="0">
            <a:spAutoFit/>
          </a:bodyPr>
          <a:lstStyle/>
          <a:p>
            <a:pPr marL="12700">
              <a:lnSpc>
                <a:spcPct val="100000"/>
              </a:lnSpc>
              <a:spcBef>
                <a:spcPts val="110"/>
              </a:spcBef>
            </a:pPr>
            <a:r>
              <a:rPr lang="es-MX" sz="2950">
                <a:solidFill>
                  <a:srgbClr val="FFFFFF"/>
                </a:solidFill>
                <a:latin typeface="Haas Grot Disp 55 Roman"/>
                <a:cs typeface="Haas Grot Disp 55 Roman"/>
              </a:rPr>
              <a:t>Términos técnicos usados en la presentación</a:t>
            </a:r>
            <a:endParaRPr sz="2950">
              <a:latin typeface="Haas Grot Disp 55 Roman"/>
              <a:cs typeface="Haas Grot Disp 55 Roman"/>
            </a:endParaRPr>
          </a:p>
        </p:txBody>
      </p:sp>
      <p:sp>
        <p:nvSpPr>
          <p:cNvPr id="9" name="object 9"/>
          <p:cNvSpPr txBox="1">
            <a:spLocks noGrp="1"/>
          </p:cNvSpPr>
          <p:nvPr>
            <p:ph type="title"/>
          </p:nvPr>
        </p:nvSpPr>
        <p:spPr>
          <a:xfrm>
            <a:off x="912896" y="746940"/>
            <a:ext cx="14605000" cy="917575"/>
          </a:xfrm>
          <a:prstGeom prst="rect">
            <a:avLst/>
          </a:prstGeom>
        </p:spPr>
        <p:txBody>
          <a:bodyPr vert="horz" wrap="square" lIns="0" tIns="12700" rIns="0" bIns="0" rtlCol="0">
            <a:spAutoFit/>
          </a:bodyPr>
          <a:lstStyle/>
          <a:p>
            <a:pPr marL="12700">
              <a:lnSpc>
                <a:spcPct val="100000"/>
              </a:lnSpc>
              <a:spcBef>
                <a:spcPts val="100"/>
              </a:spcBef>
            </a:pPr>
            <a:r>
              <a:rPr lang="es-PE">
                <a:solidFill>
                  <a:srgbClr val="FFFFFF"/>
                </a:solidFill>
              </a:rPr>
              <a:t>Glosario</a:t>
            </a:r>
            <a:endParaRPr spc="-10" dirty="0">
              <a:solidFill>
                <a:srgbClr val="FFFFFF"/>
              </a:solidFill>
            </a:endParaRPr>
          </a:p>
        </p:txBody>
      </p:sp>
      <p:pic>
        <p:nvPicPr>
          <p:cNvPr id="32" name="logo">
            <a:extLst>
              <a:ext uri="{FF2B5EF4-FFF2-40B4-BE49-F238E27FC236}">
                <a16:creationId xmlns:a16="http://schemas.microsoft.com/office/drawing/2014/main" id="{3AA3291F-1469-2620-3E3D-54D8E5C9FCA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6308310" y="993699"/>
            <a:ext cx="3048000" cy="1012985"/>
          </a:xfrm>
          <a:prstGeom prst="rect">
            <a:avLst/>
          </a:prstGeom>
        </p:spPr>
      </p:pic>
      <p:sp>
        <p:nvSpPr>
          <p:cNvPr id="35" name="object 3">
            <a:extLst>
              <a:ext uri="{FF2B5EF4-FFF2-40B4-BE49-F238E27FC236}">
                <a16:creationId xmlns:a16="http://schemas.microsoft.com/office/drawing/2014/main" id="{0CE3F7C5-6492-6FAD-8CA3-ACB60A9BA6B0}"/>
              </a:ext>
            </a:extLst>
          </p:cNvPr>
          <p:cNvSpPr/>
          <p:nvPr/>
        </p:nvSpPr>
        <p:spPr>
          <a:xfrm>
            <a:off x="923835" y="1844675"/>
            <a:ext cx="1308100" cy="0"/>
          </a:xfrm>
          <a:custGeom>
            <a:avLst/>
            <a:gdLst/>
            <a:ahLst/>
            <a:cxnLst/>
            <a:rect l="l" t="t" r="r" b="b"/>
            <a:pathLst>
              <a:path w="1308100">
                <a:moveTo>
                  <a:pt x="0" y="0"/>
                </a:moveTo>
                <a:lnTo>
                  <a:pt x="1307897" y="0"/>
                </a:lnTo>
              </a:path>
            </a:pathLst>
          </a:custGeom>
          <a:ln w="38459">
            <a:solidFill>
              <a:srgbClr val="F72833"/>
            </a:solidFill>
          </a:ln>
        </p:spPr>
        <p:txBody>
          <a:bodyPr wrap="square" lIns="0" tIns="0" rIns="0" bIns="0" rtlCol="0"/>
          <a:lstStyle/>
          <a:p>
            <a:endParaRPr/>
          </a:p>
        </p:txBody>
      </p:sp>
      <p:cxnSp>
        <p:nvCxnSpPr>
          <p:cNvPr id="2" name="Conector recto 1">
            <a:extLst>
              <a:ext uri="{FF2B5EF4-FFF2-40B4-BE49-F238E27FC236}">
                <a16:creationId xmlns:a16="http://schemas.microsoft.com/office/drawing/2014/main" id="{83F39B4A-434C-BDC9-D5BF-99BA07F40806}"/>
              </a:ext>
            </a:extLst>
          </p:cNvPr>
          <p:cNvCxnSpPr/>
          <p:nvPr/>
        </p:nvCxnSpPr>
        <p:spPr>
          <a:xfrm>
            <a:off x="939800" y="38100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3418C4DF-27F7-1E22-6CCB-CC7B60EBD072}"/>
              </a:ext>
            </a:extLst>
          </p:cNvPr>
          <p:cNvSpPr txBox="1"/>
          <p:nvPr/>
        </p:nvSpPr>
        <p:spPr>
          <a:xfrm>
            <a:off x="939800" y="40132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HTML, CSS y JavaScript</a:t>
            </a:r>
          </a:p>
        </p:txBody>
      </p:sp>
      <p:sp>
        <p:nvSpPr>
          <p:cNvPr id="4" name="CuadroTexto 3">
            <a:extLst>
              <a:ext uri="{FF2B5EF4-FFF2-40B4-BE49-F238E27FC236}">
                <a16:creationId xmlns:a16="http://schemas.microsoft.com/office/drawing/2014/main" id="{998FA4EC-97FF-8E7C-4F91-933AA3B50075}"/>
              </a:ext>
            </a:extLst>
          </p:cNvPr>
          <p:cNvSpPr txBox="1"/>
          <p:nvPr/>
        </p:nvSpPr>
        <p:spPr>
          <a:xfrm>
            <a:off x="939800" y="44704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Las tres capas de una página web: estructura, apariencia y comportamiento.</a:t>
            </a:r>
            <a:endParaRPr lang="es-PE" sz="2125">
              <a:solidFill>
                <a:srgbClr val="5C697C"/>
              </a:solidFill>
              <a:latin typeface="Haas Grot Disp 55 Roman" panose="020D0504030502050203"/>
            </a:endParaRPr>
          </a:p>
        </p:txBody>
      </p:sp>
      <p:cxnSp>
        <p:nvCxnSpPr>
          <p:cNvPr id="5" name="Conector recto 4">
            <a:extLst>
              <a:ext uri="{FF2B5EF4-FFF2-40B4-BE49-F238E27FC236}">
                <a16:creationId xmlns:a16="http://schemas.microsoft.com/office/drawing/2014/main" id="{E0DB61C6-0F75-D43F-97FD-D846FA34B1D4}"/>
              </a:ext>
            </a:extLst>
          </p:cNvPr>
          <p:cNvCxnSpPr/>
          <p:nvPr/>
        </p:nvCxnSpPr>
        <p:spPr>
          <a:xfrm>
            <a:off x="939800" y="54864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A0FDB281-D377-E04A-0A90-D7D2C5CEED8D}"/>
              </a:ext>
            </a:extLst>
          </p:cNvPr>
          <p:cNvSpPr txBox="1"/>
          <p:nvPr/>
        </p:nvSpPr>
        <p:spPr>
          <a:xfrm>
            <a:off x="939800" y="56896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Supabase</a:t>
            </a:r>
          </a:p>
        </p:txBody>
      </p:sp>
      <p:sp>
        <p:nvSpPr>
          <p:cNvPr id="7" name="CuadroTexto 6">
            <a:extLst>
              <a:ext uri="{FF2B5EF4-FFF2-40B4-BE49-F238E27FC236}">
                <a16:creationId xmlns:a16="http://schemas.microsoft.com/office/drawing/2014/main" id="{F33AED50-DF29-BED9-5341-48838AB54AAC}"/>
              </a:ext>
            </a:extLst>
          </p:cNvPr>
          <p:cNvSpPr txBox="1"/>
          <p:nvPr/>
        </p:nvSpPr>
        <p:spPr>
          <a:xfrm>
            <a:off x="939800" y="61468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Servicio en internet con base de datos, almacén de archivos e inicio de sesión listos.</a:t>
            </a:r>
            <a:endParaRPr lang="es-PE" sz="2125">
              <a:solidFill>
                <a:srgbClr val="5C697C"/>
              </a:solidFill>
              <a:latin typeface="Haas Grot Disp 55 Roman" panose="020D0504030502050203"/>
            </a:endParaRPr>
          </a:p>
        </p:txBody>
      </p:sp>
      <p:cxnSp>
        <p:nvCxnSpPr>
          <p:cNvPr id="33" name="Conector recto 32">
            <a:extLst>
              <a:ext uri="{FF2B5EF4-FFF2-40B4-BE49-F238E27FC236}">
                <a16:creationId xmlns:a16="http://schemas.microsoft.com/office/drawing/2014/main" id="{BD090ED4-593A-A04B-B6A0-9B98F0932B03}"/>
              </a:ext>
            </a:extLst>
          </p:cNvPr>
          <p:cNvCxnSpPr/>
          <p:nvPr/>
        </p:nvCxnSpPr>
        <p:spPr>
          <a:xfrm>
            <a:off x="939800" y="71628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F34C9690-DC1D-FDBB-91C2-2DAE2458E196}"/>
              </a:ext>
            </a:extLst>
          </p:cNvPr>
          <p:cNvSpPr txBox="1"/>
          <p:nvPr/>
        </p:nvSpPr>
        <p:spPr>
          <a:xfrm>
            <a:off x="939800" y="73660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Edge Function</a:t>
            </a:r>
          </a:p>
        </p:txBody>
      </p:sp>
      <p:sp>
        <p:nvSpPr>
          <p:cNvPr id="37" name="CuadroTexto 36">
            <a:extLst>
              <a:ext uri="{FF2B5EF4-FFF2-40B4-BE49-F238E27FC236}">
                <a16:creationId xmlns:a16="http://schemas.microsoft.com/office/drawing/2014/main" id="{5C886EC2-3C9E-0836-205E-FD66B0F22C1C}"/>
              </a:ext>
            </a:extLst>
          </p:cNvPr>
          <p:cNvSpPr txBox="1"/>
          <p:nvPr/>
        </p:nvSpPr>
        <p:spPr>
          <a:xfrm>
            <a:off x="939800" y="78232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Programa pequeño en los servidores de Supabase; guarda las claves secretas.</a:t>
            </a:r>
            <a:endParaRPr lang="es-PE" sz="2125">
              <a:solidFill>
                <a:srgbClr val="5C697C"/>
              </a:solidFill>
              <a:latin typeface="Haas Grot Disp 55 Roman" panose="020D0504030502050203"/>
            </a:endParaRPr>
          </a:p>
        </p:txBody>
      </p:sp>
      <p:cxnSp>
        <p:nvCxnSpPr>
          <p:cNvPr id="38" name="Conector recto 37">
            <a:extLst>
              <a:ext uri="{FF2B5EF4-FFF2-40B4-BE49-F238E27FC236}">
                <a16:creationId xmlns:a16="http://schemas.microsoft.com/office/drawing/2014/main" id="{952270B3-36EA-96E8-6C80-269AC356383B}"/>
              </a:ext>
            </a:extLst>
          </p:cNvPr>
          <p:cNvCxnSpPr/>
          <p:nvPr/>
        </p:nvCxnSpPr>
        <p:spPr>
          <a:xfrm>
            <a:off x="939800" y="88392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39" name="CuadroTexto 38">
            <a:extLst>
              <a:ext uri="{FF2B5EF4-FFF2-40B4-BE49-F238E27FC236}">
                <a16:creationId xmlns:a16="http://schemas.microsoft.com/office/drawing/2014/main" id="{E6FF48A6-6633-E914-5C34-D608DF87982F}"/>
              </a:ext>
            </a:extLst>
          </p:cNvPr>
          <p:cNvSpPr txBox="1"/>
          <p:nvPr/>
        </p:nvSpPr>
        <p:spPr>
          <a:xfrm>
            <a:off x="939800" y="90424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Webhook</a:t>
            </a:r>
          </a:p>
        </p:txBody>
      </p:sp>
      <p:sp>
        <p:nvSpPr>
          <p:cNvPr id="40" name="CuadroTexto 39">
            <a:extLst>
              <a:ext uri="{FF2B5EF4-FFF2-40B4-BE49-F238E27FC236}">
                <a16:creationId xmlns:a16="http://schemas.microsoft.com/office/drawing/2014/main" id="{FE4B2288-E940-284D-25A0-AB7C35DCE5E2}"/>
              </a:ext>
            </a:extLst>
          </p:cNvPr>
          <p:cNvSpPr txBox="1"/>
          <p:nvPr/>
        </p:nvSpPr>
        <p:spPr>
          <a:xfrm>
            <a:off x="939800" y="9499600"/>
            <a:ext cx="8928100" cy="369332"/>
          </a:xfrm>
          <a:prstGeom prst="rect">
            <a:avLst/>
          </a:prstGeom>
          <a:noFill/>
        </p:spPr>
        <p:txBody>
          <a:bodyPr vert="horz" wrap="square" lIns="0" tIns="0" rIns="0" bIns="0" rtlCol="0" anchor="t">
            <a:noAutofit/>
          </a:bodyPr>
          <a:lstStyle/>
          <a:p>
            <a:pPr algn="l"/>
            <a:r>
              <a:rPr lang="es-PE" sz="2125">
                <a:solidFill>
                  <a:srgbClr val="5C697C"/>
                </a:solidFill>
                <a:latin typeface="Haas Grot Disp 55 Roman" panose="020D0504030502050203"/>
              </a:rPr>
              <a:t>Aviso automático entre sistemas: Adobe avisa cuando KP termina de firmar.</a:t>
            </a:r>
          </a:p>
        </p:txBody>
      </p:sp>
      <p:cxnSp>
        <p:nvCxnSpPr>
          <p:cNvPr id="41" name="Conector recto 40">
            <a:extLst>
              <a:ext uri="{FF2B5EF4-FFF2-40B4-BE49-F238E27FC236}">
                <a16:creationId xmlns:a16="http://schemas.microsoft.com/office/drawing/2014/main" id="{4BFEF345-3B91-8F4C-0CD1-C5D7D36E5F69}"/>
              </a:ext>
            </a:extLst>
          </p:cNvPr>
          <p:cNvCxnSpPr/>
          <p:nvPr/>
        </p:nvCxnSpPr>
        <p:spPr>
          <a:xfrm>
            <a:off x="10248900" y="38100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2" name="CuadroTexto 41">
            <a:extLst>
              <a:ext uri="{FF2B5EF4-FFF2-40B4-BE49-F238E27FC236}">
                <a16:creationId xmlns:a16="http://schemas.microsoft.com/office/drawing/2014/main" id="{578A561B-D69A-1DD9-7CD4-3B6B5BAFDA55}"/>
              </a:ext>
            </a:extLst>
          </p:cNvPr>
          <p:cNvSpPr txBox="1"/>
          <p:nvPr/>
        </p:nvSpPr>
        <p:spPr>
          <a:xfrm>
            <a:off x="10248900" y="40132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Conector estándar / Premium</a:t>
            </a:r>
          </a:p>
        </p:txBody>
      </p:sp>
      <p:sp>
        <p:nvSpPr>
          <p:cNvPr id="43" name="CuadroTexto 42">
            <a:extLst>
              <a:ext uri="{FF2B5EF4-FFF2-40B4-BE49-F238E27FC236}">
                <a16:creationId xmlns:a16="http://schemas.microsoft.com/office/drawing/2014/main" id="{1E8FA8EC-CF6B-44A9-6BBD-1A1371A041F8}"/>
              </a:ext>
            </a:extLst>
          </p:cNvPr>
          <p:cNvSpPr txBox="1"/>
          <p:nvPr/>
        </p:nvSpPr>
        <p:spPr>
          <a:xfrm>
            <a:off x="10248900" y="44704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En Power Platform, los estándar vienen con M365; los Premium requieren licencia.</a:t>
            </a:r>
            <a:endParaRPr lang="es-PE" sz="2125">
              <a:solidFill>
                <a:srgbClr val="5C697C"/>
              </a:solidFill>
              <a:latin typeface="Haas Grot Disp 55 Roman" panose="020D0504030502050203"/>
            </a:endParaRPr>
          </a:p>
        </p:txBody>
      </p:sp>
      <p:cxnSp>
        <p:nvCxnSpPr>
          <p:cNvPr id="44" name="Conector recto 43">
            <a:extLst>
              <a:ext uri="{FF2B5EF4-FFF2-40B4-BE49-F238E27FC236}">
                <a16:creationId xmlns:a16="http://schemas.microsoft.com/office/drawing/2014/main" id="{15DF42DC-655C-E727-9F9F-D5E7C2C72941}"/>
              </a:ext>
            </a:extLst>
          </p:cNvPr>
          <p:cNvCxnSpPr/>
          <p:nvPr/>
        </p:nvCxnSpPr>
        <p:spPr>
          <a:xfrm>
            <a:off x="10248900" y="54864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6FC70127-07B9-0B28-CC54-53D07A541302}"/>
              </a:ext>
            </a:extLst>
          </p:cNvPr>
          <p:cNvSpPr txBox="1"/>
          <p:nvPr/>
        </p:nvSpPr>
        <p:spPr>
          <a:xfrm>
            <a:off x="10248900" y="56896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Tenant</a:t>
            </a:r>
          </a:p>
        </p:txBody>
      </p:sp>
      <p:sp>
        <p:nvSpPr>
          <p:cNvPr id="46" name="CuadroTexto 45">
            <a:extLst>
              <a:ext uri="{FF2B5EF4-FFF2-40B4-BE49-F238E27FC236}">
                <a16:creationId xmlns:a16="http://schemas.microsoft.com/office/drawing/2014/main" id="{6711E48C-6B9A-721A-E749-9F770866E882}"/>
              </a:ext>
            </a:extLst>
          </p:cNvPr>
          <p:cNvSpPr txBox="1"/>
          <p:nvPr/>
        </p:nvSpPr>
        <p:spPr>
          <a:xfrm>
            <a:off x="10248900" y="61468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El espacio privado de Stracon en Microsoft 365. KP no tiene acceso.</a:t>
            </a:r>
            <a:endParaRPr lang="es-PE" sz="2125">
              <a:solidFill>
                <a:srgbClr val="5C697C"/>
              </a:solidFill>
              <a:latin typeface="Haas Grot Disp 55 Roman" panose="020D0504030502050203"/>
            </a:endParaRPr>
          </a:p>
        </p:txBody>
      </p:sp>
      <p:cxnSp>
        <p:nvCxnSpPr>
          <p:cNvPr id="47" name="Conector recto 46">
            <a:extLst>
              <a:ext uri="{FF2B5EF4-FFF2-40B4-BE49-F238E27FC236}">
                <a16:creationId xmlns:a16="http://schemas.microsoft.com/office/drawing/2014/main" id="{D45A841F-6176-1770-F30F-6F6FF4E8FC75}"/>
              </a:ext>
            </a:extLst>
          </p:cNvPr>
          <p:cNvCxnSpPr/>
          <p:nvPr/>
        </p:nvCxnSpPr>
        <p:spPr>
          <a:xfrm>
            <a:off x="10248900" y="71628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48" name="CuadroTexto 47">
            <a:extLst>
              <a:ext uri="{FF2B5EF4-FFF2-40B4-BE49-F238E27FC236}">
                <a16:creationId xmlns:a16="http://schemas.microsoft.com/office/drawing/2014/main" id="{23BBD7CF-8A7C-BFE3-74B0-BE89C55C4662}"/>
              </a:ext>
            </a:extLst>
          </p:cNvPr>
          <p:cNvSpPr txBox="1"/>
          <p:nvPr/>
        </p:nvSpPr>
        <p:spPr>
          <a:xfrm>
            <a:off x="10248900" y="73660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RLS</a:t>
            </a:r>
          </a:p>
        </p:txBody>
      </p:sp>
      <p:sp>
        <p:nvSpPr>
          <p:cNvPr id="49" name="CuadroTexto 48">
            <a:extLst>
              <a:ext uri="{FF2B5EF4-FFF2-40B4-BE49-F238E27FC236}">
                <a16:creationId xmlns:a16="http://schemas.microsoft.com/office/drawing/2014/main" id="{66627D62-1D9D-9B0F-E204-8A55241A1330}"/>
              </a:ext>
            </a:extLst>
          </p:cNvPr>
          <p:cNvSpPr txBox="1"/>
          <p:nvPr/>
        </p:nvSpPr>
        <p:spPr>
          <a:xfrm>
            <a:off x="10248900" y="78232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Reglas dentro de la base que deciden qué datos puede ver cada usuario.</a:t>
            </a:r>
            <a:endParaRPr lang="es-PE" sz="2125">
              <a:solidFill>
                <a:srgbClr val="5C697C"/>
              </a:solidFill>
              <a:latin typeface="Haas Grot Disp 55 Roman" panose="020D0504030502050203"/>
            </a:endParaRPr>
          </a:p>
        </p:txBody>
      </p:sp>
      <p:cxnSp>
        <p:nvCxnSpPr>
          <p:cNvPr id="50" name="Conector recto 49">
            <a:extLst>
              <a:ext uri="{FF2B5EF4-FFF2-40B4-BE49-F238E27FC236}">
                <a16:creationId xmlns:a16="http://schemas.microsoft.com/office/drawing/2014/main" id="{F9161892-605A-BCE4-6AFE-27BCAB2FCE5D}"/>
              </a:ext>
            </a:extLst>
          </p:cNvPr>
          <p:cNvCxnSpPr/>
          <p:nvPr/>
        </p:nvCxnSpPr>
        <p:spPr>
          <a:xfrm>
            <a:off x="10248900" y="8839200"/>
            <a:ext cx="8928100" cy="0"/>
          </a:xfrm>
          <a:prstGeom prst="line">
            <a:avLst/>
          </a:prstGeom>
          <a:ln w="12700">
            <a:solidFill>
              <a:srgbClr val="C9D0DA"/>
            </a:solidFill>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E33C2F68-8A13-37D0-5D3B-78CF63F0BDDF}"/>
              </a:ext>
            </a:extLst>
          </p:cNvPr>
          <p:cNvSpPr txBox="1"/>
          <p:nvPr/>
        </p:nvSpPr>
        <p:spPr>
          <a:xfrm>
            <a:off x="10248900" y="9042400"/>
            <a:ext cx="8928100" cy="381000"/>
          </a:xfrm>
          <a:prstGeom prst="rect">
            <a:avLst/>
          </a:prstGeom>
          <a:noFill/>
        </p:spPr>
        <p:txBody>
          <a:bodyPr vert="horz" wrap="square" lIns="0" tIns="0" rIns="0" bIns="0" rtlCol="0" anchor="t">
            <a:noAutofit/>
          </a:bodyPr>
          <a:lstStyle/>
          <a:p>
            <a:pPr algn="l"/>
            <a:r>
              <a:rPr lang="es-PE" sz="2500" b="1">
                <a:solidFill>
                  <a:srgbClr val="182949"/>
                </a:solidFill>
                <a:latin typeface="Haas Grot Disp 75 Bold"/>
              </a:rPr>
              <a:t>Sobre (Acrobat Sign)</a:t>
            </a:r>
          </a:p>
        </p:txBody>
      </p:sp>
      <p:sp>
        <p:nvSpPr>
          <p:cNvPr id="52" name="CuadroTexto 51">
            <a:extLst>
              <a:ext uri="{FF2B5EF4-FFF2-40B4-BE49-F238E27FC236}">
                <a16:creationId xmlns:a16="http://schemas.microsoft.com/office/drawing/2014/main" id="{D8BDDF98-9EDF-308B-D34A-A0F8BAC78598}"/>
              </a:ext>
            </a:extLst>
          </p:cNvPr>
          <p:cNvSpPr txBox="1"/>
          <p:nvPr/>
        </p:nvSpPr>
        <p:spPr>
          <a:xfrm>
            <a:off x="10248900" y="9499600"/>
            <a:ext cx="8928100" cy="369332"/>
          </a:xfrm>
          <a:prstGeom prst="rect">
            <a:avLst/>
          </a:prstGeom>
          <a:noFill/>
        </p:spPr>
        <p:txBody>
          <a:bodyPr vert="horz" wrap="square" lIns="0" tIns="0" rIns="0" bIns="0" rtlCol="0" anchor="t">
            <a:noAutofit/>
          </a:bodyPr>
          <a:lstStyle/>
          <a:p>
            <a:pPr algn="l"/>
            <a:r>
              <a:rPr lang="es-MX" sz="2125">
                <a:solidFill>
                  <a:srgbClr val="5C697C"/>
                </a:solidFill>
                <a:latin typeface="Haas Grot Disp 55 Roman" panose="020D0504030502050203"/>
              </a:rPr>
              <a:t>Envío de uno o varios documentos para firma; es lo que cobra Adobe.</a:t>
            </a:r>
            <a:endParaRPr lang="es-PE" sz="2125">
              <a:solidFill>
                <a:srgbClr val="5C697C"/>
              </a:solidFill>
              <a:latin typeface="Haas Grot Disp 55 Roman" panose="020D0504030502050203"/>
            </a:endParaRPr>
          </a:p>
        </p:txBody>
      </p:sp>
    </p:spTree>
    <p:extLst>
      <p:ext uri="{BB962C8B-B14F-4D97-AF65-F5344CB8AC3E}">
        <p14:creationId xmlns:p14="http://schemas.microsoft.com/office/powerpoint/2010/main" val="1954255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B57D0A96-4C65-3FB7-CCCB-8B42A601AD2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397"/>
            <a:ext cx="20104100" cy="11308554"/>
          </a:xfrm>
          <a:prstGeom prst="rect">
            <a:avLst/>
          </a:prstGeom>
        </p:spPr>
      </p:pic>
      <p:sp>
        <p:nvSpPr>
          <p:cNvPr id="10" name="object 10"/>
          <p:cNvSpPr txBox="1">
            <a:spLocks noGrp="1"/>
          </p:cNvSpPr>
          <p:nvPr>
            <p:ph type="title"/>
          </p:nvPr>
        </p:nvSpPr>
        <p:spPr>
          <a:xfrm>
            <a:off x="1136650" y="4793199"/>
            <a:ext cx="4684395" cy="1474470"/>
          </a:xfrm>
          <a:prstGeom prst="rect">
            <a:avLst/>
          </a:prstGeom>
        </p:spPr>
        <p:txBody>
          <a:bodyPr vert="horz" wrap="square" lIns="0" tIns="13335" rIns="0" bIns="0" rtlCol="0">
            <a:spAutoFit/>
          </a:bodyPr>
          <a:lstStyle/>
          <a:p>
            <a:pPr marL="12700">
              <a:lnSpc>
                <a:spcPct val="100000"/>
              </a:lnSpc>
              <a:spcBef>
                <a:spcPts val="105"/>
              </a:spcBef>
            </a:pPr>
            <a:r>
              <a:rPr sz="9500" spc="-10" dirty="0">
                <a:solidFill>
                  <a:srgbClr val="FFFFFF"/>
                </a:solidFill>
              </a:rPr>
              <a:t>¡Gracias!</a:t>
            </a:r>
            <a:endParaRPr sz="9500" dirty="0"/>
          </a:p>
        </p:txBody>
      </p:sp>
      <p:pic>
        <p:nvPicPr>
          <p:cNvPr id="11" name="Imagen 10">
            <a:extLst>
              <a:ext uri="{FF2B5EF4-FFF2-40B4-BE49-F238E27FC236}">
                <a16:creationId xmlns:a16="http://schemas.microsoft.com/office/drawing/2014/main" id="{09F55E24-6A29-6846-C778-C5445AA2AE0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61469" y="930275"/>
            <a:ext cx="3048000" cy="1012985"/>
          </a:xfrm>
          <a:prstGeom prst="rect">
            <a:avLst/>
          </a:prstGeom>
        </p:spPr>
      </p:pic>
    </p:spTree>
    <p:extLst>
      <p:ext uri="{BB962C8B-B14F-4D97-AF65-F5344CB8AC3E}">
        <p14:creationId xmlns:p14="http://schemas.microsoft.com/office/powerpoint/2010/main" val="3392763636"/>
      </p:ext>
    </p:extLst>
  </p:cSld>
  <p:clrMapOvr>
    <a:masterClrMapping/>
  </p:clrMapOvr>
</p:sld>
</file>

<file path=ppt/theme/theme1.xml><?xml version="1.0" encoding="utf-8"?>
<a:theme xmlns:a="http://schemas.openxmlformats.org/drawingml/2006/main" name="Office Theme">
  <a:themeElements>
    <a:clrScheme name="STRACON">
      <a:dk1>
        <a:srgbClr val="000000"/>
      </a:dk1>
      <a:lt1>
        <a:srgbClr val="FFFFFF"/>
      </a:lt1>
      <a:dk2>
        <a:srgbClr val="1F497D"/>
      </a:dk2>
      <a:lt2>
        <a:srgbClr val="EEECE1"/>
      </a:lt2>
      <a:accent1>
        <a:srgbClr val="FC0027"/>
      </a:accent1>
      <a:accent2>
        <a:srgbClr val="B1061B"/>
      </a:accent2>
      <a:accent3>
        <a:srgbClr val="182949"/>
      </a:accent3>
      <a:accent4>
        <a:srgbClr val="5C697C"/>
      </a:accent4>
      <a:accent5>
        <a:srgbClr val="182949"/>
      </a:accent5>
      <a:accent6>
        <a:srgbClr val="FC0027"/>
      </a:accent6>
      <a:hlink>
        <a:srgbClr val="FC0027"/>
      </a:hlink>
      <a:folHlink>
        <a:srgbClr val="18294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cf23189-518b-4549-beb2-1d878456235b" xsi:nil="true"/>
    <lcf76f155ced4ddcb4097134ff3c332f xmlns="0f8eb042-b34f-43b4-9f23-fa33c911b09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C2B5C34125E54A9DD413297B212C0F" ma:contentTypeVersion="17" ma:contentTypeDescription="Create a new document." ma:contentTypeScope="" ma:versionID="de47406926a2c2b4eca10f2124e150cb">
  <xsd:schema xmlns:xsd="http://www.w3.org/2001/XMLSchema" xmlns:xs="http://www.w3.org/2001/XMLSchema" xmlns:p="http://schemas.microsoft.com/office/2006/metadata/properties" xmlns:ns2="bcf23189-518b-4549-beb2-1d878456235b" xmlns:ns3="0f8eb042-b34f-43b4-9f23-fa33c911b09e" targetNamespace="http://schemas.microsoft.com/office/2006/metadata/properties" ma:root="true" ma:fieldsID="51ef0722594d99ccd961cc5e6d536299" ns2:_="" ns3:_="">
    <xsd:import namespace="bcf23189-518b-4549-beb2-1d878456235b"/>
    <xsd:import namespace="0f8eb042-b34f-43b4-9f23-fa33c911b09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Location" minOccurs="0"/>
                <xsd:element ref="ns3:MediaServiceOCR"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3189-518b-4549-beb2-1d878456235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46f0c114-aeca-47db-8544-867c52c6c8dc}" ma:internalName="TaxCatchAll" ma:showField="CatchAllData" ma:web="bcf23189-518b-4549-beb2-1d878456235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f8eb042-b34f-43b4-9f23-fa33c911b09e"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62e7fc91-5cf2-4f69-ad2e-558e2f080124" ma:termSetId="09814cd3-568e-fe90-9814-8d621ff8fb84" ma:anchorId="fba54fb3-c3e1-fe81-a776-ca4b69148c4d" ma:open="true" ma:isKeyword="false">
      <xsd:complexType>
        <xsd:sequence>
          <xsd:element ref="pc:Terms" minOccurs="0" maxOccurs="1"/>
        </xsd:sequence>
      </xsd:complexType>
    </xsd:element>
    <xsd:element name="MediaServiceLocation" ma:index="20" nillable="true" ma:displayName="Location" ma:indexed="true" ma:internalName="MediaServiceLocation"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E9E576-D630-474F-81E7-A4BF7EF7E6E1}">
  <ds:schemaRefs>
    <ds:schemaRef ds:uri="http://schemas.microsoft.com/sharepoint/v3/contenttype/forms"/>
  </ds:schemaRefs>
</ds:datastoreItem>
</file>

<file path=customXml/itemProps2.xml><?xml version="1.0" encoding="utf-8"?>
<ds:datastoreItem xmlns:ds="http://schemas.openxmlformats.org/officeDocument/2006/customXml" ds:itemID="{5482B358-EE57-41C4-B796-DE0A4F4FD683}">
  <ds:schemaRefs>
    <ds:schemaRef ds:uri="bcf23189-518b-4549-beb2-1d878456235b"/>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 ds:uri="http://schemas.microsoft.com/office/2006/documentManagement/types"/>
    <ds:schemaRef ds:uri="0f8eb042-b34f-43b4-9f23-fa33c911b09e"/>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923752E5-2150-41FC-B74E-6475A6D4BD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f23189-518b-4549-beb2-1d878456235b"/>
    <ds:schemaRef ds:uri="0f8eb042-b34f-43b4-9f23-fa33c911b0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176</TotalTime>
  <Words>2654</Words>
  <Application>Microsoft Office PowerPoint</Application>
  <PresentationFormat>Personalizado</PresentationFormat>
  <Paragraphs>408</Paragraphs>
  <Slides>18</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18</vt:i4>
      </vt:variant>
    </vt:vector>
  </HeadingPairs>
  <TitlesOfParts>
    <vt:vector size="24" baseType="lpstr">
      <vt:lpstr>Aptos</vt:lpstr>
      <vt:lpstr>Calibri</vt:lpstr>
      <vt:lpstr>Haas Grot Disp 55 Roman</vt:lpstr>
      <vt:lpstr>Haas Grot Disp 65 Medium</vt:lpstr>
      <vt:lpstr>Haas Grot Disp 75 Bold</vt:lpstr>
      <vt:lpstr>Office Theme</vt:lpstr>
      <vt:lpstr>Presentación de PowerPoint</vt:lpstr>
      <vt:lpstr>Presentación de PowerPoint</vt:lpstr>
      <vt:lpstr>Situación actual</vt:lpstr>
      <vt:lpstr>Propuesta</vt:lpstr>
      <vt:lpstr>Presentación de PowerPoint</vt:lpstr>
      <vt:lpstr>Flujo propuesto</vt:lpstr>
      <vt:lpstr>Opción 1: Entorno Microsoft</vt:lpstr>
      <vt:lpstr>Opción 2: Fuera de Microsoft</vt:lpstr>
      <vt:lpstr>Presentación de PowerPoint</vt:lpstr>
      <vt:lpstr>Sistemas por componente</vt:lpstr>
      <vt:lpstr>Licencias y precios de lista</vt:lpstr>
      <vt:lpstr>Costo estimado</vt:lpstr>
      <vt:lpstr>Límites de los planes gratis</vt:lpstr>
      <vt:lpstr>Seguridad de la Opción 2</vt:lpstr>
      <vt:lpstr>Ventajas y desventajas</vt:lpstr>
      <vt:lpstr>Decisiones y próximos pasos</vt:lpstr>
      <vt:lpstr>Glosario</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STRACON</dc:title>
  <cp:lastModifiedBy>Mar Y Cielo De Fatima Lobo Calixto</cp:lastModifiedBy>
  <cp:revision>13</cp:revision>
  <dcterms:created xsi:type="dcterms:W3CDTF">2026-07-02T16:39:47Z</dcterms:created>
  <dcterms:modified xsi:type="dcterms:W3CDTF">2026-10-02T19:06:57Z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2026-07-02T00:00:00Z</vt:filetime>
  </property>
  <property fmtid="{D5CDD505-2E9C-101B-9397-08002B2CF9AE}" pid="3" name="Creator">
    <vt:lpwstr>Adobe Illustrator 30.3 (Macintosh)</vt:lpwstr>
  </property>
  <property fmtid="{D5CDD505-2E9C-101B-9397-08002B2CF9AE}" pid="4" name="CreatorVersion">
    <vt:lpwstr>21.0.0</vt:lpwstr>
  </property>
  <property fmtid="{D5CDD505-2E9C-101B-9397-08002B2CF9AE}" pid="5" name="LastSaved">
    <vt:filetime>2026-07-02T00:00:00Z</vt:filetime>
  </property>
  <property fmtid="{D5CDD505-2E9C-101B-9397-08002B2CF9AE}" pid="6" name="Producer">
    <vt:lpwstr>Adobe PDF library 18.00</vt:lpwstr>
  </property>
  <property fmtid="{D5CDD505-2E9C-101B-9397-08002B2CF9AE}" pid="7" name="ContentTypeId">
    <vt:lpwstr>0x0101008FC2B5C34125E54A9DD413297B212C0F</vt:lpwstr>
  </property>
  <property fmtid="{D5CDD505-2E9C-101B-9397-08002B2CF9AE}" pid="8" name="MediaServiceImageTags">
    <vt:lpwstr/>
  </property>
</Properties>
</file>